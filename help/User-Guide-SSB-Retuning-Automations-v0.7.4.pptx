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60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  <p:sldLayoutId id="2147483660" r:id="rId5"/>
    <p:sldLayoutId id="2147483663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User Guide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SSB Retuning Automations (v0.7.4)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SSB Retuning Automations is an automation platform for SSB retuning projects that can run in GUI or CLI mode or through a Web Interface (using a server/client infrastructure) and orchestrates five functional modules:</a:t>
            </a:r>
          </a:p>
          <a:p>
            <a:pPr lvl="1">
              <a:buChar char="•"/>
              <a:defRPr sz="1500"/>
            </a:pPr>
            <a:r>
              <a:t>Module 0: Update Network Frequencies.</a:t>
            </a:r>
          </a:p>
          <a:p>
            <a:pPr lvl="1">
              <a:buChar char="•"/>
              <a:defRPr sz="1500"/>
            </a:pPr>
            <a:r>
              <a:t>Module 1: Configuration Audit &amp; Logs Parser.</a:t>
            </a:r>
          </a:p>
          <a:p>
            <a:pPr lvl="1">
              <a:buChar char="•"/>
              <a:defRPr sz="1500"/>
            </a:pPr>
            <a:r>
              <a:t>Module 2: Consistency Check (manual Pre/Post).</a:t>
            </a:r>
          </a:p>
          <a:p>
            <a:pPr lvl="1">
              <a:buChar char="•"/>
              <a:defRPr sz="1500"/>
            </a:pPr>
            <a:r>
              <a:t>Module 3: Consistency Check Bulk (automatic Pre/Post detection by market).</a:t>
            </a:r>
          </a:p>
          <a:p>
            <a:pPr lvl="1">
              <a:buChar char="•"/>
              <a:defRPr sz="1500"/>
            </a:pPr>
            <a:r>
              <a:t>Module 4: Final Clean-Up.</a:t>
            </a:r>
          </a:p>
          <a:p>
            <a:pPr>
              <a:buNone/>
              <a:defRPr sz="1500"/>
            </a:pPr>
            <a:r>
              <a:t>The main execution lives in "src/SSB_RetuningAutomations.py", where CLI arguments, GUI, configuration persistence, input resolution (folders/ZIP), per-module execution, and artifact versioning are managed.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Orchestration core</a:t>
            </a:r>
          </a:p>
          <a:p>
            <a:pPr lvl="1">
              <a:buChar char="•"/>
              <a:defRPr sz="1500"/>
            </a:pPr>
            <a:r>
              <a:t>"src/SSB_RetuningAutomations.py": entry point, CLI/GUI parsing, module routing, batch/bulk execution, and versioning.</a:t>
            </a:r>
          </a:p>
          <a:p>
            <a:pPr>
              <a:buNone/>
              <a:defRPr b="1" sz="1600"/>
            </a:pPr>
            <a:r>
              <a:t>Main modules files</a:t>
            </a:r>
          </a:p>
          <a:p>
            <a:pPr lvl="1">
              <a:buChar char="•"/>
              <a:defRPr sz="1500"/>
            </a:pPr>
            <a:r>
              <a:t>"src/modules/ConfigurationAudit/ConfigurationAudit.py": log parsing and audit workbook construction (Excel + PPT).</a:t>
            </a:r>
          </a:p>
          <a:p>
            <a:pPr lvl="1">
              <a:buChar char="•"/>
              <a:defRPr sz="1500"/>
            </a:pPr>
            <a:r>
              <a:t>"src/modules/ConfigurationAudit/ca_summary_excel.py": assembly of "SummaryAudit" and discrepancy dataframes.</a:t>
            </a:r>
          </a:p>
          <a:p>
            <a:pPr lvl="1">
              <a:buChar char="•"/>
              <a:defRPr sz="1500"/>
            </a:pPr>
            <a:r>
              <a:t>"src/modules/ConsistencyChecks/ConsistencyChecks.py": PRE/POST loading, relation comparison, discrepancies, and output export.</a:t>
            </a:r>
          </a:p>
          <a:p>
            <a:pPr lvl="1">
              <a:buChar char="•"/>
              <a:defRPr sz="1500"/>
            </a:pPr>
            <a:r>
              <a:t>"src/modules/ProfilesAudit/ProfilesAudit.py": profiles audit (integrated into module 1).</a:t>
            </a:r>
          </a:p>
          <a:p>
            <a:pPr lvl="1">
              <a:buChar char="•"/>
              <a:defRPr sz="1500"/>
            </a:pPr>
            <a:r>
              <a:t>"src/modules/CleanUp/FinalCleanUp.py": final clean-up (base implementation for extension).</a:t>
            </a:r>
          </a:p>
          <a:p>
            <a:pPr>
              <a:buNone/>
              <a:defRPr b="1" sz="1600"/>
            </a:pPr>
            <a:r>
              <a:t>Common layer and utilities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"src/modules/Common/*.py": correction command logic and shared functions.</a:t>
            </a:r>
          </a:p>
          <a:p>
            <a:pPr lvl="1">
              <a:buChar char="•"/>
              <a:defRPr sz="1500"/>
            </a:pPr>
            <a:r>
              <a:t>"src/utils/*.py": IO, parsing, frequency handling, Excel, pivots, sorting, infrastructure, and timing.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</a:t>
            </a:r>
          </a:p>
          <a:p>
            <a:pPr lvl="1">
              <a:buChar char="•"/>
              <a:defRPr sz="1500"/>
            </a:pPr>
            <a:r>
              <a:t>Input folder (may contain subfolders/ZIPs already supported by the IO layer).</a:t>
            </a:r>
          </a:p>
          <a:p>
            <a:pPr lvl="1">
              <a:buChar char="•"/>
              <a:defRPr sz="1500"/>
            </a:pPr>
            <a:r>
              <a:t>Logs with an "NRFrequency" table and the "arfcnValueNRDl" column.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Scan logs and detects "NRFrequency" blocks.</a:t>
            </a:r>
          </a:p>
          <a:p>
            <a:pPr lvl="1">
              <a:buNone/>
              <a:defRPr sz="1500"/>
            </a:pPr>
            <a:r>
              <a:t>2. Extracts numeric values from "arfcnValueNRDl".</a:t>
            </a:r>
          </a:p>
          <a:p>
            <a:pPr lvl="1">
              <a:buNone/>
              <a:defRPr sz="1500"/>
            </a:pPr>
            <a:r>
              <a:t>3. Removes duplicates and sorts frequencies.</a:t>
            </a:r>
          </a:p>
          <a:p>
            <a:pPr lvl="1">
              <a:buNone/>
              <a:defRPr sz="1500"/>
            </a:pPr>
            <a:r>
              <a:t>4. Updates the persisted “Network frequencies” configuration for GUI/CLI.</a:t>
            </a:r>
          </a:p>
          <a:p>
            <a:pPr>
              <a:buNone/>
              <a:defRPr b="1" sz="1600"/>
            </a:pPr>
            <a:r>
              <a:t>Output</a:t>
            </a:r>
          </a:p>
          <a:p>
            <a:pPr lvl="1">
              <a:buChar char="•"/>
              <a:defRPr sz="1500"/>
            </a:pPr>
            <a:r>
              <a:t>Does not generate Excel/PPT.</a:t>
            </a:r>
          </a:p>
          <a:p>
            <a:pPr lvl="1">
              <a:buChar char="•"/>
              <a:defRPr sz="1500"/>
            </a:pPr>
            <a:r>
              <a:t>Updates the persisted network frequency value used for filtering and selection in later runs.</a:t>
            </a:r>
          </a:p>
          <a:p>
            <a:pPr>
              <a:buNone/>
              <a:defRPr b="1" sz="1600"/>
            </a:pPr>
            <a:r>
              <a:t>Detailed implementation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The module reuses the same input resolver used by the other modules ("ensure_logs_available"), so it can consume either plain folders or folders containing ZIPs without changing operator workflow.</a:t>
            </a:r>
          </a:p>
          <a:p>
            <a:pPr lvl="1">
              <a:buChar char="•"/>
              <a:defRPr sz="1500"/>
            </a:pPr>
            <a:r>
              <a:t>It scans all detected logs, slices each "SubNetwork" block, and processes only blocks where MO name is exactly "NRFrequency".</a:t>
            </a:r>
          </a:p>
          <a:p>
            <a:pPr lvl="1">
              <a:buChar char="•"/>
              <a:defRPr sz="1500"/>
            </a:pPr>
            <a:r>
              <a:t>Inside each "NRFrequency" block, it reads "arfcnValueNRDl", keeps only strictly numeric values, deduplicates, and sorts numerically.</a:t>
            </a:r>
          </a:p>
          <a:p>
            <a:pPr lvl="1">
              <a:buChar char="•"/>
              <a:defRPr sz="1500"/>
            </a:pPr>
            <a:r>
              <a:t>The resulting list is persisted to "config.cfg" in "network_frequencies" and also loaded in-memory into the "NETWORK_FREQUENCIES" global list.</a:t>
            </a:r>
          </a:p>
          <a:p>
            <a:pPr lvl="1">
              <a:buChar char="•"/>
              <a:defRPr sz="1500"/>
            </a:pPr>
            <a:r>
              <a:t>In practice, this module should be executed after collecting representative logs from the network and then only when new frequencies are introduced. For stable markets, running it once is usually enough.</a:t>
            </a:r>
          </a:p>
          <a:p>
            <a:pPr>
              <a:buNone/>
              <a:defRPr b="1" sz="1600"/>
            </a:pPr>
            <a:r>
              <a:t>Impact on GUI and Web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Desktop GUI: when launching in GUI mode (no CLI args), the app loads "network_frequencies" from "config.cfg" and uses that list as the selectable values shown to users.</a:t>
            </a:r>
          </a:p>
          <a:p>
            <a:pPr lvl="1">
              <a:buChar char="•"/>
              <a:defRPr sz="1500"/>
            </a:pPr>
            <a:r>
              <a:t>Web Interface: the backend endpoint loading defaults first tries persisted "network_frequencies"; if empty, it falls back to parsing the hardcoded defaults from "SSB_RetuningAutomations.py".</a:t>
            </a:r>
          </a:p>
          <a:p>
            <a:pPr lvl="1">
              <a:buChar char="•"/>
              <a:defRPr sz="1500"/>
            </a:pPr>
            <a:r>
              <a:t>This means Module 0 is the canonical mechanism to keep both interfaces aligned with real network frequency inventory.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Input folder with logs (".log", ".logs", ".txt") or ZIPs resolvable by utilities.</a:t>
            </a:r>
          </a:p>
          <a:p>
            <a:pPr lvl="1">
              <a:buChar char="•"/>
              <a:defRPr sz="1500"/>
            </a:pPr>
            <a:r>
              <a:t>Frequency parameters:</a:t>
            </a:r>
          </a:p>
          <a:p>
            <a:pPr lvl="2">
              <a:buChar char="•"/>
              <a:defRPr sz="1500"/>
            </a:pPr>
            <a:r>
              <a:t>"n77_ssb_pre"</a:t>
            </a:r>
          </a:p>
          <a:p>
            <a:pPr lvl="2">
              <a:buChar char="•"/>
              <a:defRPr sz="1500"/>
            </a:pPr>
            <a:r>
              <a:t>"n77_ssb_post"</a:t>
            </a:r>
          </a:p>
          <a:p>
            <a:pPr lvl="2">
              <a:buChar char="•"/>
              <a:defRPr sz="1500"/>
            </a:pPr>
            <a:r>
              <a:t>"n77b_ssb"</a:t>
            </a:r>
          </a:p>
          <a:p>
            <a:pPr lvl="2">
              <a:buChar char="•"/>
              <a:defRPr sz="1500"/>
            </a:pPr>
            <a:r>
              <a:t>allowed SSB/ARFCN lists pre/post.</a:t>
            </a:r>
          </a:p>
          <a:p>
            <a:pPr lvl="1">
              <a:buChar char="•"/>
              <a:defRPr sz="1500"/>
            </a:pPr>
            <a:r>
              <a:t>Flags:</a:t>
            </a:r>
          </a:p>
          <a:p>
            <a:pPr lvl="2">
              <a:buChar char="•"/>
              <a:defRPr sz="1500"/>
            </a:pPr>
            <a:r>
              <a:t>"profiles_audit"</a:t>
            </a:r>
          </a:p>
          <a:p>
            <a:pPr lvl="2">
              <a:buChar char="•"/>
              <a:defRPr sz="1500"/>
            </a:pPr>
            <a:r>
              <a:t>"frequency_audit"</a:t>
            </a:r>
          </a:p>
          <a:p>
            <a:pPr lvl="2">
              <a:buChar char="•"/>
              <a:defRPr sz="1500"/>
            </a:pPr>
            <a:r>
              <a:t>"export_correction_cmd"</a:t>
            </a:r>
          </a:p>
          <a:p>
            <a:pPr lvl="2">
              <a:buChar char="•"/>
              <a:defRPr sz="1500"/>
            </a:pPr>
            <a:r>
              <a:t>"fast_excel_export".</a:t>
            </a:r>
          </a:p>
          <a:p>
            <a:pPr>
              <a:buNone/>
              <a:defRPr b="1" sz="1600"/>
            </a:pPr>
            <a:r>
              <a:t>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Parses files and extracts MO tables by "SubNetwork" blocks.</a:t>
            </a:r>
          </a:p>
          <a:p>
            <a:pPr lvl="1">
              <a:buNone/>
              <a:defRPr sz="1500"/>
            </a:pPr>
            <a:r>
              <a:t>2. Generates one sheet per detected table.</a:t>
            </a:r>
          </a:p>
          <a:p>
            <a:pPr lvl="1">
              <a:buNone/>
              <a:defRPr sz="1500"/>
            </a:pPr>
            <a:r>
              <a:t>3. Builds "SummaryAudit" + pivots/auxiliary summaries.</a:t>
            </a:r>
          </a:p>
          <a:p>
            <a:pPr lvl="1">
              <a:buNone/>
              <a:defRPr sz="1500"/>
            </a:pPr>
            <a:r>
              <a:t>4. Runs profiles audit if enabled.</a:t>
            </a:r>
          </a:p>
          <a:p>
            <a:pPr lvl="1">
              <a:buNone/>
              <a:defRPr sz="1500"/>
            </a:pPr>
            <a:r>
              <a:t>5. Exports CA correction commands if requested.</a:t>
            </a:r>
          </a:p>
          <a:p>
            <a:pPr lvl="1">
              <a:buNone/>
              <a:defRPr sz="1500"/>
            </a:pPr>
            <a:r>
              <a:t>6. Generates the summary PPT.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Folder "ConfigurationAudit_&lt;timestamp&gt;_v&lt;version&gt;/".</a:t>
            </a:r>
          </a:p>
          <a:p>
            <a:pPr lvl="1">
              <a:buChar char="•"/>
              <a:defRPr sz="1500"/>
            </a:pPr>
            <a:r>
              <a:t>Excel file "ConfigurationAudit_&lt;timestamp&gt;_v&lt;version&gt;.xlsx":</a:t>
            </a:r>
          </a:p>
          <a:p>
            <a:pPr lvl="2">
              <a:buChar char="•"/>
              <a:defRPr sz="1500"/>
            </a:pPr>
            <a:r>
              <a:t>Sheets for each parsed MO table.</a:t>
            </a:r>
          </a:p>
          <a:p>
            <a:pPr lvl="2">
              <a:buChar char="•"/>
              <a:defRPr sz="1500"/>
            </a:pPr>
            <a:r>
              <a:t>"SummaryAudit".</a:t>
            </a:r>
          </a:p>
          <a:p>
            <a:pPr lvl="2">
              <a:buChar char="•"/>
              <a:defRPr sz="1500"/>
            </a:pPr>
            <a:r>
              <a:t>NR/LTE parameter discrepancy sheets.</a:t>
            </a:r>
          </a:p>
          <a:p>
            <a:pPr lvl="2">
              <a:buChar char="•"/>
              <a:defRPr sz="1500"/>
            </a:pPr>
            <a:r>
              <a:t>Summary/pivot sheets by frequencies and relations.</a:t>
            </a:r>
          </a:p>
          <a:p>
            <a:pPr lvl="1">
              <a:buChar char="•"/>
              <a:defRPr sz="1500"/>
            </a:pPr>
            <a:r>
              <a:t>PPT file "ConfigurationAudit_&lt;timestamp&gt;_v&lt;version&gt;.pptx".</a:t>
            </a:r>
          </a:p>
          <a:p>
            <a:pPr lvl="1">
              <a:buChar char="•"/>
              <a:defRPr sz="1500"/>
            </a:pPr>
            <a:r>
              <a:t>Optional folder "Correction_Cmd_CA/" with AMOS commands.</a:t>
            </a:r>
          </a:p>
          <a:p>
            <a:pPr>
              <a:buNone/>
              <a:defRPr b="1" sz="1600"/>
            </a:pPr>
            <a:r>
              <a:t>Main semantic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SummaryAudit contains rows with:</a:t>
            </a:r>
          </a:p>
          <a:p>
            <a:pPr lvl="2">
              <a:buChar char="•"/>
              <a:defRPr sz="1500"/>
            </a:pPr>
            <a:r>
              <a:t>"Category", "SubCategory", "Metric", "Value", "ExtraInfo",</a:t>
            </a:r>
          </a:p>
          <a:p>
            <a:pPr lvl="2">
              <a:buChar char="•"/>
              <a:defRPr sz="1500"/>
            </a:pPr>
            <a:r>
              <a:t>and execution context fields (stage, module, etc. depending on the flow).</a:t>
            </a:r>
          </a:p>
          <a:p>
            <a:pPr lvl="1">
              <a:buChar char="•"/>
              <a:defRPr sz="1500"/>
            </a:pPr>
            <a:r>
              <a:t>"Value" usually represents a count of impacted nodes/cells/relations.</a:t>
            </a:r>
          </a:p>
          <a:p>
            <a:pPr lvl="1">
              <a:buChar char="•"/>
              <a:defRPr sz="1500"/>
            </a:pPr>
            <a:r>
              <a:t>"ExtraInfo" contains the NodeId list or a compact discrepancy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"input_pre" and "input_post" (or equivalent resolved structure).</a:t>
            </a:r>
          </a:p>
          <a:p>
            <a:pPr lvl="1">
              <a:buChar char="•"/>
              <a:defRPr sz="1500"/>
            </a:pPr>
            <a:r>
              <a:t>Frequencies "n77_ssb_pre" and "n77_ssb_post".</a:t>
            </a:r>
          </a:p>
          <a:p>
            <a:pPr lvl="1">
              <a:buChar char="•"/>
              <a:defRPr sz="1500"/>
            </a:pPr>
            <a:r>
              <a:t>Optional reference to PRE and POST "ConfigurationAudit" to enrich target classification.</a:t>
            </a:r>
          </a:p>
          <a:p>
            <a:pPr lvl="1">
              <a:buChar char="•"/>
              <a:defRPr sz="1500"/>
            </a:pPr>
            <a:r>
              <a:t>Optional list of frequency filters ("cc_freq_filters").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Loads relation tables ("GUtranCellRelation", "NRCellRelation").</a:t>
            </a:r>
          </a:p>
          <a:p>
            <a:pPr lvl="1">
              <a:buNone/>
              <a:defRPr sz="1500"/>
            </a:pPr>
            <a:r>
              <a:t>2. Normalizes columns/keys and selects the most recent snapshots by date.</a:t>
            </a:r>
          </a:p>
          <a:p>
            <a:pPr lvl="1">
              <a:buNone/>
              <a:defRPr sz="1500"/>
            </a:pPr>
            <a:r>
              <a:t>3. Detect:</a:t>
            </a:r>
          </a:p>
          <a:p>
            <a:pPr lvl="2">
              <a:buChar char="•"/>
              <a:defRPr sz="1500"/>
            </a:pPr>
            <a:r>
              <a:t>new relations,</a:t>
            </a:r>
          </a:p>
          <a:p>
            <a:pPr lvl="2">
              <a:buChar char="•"/>
              <a:defRPr sz="1500"/>
            </a:pPr>
            <a:r>
              <a:t>missing relations,</a:t>
            </a:r>
          </a:p>
          <a:p>
            <a:pPr lvl="2">
              <a:buChar char="•"/>
              <a:defRPr sz="1500"/>
            </a:pPr>
            <a:r>
              <a:t>parameter discrepancies,</a:t>
            </a:r>
          </a:p>
          <a:p>
            <a:pPr lvl="2">
              <a:buChar char="•"/>
              <a:defRPr sz="1500"/>
            </a:pPr>
            <a:r>
              <a:t>frequency discrepancies,</a:t>
            </a:r>
          </a:p>
          <a:p>
            <a:pPr lvl="2">
              <a:buChar char="•"/>
              <a:defRPr sz="1500"/>
            </a:pPr>
            <a:r>
              <a:t>summary by PRE/POST frequency pair.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4. Classify destination targets as "SSB-Pre", "SSB-Post" or "Unknown".</a:t>
            </a:r>
          </a:p>
          <a:p>
            <a:pPr lvl="1">
              <a:buNone/>
              <a:defRPr sz="1500"/>
            </a:pPr>
            <a:r>
              <a:t>5. Exports detailed Excel outputs and correction commands.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"CellRelation_&lt;timestamp&gt;_v&lt;version&gt;.xlsx" (end-to-end relations view).</a:t>
            </a:r>
          </a:p>
          <a:p>
            <a:pPr lvl="1">
              <a:buChar char="•"/>
              <a:defRPr sz="1500"/>
            </a:pPr>
            <a:r>
              <a:t>"ConsistencyChecks_CellRelation_&lt;timestamp&gt;_v&lt;version&gt;.xlsx" with:</a:t>
            </a:r>
          </a:p>
          <a:p>
            <a:pPr lvl="2">
              <a:buChar char="•"/>
              <a:defRPr sz="1500"/>
            </a:pPr>
            <a:r>
              <a:t>"Summary"</a:t>
            </a:r>
          </a:p>
          <a:p>
            <a:pPr lvl="2">
              <a:buChar char="•"/>
              <a:defRPr sz="1500"/>
            </a:pPr>
            <a:r>
              <a:t>"SummaryAuditComparisson" (if there is PRE/POST SummaryAudit)</a:t>
            </a:r>
          </a:p>
          <a:p>
            <a:pPr lvl="2">
              <a:buChar char="•"/>
              <a:defRPr sz="1500"/>
            </a:pPr>
            <a:r>
              <a:t>"Summary_CellRelation"</a:t>
            </a:r>
          </a:p>
          <a:p>
            <a:pPr lvl="2">
              <a:buChar char="•"/>
              <a:defRPr sz="1500"/>
            </a:pPr>
            <a:r>
              <a:t>GU blocks: "GU_relations", "GU_param_disc", "GU_freq_disc", "GU_freq_disc_unknown", "GU_missing", "GU_new"</a:t>
            </a:r>
          </a:p>
          <a:p>
            <a:pPr lvl="2">
              <a:buChar char="•"/>
              <a:defRPr sz="1500"/>
            </a:pPr>
            <a:r>
              <a:t>NR blocks: "NR_relations", "NR_param_disc", "NR_freq_disc", "NR_freq_disc_unknown", "NR_missing", "NR_new"</a:t>
            </a:r>
          </a:p>
          <a:p>
            <a:pPr lvl="2">
              <a:buChar char="•"/>
              <a:defRPr sz="1500"/>
            </a:pPr>
            <a:r>
              <a:t>optional "GU_all", "NR_all".</a:t>
            </a:r>
          </a:p>
          <a:p>
            <a:pPr lvl="1">
              <a:buChar char="•"/>
              <a:defRPr sz="1500"/>
            </a:pPr>
            <a:r>
              <a:t>"Correction_Cmd_CC/" with commands per type (new/missing/discrepancies).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3 — Consistency Check Bulk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Root folder with subfolders like "yyyymmdd_hhmm_step0" (optionally nested by market).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Detects PRE/POST candidates by the most appropriate date/time.</a:t>
            </a:r>
          </a:p>
          <a:p>
            <a:pPr lvl="1">
              <a:buNone/>
              <a:defRPr sz="1500"/>
            </a:pPr>
            <a:r>
              <a:t>2. Excludes folders using a blacklist ("ignore", "old", "bad", "partial", "incomplete", "discard", etc.).</a:t>
            </a:r>
          </a:p>
          <a:p>
            <a:pPr lvl="1">
              <a:buNone/>
              <a:defRPr sz="1500"/>
            </a:pPr>
            <a:r>
              <a:t>3. Runs Module 2 for each detected market.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Same output structure as module 2, per market.</a:t>
            </a:r>
          </a:p>
          <a:p>
            <a:pPr lvl="1">
              <a:buChar char="•"/>
              <a:defRPr sz="1500"/>
            </a:pPr>
            <a:r>
              <a:t>Traceability file "FoldersCompared.txt".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4 — Final Clean-Up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Final retune working folder.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Char char="•"/>
              <a:defRPr sz="1500"/>
            </a:pPr>
            <a:r>
              <a:t>Executes final cleanup policies (structure prepared to expand rules).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Versioned cleanup directory according to the active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SummaryAudit sheet contains a high-level checks table by categories. The flow:</a:t>
            </a:r>
          </a:p>
          <a:p>
            <a:pPr lvl="1">
              <a:buNone/>
              <a:defRPr sz="1500"/>
            </a:pPr>
            <a:r>
              <a:t>1. Excludes "UNSYNCHRONIZED" nodes based on "MeContext".</a:t>
            </a:r>
          </a:p>
          <a:p>
            <a:pPr lvl="1">
              <a:buNone/>
              <a:defRPr sz="1500"/>
            </a:pPr>
            <a:r>
              <a:t>2. Evaluates NR, LTE, ENDC, Externals, TermPoints, cardinalities, and profiles.</a:t>
            </a:r>
          </a:p>
          <a:p>
            <a:pPr lvl="1">
              <a:buNone/>
              <a:defRPr sz="1500"/>
            </a:pPr>
            <a:r>
              <a:t>3. Records each check as a row ("Category/SubCategory/Metric/Value/ExtraInfo").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Operational meaning of SummaryAudit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Category: audited technical domain (NR/LTE/ENDC/MeContext/etc.).</a:t>
            </a:r>
          </a:p>
          <a:p>
            <a:pPr lvl="1">
              <a:buChar char="•"/>
              <a:defRPr sz="1500"/>
            </a:pPr>
            <a:r>
              <a:t>SubCategory: type of analysis (Audit/Inconsistencies/Profiles).</a:t>
            </a:r>
          </a:p>
          <a:p>
            <a:pPr lvl="1">
              <a:buChar char="•"/>
              <a:defRPr sz="1500"/>
            </a:pPr>
            <a:r>
              <a:t>Metric: specific rule evaluated.</a:t>
            </a:r>
          </a:p>
          <a:p>
            <a:pPr lvl="1">
              <a:buChar char="•"/>
              <a:defRPr sz="1500"/>
            </a:pPr>
            <a:r>
              <a:t>Value:</a:t>
            </a:r>
          </a:p>
          <a:p>
            <a:pPr lvl="2">
              <a:buChar char="•"/>
              <a:defRPr sz="1500"/>
            </a:pPr>
            <a:r>
              <a:t>Integer: number of affected nodes/relations/cells.</a:t>
            </a:r>
          </a:p>
          <a:p>
            <a:pPr lvl="2">
              <a:buChar char="•"/>
              <a:defRPr sz="1500"/>
            </a:pPr>
            <a:r>
              <a:t>"N/A": not evaluable due to missing columns.</a:t>
            </a:r>
          </a:p>
          <a:p>
            <a:pPr lvl="2">
              <a:buChar char="•"/>
              <a:defRPr sz="1500"/>
            </a:pPr>
            <a:r>
              <a:t>Text: captured status or error.</a:t>
            </a:r>
          </a:p>
          <a:p>
            <a:pPr lvl="1">
              <a:buChar char="•"/>
              <a:defRPr sz="1500"/>
            </a:pPr>
            <a:r>
              <a:t>ExtraInfo: list of nodes or bounded detail for troubleshooting.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MeContext Audit</a:t>
            </a:r>
          </a:p>
          <a:p>
            <a:pPr lvl="1">
              <a:buChar char="•"/>
              <a:defRPr sz="1500"/>
            </a:pPr>
            <a:r>
              <a:t>total unique nodes and unsynchronized node exclusion.</a:t>
            </a:r>
          </a:p>
          <a:p>
            <a:pPr lvl="1">
              <a:buChar char="•"/>
              <a:defRPr sz="1500"/>
            </a:pPr>
            <a:r>
              <a:t>"UNSYNCHRONIZED" nodes (excluded from the rest of the audits).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701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701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MeContext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Total unique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MeContext table to create lists of sites for implementation</a:t>
                      </a:r>
                    </a:p>
                  </a:txBody>
                  <a:tcPr/>
                </a:tc>
              </a:tr>
              <a:tr h="1701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MeContext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MeContext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syncStatus="UNSYNCHRONIZED" (being excluded in all Audits)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NR Frequency Audit / NR Frequency Inconsistencies</a:t>
            </a:r>
          </a:p>
          <a:p>
            <a:pPr>
              <a:buNone/>
              <a:defRPr sz="1500"/>
            </a:pPr>
            <a:r>
              <a:t>Source tables: "NRCellDU", "NRFrequency", "NRFreqRelation", "NRSectorCarrier", "NRCellRelation", "ExternalNRCellCU", "TermPointToGNodeB", "TermPointToGNB".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Detection of NR nodes with N77 SSB (band 646600–660000).</a:t>
            </a:r>
          </a:p>
          <a:p>
            <a:pPr lvl="1">
              <a:buChar char="•"/>
              <a:defRPr sz="1500"/>
            </a:pPr>
            <a:r>
              <a:t>Classification of NR nodes as LowMidBand / mmWave / mixed.</a:t>
            </a:r>
          </a:p>
          <a:p>
            <a:pPr lvl="1">
              <a:buChar char="•"/>
              <a:defRPr sz="1500"/>
            </a:pPr>
            <a:r>
              <a:t>Nodes whose N77 SSBs are fully within allowed PRE or POST lists.</a:t>
            </a:r>
          </a:p>
          <a:p>
            <a:pPr lvl="1">
              <a:buChar char="•"/>
              <a:defRPr sz="1500"/>
            </a:pPr>
            <a:r>
              <a:t>Nodes with N77 SSB outside allowed lists.</a:t>
            </a:r>
          </a:p>
          <a:p>
            <a:pPr lvl="1">
              <a:buChar char="•"/>
              <a:defRPr sz="1500"/>
            </a:pPr>
            <a:r>
              <a:t>Old/new SSB presence per node (only old, only new, both).</a:t>
            </a:r>
          </a:p>
          <a:p>
            <a:pPr lvl="1">
              <a:buChar char="•"/>
              <a:defRPr sz="1500"/>
            </a:pPr>
            <a:r>
              <a:t>Nodes with NRFreqRelationId in an unexpected format (auto-created outside convention).</a:t>
            </a:r>
          </a:p>
          <a:p>
            <a:pPr lvl="1">
              <a:buChar char="•"/>
              <a:defRPr sz="1500"/>
            </a:pPr>
            <a:r>
              <a:t>NR relations to old/new SSB.</a:t>
            </a:r>
          </a:p>
          <a:p>
            <a:pPr lvl="1">
              <a:buChar char="•"/>
              <a:defRPr sz="1500"/>
            </a:pPr>
            <a:r>
              <a:t>NR externals and termpoints pointing to old/new/unknown.</a:t>
            </a:r>
          </a:p>
          <a:p>
            <a:pPr>
              <a:buNone/>
              <a:defRPr sz="1500"/>
            </a:pPr>
            <a:r>
              <a:t>Typical triggering:</a:t>
            </a:r>
          </a:p>
          <a:p>
            <a:pPr lvl="1">
              <a:buChar char="•"/>
              <a:defRPr sz="1500"/>
            </a:pPr>
            <a:r>
              <a:t>Each check is enabled if the table and minimum required columns exist.</a:t>
            </a:r>
          </a:p>
          <a:p>
            <a:pPr lvl="1">
              <a:buChar char="•"/>
              <a:defRPr sz="1500"/>
            </a:pPr>
            <a:r>
              <a:t>If columns are missing, a "N/A" status row is added.</a:t>
            </a:r>
          </a:p>
          <a:p>
            <a:pPr lvl="1">
              <a:buChar char="•"/>
              <a:defRPr sz="1500"/>
            </a:pPr>
            <a:r>
              <a:t>If the table is empty or not found, an informative row "Table not found or empty" is added.</a:t>
            </a:r>
          </a:p>
          <a:p>
            <a:pPr>
              <a:buNone/>
              <a:defRPr sz="1500"/>
            </a:pPr>
            <a:r>
              <a:t>Interpretation: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"Value &gt; 0" in inconsistencies indicates a real deviation that requires investigation.</a:t>
            </a:r>
          </a:p>
          <a:p>
            <a:pPr lvl="1">
              <a:buChar char="•"/>
              <a:defRPr sz="1500"/>
            </a:pPr>
            <a:r>
              <a:t>"ExtraInfo" typically lists affected nodes for operational targeting.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8233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ssbFrequency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LowMidBand Nodes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mmWave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SSB in band (646600-660000)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SSB in Pre-Retune allowed list (648672, 653952)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Step2b pending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SSB in Post-Retune allowed list (647328, 653952)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Step2b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SSB not in Pre/Post Retune allowed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NRSectorCarrier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ARCFN in band (646600-660000)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NRSectorCarrier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ARCFN in Pre-Retune allowed list (650006, 654652, 655324, 655984, 656656)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Step2b pending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NRSectorCarrier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ARCFN in Post-Retune allowed list (650006, 654648, 655320, 655980, 656652)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Step2b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NRSectorCarrier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N77 ARCFN not in Pre/Post Retune allowed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old N77 SSB (648672)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both, the old N77 SSB (648672) and the new N77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old N77 SSB (648672) but without the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old N77 SSB (648672) and the new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these nodes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old N77 SSB (648672) but without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any relations Step1 pending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new N77 SSB (647328) NRFreqRelation pointing to mcpcPCellNrFreqRelProfileRef containing new SSB name (cloned) or Other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Step1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N77 SSB not in (648672, 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Auto-created NRFreqRelationId to new N77 SSB (647328) but not following VZ naming convention (e.g. with extra characters: "auto_647328")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new N77 SSB (647328) and NRFreqRelation reference to McpcPCellNrFreqRelProfile with old SSB before "_" (648672_xxxx)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Step2b execution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the old N77 SSB (648672) and the new SSB (647328) NRFreqRelation pointing to same mcpcPCellNrFreqRelProfileRef containing old SSB name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these nodes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mismatching params (cell-level) between old N77 SSB (648672) and the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review. Step1 run could solve most cases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cellRelations to old N77 SSB (648672)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Post Step2 some relations pointing to other Mkts could be on old SSB. See details in table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cellRelations to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18233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ExternalNRCellCU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old N77 SSB (648672)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PN and DAS might have no External relations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8235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ExternalNRCellCU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PN and DAS might have no External relations defined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LTE Frequency Audit / LTE Frequency Inconsistencies</a:t>
            </a:r>
          </a:p>
          <a:p>
            <a:pPr>
              <a:buNone/>
              <a:defRPr sz="1500"/>
            </a:pPr>
            <a:r>
              <a:t>Source tables: "GUtranSyncSignalFrequency", "GUtranFreqRelation", "GUtranCellRelation", "ExternalGUtranCell", "TermPointToENodeB".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LTE nodes with old/new SSB.</a:t>
            </a:r>
          </a:p>
          <a:p>
            <a:pPr lvl="1">
              <a:buChar char="•"/>
              <a:defRPr sz="1500"/>
            </a:pPr>
            <a:r>
              <a:t>Nodes with both old/new or old without new.</a:t>
            </a:r>
          </a:p>
          <a:p>
            <a:pPr lvl="1">
              <a:buChar char="•"/>
              <a:defRPr sz="1500"/>
            </a:pPr>
            <a:r>
              <a:t>SSB outside the expected pre/post set.</a:t>
            </a:r>
          </a:p>
          <a:p>
            <a:pPr lvl="1">
              <a:buChar char="•"/>
              <a:defRPr sz="1500"/>
            </a:pPr>
            <a:r>
              <a:t>LTE relations to old/new and parameter discrepancies per cell relation.</a:t>
            </a:r>
          </a:p>
          <a:p>
            <a:pPr lvl="1">
              <a:buChar char="•"/>
              <a:defRPr sz="1500"/>
            </a:pPr>
            <a:r>
              <a:t>LTE externals OUT_OF_SERVICE for old/new.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00317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the old N77 SSB (648672)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these nodes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the new N77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both, the old N77 SSB (648672) and the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Step1 completed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the old N77 SSB (648672) but without the new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this nodes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GUtranFreqRelationId 648672-30-20-0-1 and 647328-30-20-0-1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GUtranFreqRelationId 648672-30-20-0-1 but without 647328-30-20-0-1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the N77 SSB not in (648672, 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Auto-created GUtranFreqRelationId to new N77 SSB (647328) but not following VZ naming convention (647328-30-20-0-1)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same endcB1MeasPriority in old N77 SSB (648672) and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and fix with Step1 or Step2c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mismatching params between GUtranFreqRelationId 648672 and 647328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Parameters qQualMin, qRxLevMin, threshXHigh agreed to set to fixed values on new freqs and inconsistencies should be reported to VZ. Other inconsistent parameters would require review for further actions.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GUtranCellRelation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cellRelations to old N77 SSB (648672)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Post Step2 some relations pointing to other Mkts could be on old SSB. See details in table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GUtranCellRelation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cellRelations to new N77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ExternalGUtranCell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old N77 SSB (648672)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ExternalGUtranCell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new N77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003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ExternalGUtranCell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old N77 SSB (648672) with serviceStatus=OUT_OF_SERVICE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Externals with unavailable TermPoints are not operational for ENDC and might not be updated immediately after Step2</a:t>
                      </a:r>
                    </a:p>
                  </a:txBody>
                  <a:tcPr/>
                </a:tc>
              </a:tr>
              <a:tr h="3003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ExternalGUtranCell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Frequency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External cells to new N77 SSB (647328) with serviceStatus=OUT_OF_SERVICE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Termpoint Audit / Termpoint Inconsistencies</a:t>
            </a:r>
          </a:p>
          <a:p>
            <a:pPr>
              <a:buNone/>
              <a:defRPr sz="1500"/>
            </a:pPr>
            <a:r>
              <a:t>Source tables: "TermPointToGNodeB", "TermPointToENodeB", "TermPointToGNB".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3817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TermPointToGNodeB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Termpoint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to NR TermPoints with administrativeState=LOCKED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TermPointToGNodeB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Termpoint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to NR TermPoints with operationalState=DISABLED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TermPointToENodeB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X2 Termpoint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to LTE TermPoints with administrativeState=LOCKED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Helpful to troubleshoot External updates</a:t>
                      </a:r>
                    </a:p>
                  </a:txBody>
                  <a:tcPr/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TermPointToENodeB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X2 Termpoint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to LTE TermPoints with operationalState=DISABLED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Helpful to troubleshoot External updates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TermPointToGNB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X2 Termpoint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to NR TermPoints with administrativeState=LOCKED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Helpful to troubleshoot External updates</a:t>
                      </a:r>
                    </a:p>
                  </a:txBody>
                  <a:tcPr/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TermPointToGNB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X2 Termpoint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to NR TermPoints with operationalState=DISABLED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Helpful to troubleshoot External updates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TermPointToGNB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X2 Termpoint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to NR TermPoints with usedIpAddress=0.0.0.0/::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Helpful to troubleshoot External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ENDC Audit / ENDC Inconsistencies</a:t>
            </a:r>
          </a:p>
          <a:p>
            <a:pPr>
              <a:buNone/>
              <a:defRPr sz="1500"/>
            </a:pPr>
            <a:r>
              <a:t>Source tables: "EndcDistrProfile", "FreqPrioNR".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"gUtranFreqRef" and "mandatoryGUtranFreqRef" with old/new + N77B combinations.</a:t>
            </a:r>
          </a:p>
          <a:p>
            <a:pPr lvl="1">
              <a:buChar char="•"/>
              <a:defRPr sz="1500"/>
            </a:pPr>
            <a:r>
              <a:t>Nodes that do not contain the expected frequency combination.</a:t>
            </a:r>
          </a:p>
          <a:p>
            <a:pPr lvl="1">
              <a:buChar char="•"/>
              <a:defRPr sz="1500"/>
            </a:pPr>
            <a:r>
              <a:t>In "FreqPrioNR": old without new, both present, and parameter mismatch per cell.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92723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gUtranFreqRef containing the old N77 SSB (648672) and the N77B SSB (653952)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Step2c on this nodes</a:t>
                      </a:r>
                    </a:p>
                  </a:txBody>
                  <a:tcPr/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gUtranFreqRef containing the new N77 SSB (647328) and the N77B SSB (653952)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Step2c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mandatoryGUtranFreqRef containing the old N77 SSB (648672) and the N77B SSB (653952)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Step2c on this nodes</a:t>
                      </a:r>
                    </a:p>
                  </a:txBody>
                  <a:tcPr/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mandatoryGUtranFreqRef containing the new N77 SSB (647328) and the N77B SSB (653952)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Step2c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gUtranFreqRef not containing N77 SSBs (648672 or 647328) together with N77B SSB (653952)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this nodes</a:t>
                      </a:r>
                    </a:p>
                  </a:txBody>
                  <a:tcPr/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EndcDistrProfile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mandatoryGUtranFreqRef not empty and not containing N77 SSBs (648672 or 647328) together with N77B SSB (653952)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the old N77 SSB (648672) but without the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run Step1 on this nodes</a:t>
                      </a:r>
                    </a:p>
                  </a:txBody>
                  <a:tcPr/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both, the old N77 SSB (648672) and the new N77 SSB (647328)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Nodes with Step1 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RATFreqPrioId = "fwa" in N77 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RATFreqPrioId = "publicsafety" in N77 band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39272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mismatching params (cell-level) between FreqPrioNR 648672 and 647328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Tip to be defined</a:t>
                      </a:r>
                    </a:p>
                  </a:txBody>
                  <a:tcPr/>
                </a:tc>
              </a:tr>
              <a:tr h="3927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FreqPrioNR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ENDC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RATFreqPrioId different from "fwa"/"publicsafety" in N77 band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Cardinalities Audit / Inconsistencies</a:t>
            </a:r>
          </a:p>
          <a:p>
            <a:pPr>
              <a:buNone/>
              <a:defRPr sz="1500"/>
            </a:pPr>
            <a:r>
              <a:t>Cardinality checks per relation table (per node and/or per cell) to detect overprovisioning or gaps versus expected limits.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6726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NRFrequency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Max NRFrequency definitions per node (limit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/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NRFrequency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nodes with NRFrequency definitions at limit 64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NRFreqRelation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Max NRFreqRelation per NR cell (limit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cells must be checked in preparation phase and confirm if any special action needed</a:t>
                      </a:r>
                    </a:p>
                  </a:txBody>
                  <a:tcPr/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NRFreqRelation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 cells with NRFreqRelation count at limit 16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cells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GUtranSyncSignalFrequency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Max GUtranSyncSignalFrequency definitions per node (limit 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/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GUtranSyncSignalFrequency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nodes with GUtranSyncSignalFrequency definitions at limit 24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nodes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6726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GUtranFreqRelation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Max GUtranFreqRelation per LTE cell (limit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cells must be checked in preparation phase and confirm if any special action needed</a:t>
                      </a:r>
                    </a:p>
                  </a:txBody>
                  <a:tcPr/>
                </a:tc>
              </a:tr>
              <a:tr h="567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GUtranFreqRelation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Cardinality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LTE cells with GUtranFreqRelation count at limit 16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These cells must be checked in preparation phase and confirm if any special action needed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Profiles Audit (if enabled)</a:t>
            </a:r>
          </a:p>
          <a:p>
            <a:pPr lvl="1">
              <a:buChar char="•"/>
              <a:defRPr sz="1500"/>
            </a:pPr>
            <a:r>
              <a:t>Compares PRE/POST profiles by supported profile MO.</a:t>
            </a:r>
          </a:p>
          <a:p>
            <a:pPr lvl="1">
              <a:buChar char="•"/>
              <a:defRPr sz="1500"/>
            </a:pPr>
            <a:r>
              <a:t>Detects parameter discrepancies between old/new variants.</a:t>
            </a:r>
          </a:p>
          <a:p>
            <a:pPr lvl="1">
              <a:buChar char="•"/>
              <a:defRPr sz="1500"/>
            </a:pPr>
            <a:r>
              <a:t>Adds results to SummaryAudit and auxiliary detail sheets.</a:t>
            </a:r>
          </a:p>
          <a:p>
            <a:pPr>
              <a:buNone/>
              <a:defRPr sz="1500"/>
            </a:pPr>
            <a:r>
              <a:t>Full Checks Catalog: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SummaryAudit checks catalog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58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McpcPCellNrFreqRelProfileUeCfg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with old N77 SSB (xxxx_648672) but not new N77 SSB (xxxx_647328)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McpcPCellNrFreqRelProfileUeCfg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(648672_xxxx) but not new N77 SSB (647328_xxxx)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McpcPCellNrFreqRelProfileUeCfg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TrStSaNrFreqRelProfileUeCfg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(648672_xxxx) but not new N77 SSB (647328_xxxx)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TrStSaNrFreqRelProfileUeCfg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(648672_xxxx) but not new N77 SSB (647328_xxxx)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TrStSaNrFreqRelProfileUeCfg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McpcPSCellProfileUeCfg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McpcPSCellProfileUeCfg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UlQualMcpcMeasCfg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UlQualMcpcMeasCfg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McfbCellProfile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McfbCellProfile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McfbCellProfileUeCfg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McfbCellProfileUeCfg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TrStSaCellProfile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TrStSaCellProfile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TrStSaCellProfileUeCfg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TrStSaCellProfileUeCfg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CaCellProfile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CaCellProfile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CaCellProfileUeCfg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CaCellProfileUeCfg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McpcPCellEUtranFreqRelProfile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McpcPCellEUtranFreqRelProfile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McpcPCellEUtranFreqRelProfileUeCfg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McpcPCellEUtranFreqRelProfileUeCfg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UeMCEUtranFreqRelProfile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UeMCEUtranFreqRelProfile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UeMCEUtranFreqRelProfileUeCfg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but not new N77 SSB (647328)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UeMCEUtranFreqRelProfileUeCfg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and Profiles with old N77 SSB (648672) and new N77 SSB (647328) but with param discrepancies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discrepancies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1458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NRCellCU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with NRCellCU Ref parameters to Profiles with the old SSB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/>
                </a:tc>
              </a:tr>
              <a:tr h="1458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EUtranFreqRelation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Profiles Inconsistencies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Retuned nodes with EUtranFreqRelation Ref parameters to Profiles with the old SSB name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Need to review profile consistency before/after retune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Detailed check execution order and gating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MeContext pre-processing</a:t>
            </a:r>
          </a:p>
          <a:p>
            <a:pPr lvl="2">
              <a:buChar char="•"/>
              <a:defRPr sz="1500"/>
            </a:pPr>
            <a:r>
              <a:t>Computes total nodes and "UNSYNCHRONIZED" nodes.</a:t>
            </a:r>
          </a:p>
          <a:p>
            <a:pPr lvl="2">
              <a:buChar char="•"/>
              <a:defRPr sz="1500"/>
            </a:pPr>
            <a:r>
              <a:t>Builds an exclusion list and filters all other MO dataframes by "NodeId" before running any other checks.</a:t>
            </a:r>
          </a:p>
          <a:p>
            <a:pPr lvl="1">
              <a:buNone/>
              <a:defRPr sz="1500"/>
            </a:pPr>
            <a:r>
              <a:t>2. Node scoping for Pre/Post interpretation</a:t>
            </a:r>
          </a:p>
          <a:p>
            <a:pPr lvl="2">
              <a:buChar char="•"/>
              <a:defRPr sz="1500"/>
            </a:pPr>
            <a:r>
              <a:t>"NRCellDU" checks run first because they generate the rows used to infer node scope (Pre-retune vs Post-retune).</a:t>
            </a:r>
          </a:p>
          <a:p>
            <a:pPr lvl="2">
              <a:buChar char="•"/>
              <a:defRPr sz="1500"/>
            </a:pPr>
            <a:r>
              <a:t>This scope is reused by relation/externals/termpoint checks to classify targets ("SSB-Pre", "SSB-Post", "Unknown").</a:t>
            </a:r>
          </a:p>
          <a:p>
            <a:pPr lvl="1">
              <a:buNone/>
              <a:defRPr sz="1500"/>
            </a:pPr>
            <a:r>
              <a:t>3. Per-table processors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Detailed check execution order and gating rules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Char char="•"/>
              <a:defRPr sz="1500"/>
            </a:pPr>
            <a:r>
              <a:t>NR processors: "NRFrequency", "NRFreqRelation", "NRSectorCarrier", "NRCellRelation".</a:t>
            </a:r>
          </a:p>
          <a:p>
            <a:pPr lvl="2">
              <a:buChar char="•"/>
              <a:defRPr sz="1500"/>
            </a:pPr>
            <a:r>
              <a:t>LTE processors: "GUtranSyncSignalFrequency", "GUtranFreqRelation", "GUtranCellRelation".</a:t>
            </a:r>
          </a:p>
          <a:p>
            <a:pPr lvl="2">
              <a:buChar char="•"/>
              <a:defRPr sz="1500"/>
            </a:pPr>
            <a:r>
              <a:t>Externals/Termpoints: "ExternalNRCellCU", "ExternalGUtranCell", "TermPointToGNodeB", "TermPointToGNB", "TermPointToENodeB".</a:t>
            </a:r>
          </a:p>
          <a:p>
            <a:pPr lvl="2">
              <a:buChar char="•"/>
              <a:defRPr sz="1500"/>
            </a:pPr>
            <a:r>
              <a:t>ENDC/Cardinality/Profile processors follow and append their own rows.</a:t>
            </a:r>
          </a:p>
          <a:p>
            <a:pPr lvl="1">
              <a:buNone/>
              <a:defRPr sz="1500"/>
            </a:pPr>
            <a:r>
              <a:t>4. Resilience model</a:t>
            </a:r>
          </a:p>
          <a:p>
            <a:pPr lvl="2">
              <a:buChar char="•"/>
              <a:defRPr sz="1500"/>
            </a:pPr>
            <a:r>
              <a:t>If a table is missing/empty: emits "Table not found or empty" metric rows.</a:t>
            </a:r>
          </a:p>
          <a:p>
            <a:pPr lvl="2">
              <a:buChar char="•"/>
              <a:defRPr sz="1500"/>
            </a:pPr>
            <a:r>
              <a:t>If required columns are missing: emits "N/A" rows.</a:t>
            </a:r>
          </a:p>
          <a:p>
            <a:pPr lvl="2">
              <a:buChar char="•"/>
              <a:defRPr sz="1500"/>
            </a:pPr>
            <a:r>
              <a:t>If exceptions occur: emits "ERROR: ..." rows without aborting the full SummaryAudit generation.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Additional columns injected into parsed MO 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Besides SummaryAudit, Module 1 enriches several raw MO sheets with operational columns for execution/cleanup.</a:t>
            </a:r>
          </a:p>
          <a:p>
            <a:pPr>
              <a:buNone/>
              <a:defRPr b="1" sz="1600"/>
            </a:pPr>
            <a:r>
              <a:t>`MeContext` enrichment (main planning helper)</a:t>
            </a:r>
          </a:p>
          <a:p>
            <a:pPr>
              <a:buNone/>
              <a:defRPr sz="1500"/>
            </a:pPr>
            <a:r>
              <a:t>Additional columns are computed per "NodeId" by aggregating NR/LTE relation tables: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Additional columns injected into parsed MO sheets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Topology and inventory:</a:t>
            </a:r>
          </a:p>
          <a:p>
            <a:pPr lvl="2">
              <a:buChar char="•"/>
              <a:defRPr sz="1500"/>
            </a:pPr>
            <a:r>
              <a:t>"mmWave Cells", "LowMidBand Cells", "N77 Cells"</a:t>
            </a:r>
          </a:p>
          <a:p>
            <a:pPr lvl="2">
              <a:buChar char="•"/>
              <a:defRPr sz="1500"/>
            </a:pPr>
            <a:r>
              <a:t>"N77A old SSB cells", "N77A new SSB cells"</a:t>
            </a:r>
          </a:p>
          <a:p>
            <a:pPr lvl="1">
              <a:buChar char="•"/>
              <a:defRPr sz="1500"/>
            </a:pPr>
            <a:r>
              <a:t>Relation counters:</a:t>
            </a:r>
          </a:p>
          <a:p>
            <a:pPr lvl="2">
              <a:buChar char="•"/>
              <a:defRPr sz="1500"/>
            </a:pPr>
            <a:r>
              <a:t>"NRFreqRelation to old N77A SSB", "NRFreqRelation to new N77A SSB"</a:t>
            </a:r>
          </a:p>
          <a:p>
            <a:pPr lvl="2">
              <a:buChar char="•"/>
              <a:defRPr sz="1500"/>
            </a:pPr>
            <a:r>
              <a:t>"GUtranFreqRelation to old N77A SSB", "GUtranFreqRelation to new N77A SSB"</a:t>
            </a:r>
          </a:p>
          <a:p>
            <a:pPr lvl="1">
              <a:buChar char="•"/>
              <a:defRPr sz="1500"/>
            </a:pPr>
            <a:r>
              <a:t>Priority snapshots (unique consolidated values):</a:t>
            </a:r>
          </a:p>
          <a:p>
            <a:pPr lvl="2">
              <a:buChar char="•"/>
              <a:defRPr sz="1500"/>
            </a:pPr>
            <a:r>
              <a:t>"NRFreqRelation to old N77A SSB cellReselPrio"</a:t>
            </a:r>
          </a:p>
          <a:p>
            <a:pPr lvl="2">
              <a:buChar char="•"/>
              <a:defRPr sz="1500"/>
            </a:pPr>
            <a:r>
              <a:t>"NRFreqRelation to new N77A SSB cellReselPrio"</a:t>
            </a:r>
          </a:p>
          <a:p>
            <a:pPr lvl="2">
              <a:buChar char="•"/>
              <a:defRPr sz="1500"/>
            </a:pPr>
            <a:r>
              <a:t>"GUtranFreqRelation to old N77A SSB cellReselPrio"</a:t>
            </a:r>
          </a:p>
          <a:p>
            <a:pPr lvl="2">
              <a:buChar char="•"/>
              <a:defRPr sz="1500"/>
            </a:pPr>
            <a:r>
              <a:t>"GUtranFreqRelation to new N77A SSB cellReselPrio"</a:t>
            </a:r>
          </a:p>
          <a:p>
            <a:pPr lvl="2">
              <a:buChar char="•"/>
              <a:defRPr sz="1500"/>
            </a:pPr>
            <a:r>
              <a:t>"GUtranFreqRelation to old N77A SSB EndcPrio"</a:t>
            </a:r>
          </a:p>
          <a:p>
            <a:pPr lvl="2">
              <a:buChar char="•"/>
              <a:defRPr sz="1500"/>
            </a:pPr>
            <a:r>
              <a:t>"GUtranFreqRelation to new N77A SSB EndcPrio"</a:t>
            </a:r>
          </a:p>
          <a:p>
            <a:pPr lvl="1">
              <a:buChar char="•"/>
              <a:defRPr sz="1500"/>
            </a:pPr>
            <a:r>
              <a:t>Workflow recommendation fields:</a:t>
            </a:r>
          </a:p>
          <a:p>
            <a:pPr lvl="2">
              <a:buChar char="•"/>
              <a:defRPr sz="1500"/>
            </a:pPr>
            <a:r>
              <a:t>"Step1", "Step2b", "Step2ac", "Next Step", "EndcPrio Next Step"</a:t>
            </a:r>
          </a:p>
          <a:p>
            <a:pPr>
              <a:buNone/>
              <a:defRPr sz="1500"/>
            </a:pPr>
            <a:r>
              <a:t>Operational interpretation: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Additional columns injected into parsed MO sheets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"Step1" focuses on old/new relation parity and reselection-priority convergence.</a:t>
            </a:r>
          </a:p>
          <a:p>
            <a:pPr lvl="1">
              <a:buChar char="•"/>
              <a:defRPr sz="1500"/>
            </a:pPr>
            <a:r>
              <a:t>"Step2b" focuses on old/new N77A cell presence.</a:t>
            </a:r>
          </a:p>
          <a:p>
            <a:pPr lvl="1">
              <a:buChar char="•"/>
              <a:defRPr sz="1500"/>
            </a:pPr>
            <a:r>
              <a:t>"Step2ac" focuses on ENDC priority transition validation.</a:t>
            </a:r>
          </a:p>
          <a:p>
            <a:pPr lvl="1">
              <a:buChar char="•"/>
              <a:defRPr sz="1500"/>
            </a:pPr>
            <a:r>
              <a:t>"Next Step" concatenates pending actions to provide a single execution hint per node.</a:t>
            </a:r>
          </a:p>
          <a:p>
            <a:pPr>
              <a:buNone/>
              <a:defRPr b="1" sz="1600"/>
            </a:pPr>
            <a:r>
              <a:t>`NRCellRelation` and `GUtranCellRelation` enrichment</a:t>
            </a:r>
          </a:p>
          <a:p>
            <a:pPr>
              <a:buNone/>
              <a:defRPr sz="1500"/>
            </a:pPr>
            <a:r>
              <a:t>Both relation tables are normalized with helper columns used for discrepancy targeting and command generation:</a:t>
            </a:r>
          </a:p>
          <a:p>
            <a:pPr lvl="1">
              <a:buChar char="•"/>
              <a:defRPr sz="1500"/>
            </a:pPr>
            <a:r>
              <a:t>"Frequency" extracted from relation references.</a:t>
            </a:r>
          </a:p>
          <a:p>
            <a:pPr lvl="1">
              <a:buChar char="•"/>
              <a:defRPr sz="1500"/>
            </a:pPr>
            <a:r>
              <a:t>External endpoint decomposition fields (function/cell identifiers parsed from references).</a:t>
            </a:r>
          </a:p>
          <a:p>
            <a:pPr lvl="1">
              <a:buChar char="•"/>
              <a:defRPr sz="1500"/>
            </a:pPr>
            <a:r>
              <a:t>"GNodeB_SSB_Target" classification ("SSB-Pre"/"SSB-Post"/"Unknown").</a:t>
            </a:r>
          </a:p>
          <a:p>
            <a:pPr lvl="1">
              <a:buChar char="•"/>
              <a:defRPr sz="1500"/>
            </a:pPr>
            <a:r>
              <a:t>"Correction_Cmd" prebuilt command text for the rows considered actionable.</a:t>
            </a:r>
          </a:p>
          <a:p>
            <a:pPr>
              <a:buNone/>
              <a:defRPr b="1" sz="1600"/>
            </a:pPr>
            <a:r>
              <a:t>`ExternalNRCellCU` and `ExternalGUtranCell` enrichment</a:t>
            </a:r>
          </a:p>
          <a:p>
            <a:pPr lvl="1">
              <a:buChar char="•"/>
              <a:defRPr sz="1500"/>
            </a:pPr>
            <a:r>
              <a:t>Adds "Frequency", "Termpoint", "TermpointStatus", "TermpointConsolidatedStatus".</a:t>
            </a:r>
          </a:p>
          <a:p>
            <a:pPr lvl="1">
              <a:buChar char="•"/>
              <a:defRPr sz="1500"/>
            </a:pPr>
            <a:r>
              <a:t>Adds "GNodeB_SSB_Target" and "Correction_Cmd" for retune remediation flows.</a:t>
            </a:r>
          </a:p>
          <a:p>
            <a:pPr lvl="1">
              <a:buChar char="•"/>
              <a:defRPr sz="1500"/>
            </a:pPr>
            <a:r>
              <a:t>For LTE externals, service state ("OUT_OF_SERVICE") is also reflected in SummaryAudit checks.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Additional columns injected into parsed MO sheets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`TermPointToGNodeB` / `TermPointToGNB` enrichment</a:t>
            </a:r>
          </a:p>
          <a:p>
            <a:pPr lvl="1">
              <a:buChar char="•"/>
              <a:defRPr sz="1500"/>
            </a:pPr>
            <a:r>
              <a:t>Adds consolidated termpoint health/status fields and "SSB needs update" boolean.</a:t>
            </a:r>
          </a:p>
          <a:p>
            <a:pPr lvl="1">
              <a:buChar char="•"/>
              <a:defRPr sz="1500"/>
            </a:pPr>
            <a:r>
              <a:t>Adds "GNodeB_SSB_Target" and generated "Correction_Cmd" when target and frequency logic indicates migration to post-retune SSB.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Key SummaryAudit checks by source table (implementation-level)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Below is the practical checklist implemented by the processors: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Key SummaryAudit checks by source table (implementation-level)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NRCellDU:</a:t>
            </a:r>
          </a:p>
          <a:p>
            <a:pPr lvl="2">
              <a:buChar char="•"/>
              <a:defRPr sz="1500"/>
            </a:pPr>
            <a:r>
              <a:t>Node classification LowMidBand/mmWave/mixed.</a:t>
            </a:r>
          </a:p>
          <a:p>
            <a:pPr lvl="2">
              <a:buChar char="•"/>
              <a:defRPr sz="1500"/>
            </a:pPr>
            <a:r>
              <a:t>N77-in-band detection.</a:t>
            </a:r>
          </a:p>
          <a:p>
            <a:pPr lvl="2">
              <a:buChar char="•"/>
              <a:defRPr sz="1500"/>
            </a:pPr>
            <a:r>
              <a:t>Allowed pre/post SSB-list compliance and out-of-list inconsistencies.</a:t>
            </a:r>
          </a:p>
          <a:p>
            <a:pPr lvl="1">
              <a:buChar char="•"/>
              <a:defRPr sz="1500"/>
            </a:pPr>
            <a:r>
              <a:t>NRFrequency:</a:t>
            </a:r>
          </a:p>
          <a:p>
            <a:pPr lvl="2">
              <a:buChar char="•"/>
              <a:defRPr sz="1500"/>
            </a:pPr>
            <a:r>
              <a:t>old/new/both/old-without-new presence by node.</a:t>
            </a:r>
          </a:p>
          <a:p>
            <a:pPr lvl="2">
              <a:buChar char="•"/>
              <a:defRPr sz="1500"/>
            </a:pPr>
            <a:r>
              <a:t>values outside expected old/new sets.</a:t>
            </a:r>
          </a:p>
          <a:p>
            <a:pPr lvl="1">
              <a:buChar char="•"/>
              <a:defRPr sz="1500"/>
            </a:pPr>
            <a:r>
              <a:t>NRFreqRelation:</a:t>
            </a:r>
          </a:p>
          <a:p>
            <a:pPr lvl="2">
              <a:buChar char="•"/>
              <a:defRPr sz="1500"/>
            </a:pPr>
            <a:r>
              <a:t>old/new/both/old-without-new relation presence.</a:t>
            </a:r>
          </a:p>
          <a:p>
            <a:pPr lvl="2">
              <a:buChar char="•"/>
              <a:defRPr sz="1500"/>
            </a:pPr>
            <a:r>
              <a:t>naming-convention checks for auto-created relation IDs.</a:t>
            </a:r>
          </a:p>
          <a:p>
            <a:pPr lvl="2">
              <a:buChar char="•"/>
              <a:defRPr sz="1500"/>
            </a:pPr>
            <a:r>
              <a:t>cell-level old-vs-new parameter mismatch detection.</a:t>
            </a:r>
          </a:p>
          <a:p>
            <a:pPr lvl="2">
              <a:buChar char="•"/>
              <a:defRPr sz="1500"/>
            </a:pPr>
            <a:r>
              <a:t>profile reference transition checks (old profile clones vs expected post clone).</a:t>
            </a:r>
          </a:p>
          <a:p>
            <a:pPr lvl="1">
              <a:buChar char="•"/>
              <a:defRPr sz="1500"/>
            </a:pPr>
            <a:r>
              <a:t>NRSectorCarrier:</a:t>
            </a:r>
          </a:p>
          <a:p>
            <a:pPr lvl="2">
              <a:buChar char="•"/>
              <a:defRPr sz="1500"/>
            </a:pPr>
            <a:r>
              <a:t>allowed ARFCN list compliance (pre/post).</a:t>
            </a:r>
          </a:p>
          <a:p>
            <a:pPr lvl="2">
              <a:buChar char="•"/>
              <a:defRPr sz="1500"/>
            </a:pPr>
            <a:r>
              <a:t>out-of-list inconsistencies.</a:t>
            </a:r>
          </a:p>
          <a:p>
            <a:pPr lvl="1">
              <a:buChar char="•"/>
              <a:defRPr sz="1500"/>
            </a:pPr>
            <a:r>
              <a:t>NRCellRelation:</a:t>
            </a:r>
          </a:p>
          <a:p>
            <a:pPr lvl="2">
              <a:buChar char="•"/>
              <a:defRPr sz="1500"/>
            </a:pPr>
            <a:r>
              <a:t>relation counts to old/new targets.</a:t>
            </a:r>
          </a:p>
          <a:p>
            <a:pPr lvl="2">
              <a:buChar char="•"/>
              <a:defRPr sz="1500"/>
            </a:pPr>
            <a:r>
              <a:t>extraction/parsing consistency from "nRFreqRelationRef".</a:t>
            </a:r>
          </a:p>
          <a:p>
            <a:pPr lvl="1">
              <a:buChar char="•"/>
              <a:defRPr sz="1500"/>
            </a:pPr>
            <a:r>
              <a:t>GUtranSyncSignalFrequency:</a:t>
            </a:r>
          </a:p>
          <a:p>
            <a:pPr lvl="2">
              <a:buChar char="•"/>
              <a:defRPr sz="1500"/>
            </a:pPr>
            <a:r>
              <a:t>old/new/both/old-without-new LTE presence by node.</a:t>
            </a:r>
          </a:p>
          <a:p>
            <a:pPr lvl="2">
              <a:buChar char="•"/>
              <a:defRPr sz="1500"/>
            </a:pPr>
            <a:r>
              <a:t>out-of-set inconsistencies.</a:t>
            </a:r>
          </a:p>
          <a:p>
            <a:pPr lvl="1">
              <a:buChar char="•"/>
              <a:defRPr sz="1500"/>
            </a:pPr>
            <a:r>
              <a:t>GUtranFreqRelation:</a:t>
            </a:r>
          </a:p>
          <a:p>
            <a:pPr lvl="2">
              <a:buChar char="•"/>
              <a:defRPr sz="1500"/>
            </a:pPr>
            <a:r>
              <a:t>old/new/both/old-without-new checks.</a:t>
            </a:r>
          </a:p>
          <a:p>
            <a:pPr lvl="2">
              <a:buChar char="•"/>
              <a:defRPr sz="1500"/>
            </a:pPr>
            <a:r>
              <a:t>naming convention validation ("&lt;ssb&gt;-30-20-0-1" style).</a:t>
            </a:r>
          </a:p>
          <a:p>
            <a:pPr lvl="2">
              <a:buChar char="•"/>
              <a:defRPr sz="1500"/>
            </a:pPr>
            <a:r>
              <a:t>old/new cell-level parameter and ENDC priority checks.</a:t>
            </a:r>
          </a:p>
          <a:p>
            <a:pPr lvl="1">
              <a:buChar char="•"/>
              <a:defRPr sz="1500"/>
            </a:pPr>
            <a:r>
              <a:t>GUtranCellRelation:</a:t>
            </a:r>
          </a:p>
          <a:p>
            <a:pPr lvl="2">
              <a:buChar char="•"/>
              <a:defRPr sz="1500"/>
            </a:pPr>
            <a:r>
              <a:t>relation counts to old/new LTE targets.</a:t>
            </a:r>
          </a:p>
          <a:p>
            <a:pPr lvl="1">
              <a:buChar char="•"/>
              <a:defRPr sz="1500"/>
            </a:pPr>
            <a:r>
              <a:t>ExternalNRCellCU / ExternalGUtranCell:</a:t>
            </a:r>
          </a:p>
          <a:p>
            <a:pPr lvl="2">
              <a:buChar char="•"/>
              <a:defRPr sz="1500"/>
            </a:pPr>
            <a:r>
              <a:t>old/new external references counts.</a:t>
            </a:r>
          </a:p>
          <a:p>
            <a:pPr lvl="2">
              <a:buChar char="•"/>
              <a:defRPr sz="1500"/>
            </a:pPr>
            <a:r>
              <a:t>target classification and termpoint correlation.</a:t>
            </a:r>
          </a:p>
          <a:p>
            <a:pPr lvl="1">
              <a:buChar char="•"/>
              <a:defRPr sz="1500"/>
            </a:pPr>
            <a:r>
              <a:t>TermPoint tables:</a:t>
            </a:r>
          </a:p>
          <a:p>
            <a:pPr lvl="2">
              <a:buChar char="•"/>
              <a:defRPr sz="1500"/>
            </a:pPr>
            <a:r>
              <a:t>locked/disabled/unhealthy transport endpoint detection.</a:t>
            </a:r>
          </a:p>
          <a:p>
            <a:pPr lvl="2">
              <a:buChar char="•"/>
              <a:defRPr sz="1500"/>
            </a:pPr>
            <a:r>
              <a:t>alignment with external-cell update needs.</a:t>
            </a:r>
          </a:p>
          <a:p>
            <a:pPr lvl="1">
              <a:buChar char="•"/>
              <a:defRPr sz="1500"/>
            </a:pPr>
            <a:r>
              <a:t>EndcDistrProfile / FreqPrioNR:</a:t>
            </a:r>
          </a:p>
          <a:p>
            <a:pPr lvl="2">
              <a:buChar char="•"/>
              <a:defRPr sz="1500"/>
            </a:pPr>
            <a:r>
              <a:t>expected old/new + N77B combinations.</a:t>
            </a:r>
          </a:p>
          <a:p>
            <a:pPr lvl="2">
              <a:buChar char="•"/>
              <a:defRPr sz="1500"/>
            </a:pPr>
            <a:r>
              <a:t>unexpected combinations and param discrepancies.</a:t>
            </a:r>
          </a:p>
          <a:p>
            <a:pPr lvl="1">
              <a:buChar char="•"/>
              <a:defRPr sz="1500"/>
            </a:pPr>
            <a:r>
              <a:t>Cardinality checks:</a:t>
            </a:r>
          </a:p>
          <a:p>
            <a:pPr lvl="2">
              <a:buChar char="•"/>
              <a:defRPr sz="1500"/>
            </a:pPr>
            <a:r>
              <a:t>hard-limit and threshold checks per node/cell relation families.</a:t>
            </a:r>
          </a:p>
          <a:p>
            <a:pPr lvl="2">
              <a:buChar char="•"/>
              <a:defRPr sz="1500"/>
            </a:pPr>
            <a:r>
              <a:t>explicit inconsistency rows when limits are reached/exceeded.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Filtering by non-retuned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If a POST SummaryAudit exists, the module obtains PRE/POST node lists and can exclude discrepancies whose target points to nodes that did not complete retune, reducing operational noise.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parameter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Selects common PRE and POST relations by composite key:</a:t>
            </a:r>
          </a:p>
          <a:p>
            <a:pPr lvl="2">
              <a:buChar char="•"/>
              <a:defRPr sz="1500"/>
            </a:pPr>
            <a:r>
              <a:t>GU: typically "NodeId", "EUtranCellFDDId", "GUtranCellRelationId".</a:t>
            </a:r>
          </a:p>
          <a:p>
            <a:pPr lvl="2">
              <a:buChar char="•"/>
              <a:defRPr sz="1500"/>
            </a:pPr>
            <a:r>
              <a:t>NR: typically "NodeId", "NRCellCUId", "NRCellRelationId".</a:t>
            </a:r>
          </a:p>
          <a:p>
            <a:pPr lvl="1">
              <a:buNone/>
              <a:defRPr sz="1500"/>
            </a:pPr>
            <a:r>
              <a:t>2. Excludes control columns (keys, frequency, Pre/Post, Date).</a:t>
            </a:r>
          </a:p>
          <a:p>
            <a:pPr lvl="1">
              <a:buNone/>
              <a:defRPr sz="1500"/>
            </a:pPr>
            <a:r>
              <a:t>3. Compares value-by-value across shared columns.</a:t>
            </a:r>
          </a:p>
          <a:p>
            <a:pPr lvl="1">
              <a:buNone/>
              <a:defRPr sz="1500"/>
            </a:pPr>
            <a:r>
              <a:t>4. Sets "ParamDiff=True" if at least one column differs.</a:t>
            </a:r>
          </a:p>
          <a:p>
            <a:pPr lvl="1">
              <a:buNone/>
              <a:defRPr sz="1500"/>
            </a:pPr>
            <a:r>
              <a:t>5. In GU it ignores "timeOfCreation" and "mobilityStatusNR" to avoid false positives.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frequency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Extracts base frequency from relation references ("extract_gu_freq_base" / "extract_nr_freq_base").</a:t>
            </a:r>
          </a:p>
          <a:p>
            <a:pPr lvl="1">
              <a:buNone/>
              <a:defRPr sz="1500"/>
            </a:pPr>
            <a:r>
              <a:t>2. Discrepancy rule:</a:t>
            </a:r>
          </a:p>
          <a:p>
            <a:pPr lvl="2">
              <a:buChar char="•"/>
              <a:defRPr sz="1500"/>
            </a:pPr>
            <a:r>
              <a:t>if PRE had "freq_before" or "freq_after", and POST does not end up in "freq_after", it marks "FreqDiff=True".</a:t>
            </a:r>
          </a:p>
          <a:p>
            <a:pPr lvl="1">
              <a:buNone/>
              <a:defRPr sz="1500"/>
            </a:pPr>
            <a:r>
              <a:t>3. Classifies the discrepancy as:</a:t>
            </a:r>
          </a:p>
          <a:p>
            <a:pPr lvl="2">
              <a:buChar char="•"/>
              <a:defRPr sz="1500"/>
            </a:pPr>
            <a:r>
              <a:t>"FreqDiff_SSBPost" (target identified as SSB-Post),</a:t>
            </a:r>
          </a:p>
          <a:p>
            <a:pPr lvl="2">
              <a:buChar char="•"/>
              <a:defRPr sz="1500"/>
            </a:pPr>
            <a:r>
              <a:t>"FreqDiff_Unknown" (cannot be associated to a known target).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neighbor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They are split into three groups:</a:t>
            </a:r>
          </a:p>
          <a:p>
            <a:pPr lvl="1">
              <a:buChar char="•"/>
              <a:defRPr sz="1500"/>
            </a:pPr>
            <a:r>
              <a:t>New relations: keys present in POST and absent in PRE.</a:t>
            </a:r>
          </a:p>
          <a:p>
            <a:pPr lvl="1">
              <a:buChar char="•"/>
              <a:defRPr sz="1500"/>
            </a:pPr>
            <a:r>
              <a:t>Missing relations: keys present in PRE and absent in POST.</a:t>
            </a:r>
          </a:p>
          <a:p>
            <a:pPr lvl="1">
              <a:buChar char="•"/>
              <a:defRPr sz="1500"/>
            </a:pPr>
            <a:r>
              <a:t>Discrepancies: same key in PRE/POST but with parametric or frequency differences.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Content of each ConsistencyChecks output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Summary: KPIs per table (PRE/POST volume, discrepancies, new/missing, source files).</a:t>
            </a:r>
          </a:p>
          <a:p>
            <a:pPr lvl="1">
              <a:buChar char="•"/>
              <a:defRPr sz="1500"/>
            </a:pPr>
            <a:r>
              <a:t>SummaryAuditComparisson: diff of SummaryAudit PRE vs POST metrics (without "ExtraInfo" to keep the comparison clean).</a:t>
            </a:r>
          </a:p>
          <a:p>
            <a:pPr lvl="1">
              <a:buChar char="•"/>
              <a:defRPr sz="1500"/>
            </a:pPr>
            <a:r>
              <a:t>Summary_CellRelation: KPI per "Freq_Pre/Freq_Post" pair and per technology.</a:t>
            </a:r>
          </a:p>
          <a:p>
            <a:pPr lvl="1">
              <a:buChar char="•"/>
              <a:defRPr sz="1500"/>
            </a:pPr>
            <a:r>
              <a:t>GU_relations / NR_relations: relation universe enriched with target classification and command snippets.</a:t>
            </a:r>
          </a:p>
          <a:p>
            <a:pPr lvl="1">
              <a:buChar char="•"/>
              <a:defRPr sz="1500"/>
            </a:pPr>
            <a:r>
              <a:t>GU_param_disc / NR_param_disc: common relations with param differences.</a:t>
            </a:r>
          </a:p>
          <a:p>
            <a:pPr lvl="1">
              <a:buChar char="•"/>
              <a:defRPr sz="1500"/>
            </a:pPr>
            <a:r>
              <a:t>GU_freq_disc / NR_freq_disc: frequency discrepancies to SSB-Post targets.</a:t>
            </a:r>
          </a:p>
          <a:p>
            <a:pPr lvl="1">
              <a:buChar char="•"/>
              <a:defRPr sz="1500"/>
            </a:pPr>
            <a:r>
              <a:t>GU_freq_disc_unknown / NR_freq_disc_unknown: discrepancies with non-classifiable targets.</a:t>
            </a:r>
          </a:p>
          <a:p>
            <a:pPr lvl="1">
              <a:buChar char="•"/>
              <a:defRPr sz="1500"/>
            </a:pPr>
            <a:r>
              <a:t>GU_missing / NR_missing: relations removed versus PRE.</a:t>
            </a:r>
          </a:p>
          <a:p>
            <a:pPr lvl="1">
              <a:buChar char="•"/>
              <a:defRPr sz="1500"/>
            </a:pPr>
            <a:r>
              <a:t>GU_new / NR_new: relations added in POST.</a:t>
            </a:r>
          </a:p>
          <a:p>
            <a:pPr lvl="1">
              <a:buChar char="•"/>
              <a:defRPr sz="1500"/>
            </a:pPr>
            <a:r>
              <a:t>GU_all / NR_all: optional consolidated dump for extended analysis.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requirements and 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Keep market log exports in a consistent structure (especially for bulk).</a:t>
            </a:r>
          </a:p>
          <a:p>
            <a:pPr lvl="1">
              <a:buChar char="•"/>
              <a:defRPr sz="1500"/>
            </a:pPr>
            <a:r>
              <a:t>Validate that PRE/POST have the same table granularity and consistent naming.</a:t>
            </a:r>
          </a:p>
          <a:p>
            <a:pPr lvl="1">
              <a:buChar char="•"/>
              <a:defRPr sz="1500"/>
            </a:pPr>
            <a:r>
              <a:t>Validate frequency inputs ("n77_ssb_pre", "n77_ssb_post", "n77b_ssb") before batch execution.</a:t>
            </a:r>
          </a:p>
          <a:p>
            <a:pPr lvl="1">
              <a:buChar char="•"/>
              <a:defRPr sz="1500"/>
            </a:pPr>
            <a:r>
              <a:t>Correctly configure allowed SSB/ARFCN lists to minimize false positives.</a:t>
            </a:r>
          </a:p>
          <a:p>
            <a:pPr lvl="1">
              <a:buChar char="•"/>
              <a:defRPr sz="1500"/>
            </a:pPr>
            <a:r>
              <a:t>Run Configuration Audit before Consistency Checks whenever possible.</a:t>
            </a:r>
          </a:p>
          <a:p>
            <a:pPr lvl="1">
              <a:buChar char="•"/>
              <a:defRPr sz="1500"/>
            </a:pPr>
            <a:r>
              <a:t>Use Bulk mode only with a controlled folder naming convention.</a:t>
            </a:r>
          </a:p>
          <a:p>
            <a:pPr lvl="1">
              <a:buChar char="•"/>
              <a:defRPr sz="1500"/>
            </a:pPr>
            <a:r>
              <a:t>Review "Summary" and "Summary_CellRelation" first, then then deep-dive into detail sheets (ConfigurationAudit) and discrepancy tabs (ConsistencyCheck).</a:t>
            </a:r>
          </a:p>
          <a:p>
            <a:pPr lvl="1">
              <a:buChar char="•"/>
              <a:defRPr sz="1500"/>
            </a:pPr>
            <a:r>
              <a:t>Consume "Correction_Cmd_CA" and "Correction_Cmd_CC" as a remediation proposal, not as blind execution.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Modes and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GUI mode: run without CLI arguments.</a:t>
            </a:r>
          </a:p>
          <a:p>
            <a:pPr lvl="1">
              <a:buChar char="•"/>
              <a:defRPr sz="1500"/>
            </a:pPr>
            <a:r>
              <a:t>CLI mode: run with explicit module and options.</a:t>
            </a:r>
          </a:p>
          <a:p>
            <a:pPr lvl="1">
              <a:buChar char="•"/>
              <a:defRPr sz="1500"/>
            </a:pPr>
            <a:r>
              <a:t>Web Interfacee: the tool can be run in a server/client infrastructure, accessing the server through a Web Interface where you can unpload your inputs, enqueue different tasks and  export the results when finish..</a:t>
            </a:r>
          </a:p>
          <a:p>
            <a:pPr>
              <a:buNone/>
              <a:defRPr sz="1500"/>
            </a:pPr>
            <a:r>
              <a:t>All Generated artifacts include a versioned suffix: "&lt;timestamp&gt;_v&lt;TOOL_VERSION&gt;".</a:t>
            </a:r>
          </a:p>
          <a:p>
            <a:pPr>
              <a:buNone/>
              <a:defRPr sz="1500"/>
            </a:pPr>
            <a:r>
              <a:t>This guarantees traceability and avoids collisions between runs.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The engine depends on log quality and structure: missing columns downgrade checks to "N/A".</a:t>
            </a:r>
          </a:p>
          <a:p>
            <a:pPr lvl="1">
              <a:buChar char="•"/>
              <a:defRPr sz="1500"/>
            </a:pPr>
            <a:r>
              <a:t>Some rules depend on naming conventions in references (NR/GU relation refs).</a:t>
            </a:r>
          </a:p>
          <a:p>
            <a:pPr lvl="1">
              <a:buChar char="•"/>
              <a:defRPr sz="1500"/>
            </a:pPr>
            <a:r>
              <a:t>The Final Clean-Up module is prepared to extend operation-specific policies.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509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 Update Network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Persisted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Update network frequency list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 Configuration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Logs/ZIP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Excel + PPT + CA commands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Audit configuration and profiles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Consistency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PRE and POST folders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Excel + CC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Compare pre/post relations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 Consistency Check (Bulk)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Multi-market root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Module 2 outputs per market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Run bulk comparison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 Final Clean-Up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Final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Clean-up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Operational final clean-up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documentation recommendations (detected gaps)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To keep the guide aligned with the real behavior, these areas are also important to document in future iterations:</a:t>
            </a:r>
          </a:p>
          <a:p>
            <a:pPr lvl="1">
              <a:buChar char="•"/>
              <a:defRPr sz="1500"/>
            </a:pPr>
            <a:r>
              <a:t>Explicit mapping of each "SummaryAudit" metric to its correction-command export sheet/folder.</a:t>
            </a:r>
          </a:p>
          <a:p>
            <a:pPr lvl="1">
              <a:buChar char="•"/>
              <a:defRPr sz="1500"/>
            </a:pPr>
            <a:r>
              <a:t>Full decision table for "Step1/Step2b/Step2ac" outcomes and expected operator actions.</a:t>
            </a:r>
          </a:p>
          <a:p>
            <a:pPr lvl="1">
              <a:buChar char="•"/>
              <a:defRPr sz="1500"/>
            </a:pPr>
            <a:r>
              <a:t>Cardinality thresholds per MO (including rationale and vendor constraints).</a:t>
            </a:r>
          </a:p>
          <a:p>
            <a:pPr lvl="1">
              <a:buChar char="•"/>
              <a:defRPr sz="1500"/>
            </a:pPr>
            <a:r>
              <a:t>Frequency-audit feature toggle behavior ("frequency_audit") and which checks are suppressed when disabled.</a:t>
            </a:r>
          </a:p>
          <a:p>
            <a:pPr lvl="1">
              <a:buChar char="•"/>
              <a:defRPr sz="1500"/>
            </a:pPr>
            <a:r>
              <a:t>Detailed limitations of reference parsing when vendor naming conventions are not respected.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7</cp:revision>
  <dcterms:created xsi:type="dcterms:W3CDTF">2013-01-27T09:14:16Z</dcterms:created>
  <dcterms:modified xsi:type="dcterms:W3CDTF">2026-02-14T07:16:40Z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