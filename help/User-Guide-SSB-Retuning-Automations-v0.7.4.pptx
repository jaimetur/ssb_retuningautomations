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  <p:sldId id="303" r:id="rId59"/>
    <p:sldId id="304" r:id="rId60"/>
    <p:sldId id="305" r:id="rId61"/>
    <p:sldId id="306" r:id="rId62"/>
    <p:sldId id="307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100" y="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Relationship Id="rId63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400"/>
            </a:pPr>
            <a:r>
              <a:t>Module 0: Update Network Frequencies.</a:t>
            </a:r>
          </a:p>
          <a:p>
            <a:pPr lvl="1">
              <a:buChar char="•"/>
              <a:defRPr sz="1400"/>
            </a:pPr>
            <a:r>
              <a:t>Module 1: Configuration Audit &amp; Logs Parser.</a:t>
            </a:r>
          </a:p>
          <a:p>
            <a:pPr lvl="1">
              <a:buChar char="•"/>
              <a:defRPr sz="1400"/>
            </a:pPr>
            <a:r>
              <a:t>Module 2: Consistency Check (manual Pre/Post).</a:t>
            </a:r>
          </a:p>
          <a:p>
            <a:pPr lvl="1">
              <a:buChar char="•"/>
              <a:defRPr sz="14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400"/>
            </a:pPr>
            <a:r>
              <a:t>Module 4: Final Clean-Up.</a:t>
            </a:r>
          </a:p>
          <a:p>
            <a:pPr>
              <a:buNone/>
              <a:defRPr sz="14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4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4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4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4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4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4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4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4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4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Scan logs and detects "NRFrequency" blocks.</a:t>
            </a:r>
          </a:p>
          <a:p>
            <a:pPr lvl="1">
              <a:buNone/>
              <a:defRPr sz="1400"/>
            </a:pPr>
            <a:r>
              <a:t>2. Extracts numeric values from "arfcnValueNRDl".</a:t>
            </a:r>
          </a:p>
          <a:p>
            <a:pPr lvl="1">
              <a:buNone/>
              <a:defRPr sz="1400"/>
            </a:pPr>
            <a:r>
              <a:t>3. Removes duplicates and sorts frequencies.</a:t>
            </a:r>
          </a:p>
          <a:p>
            <a:pPr lvl="1">
              <a:buNone/>
              <a:defRPr sz="14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400"/>
            </a:pPr>
            <a:r>
              <a:t>Does not generate Excel/PPT.</a:t>
            </a:r>
          </a:p>
          <a:p>
            <a:pPr lvl="1">
              <a:buChar char="•"/>
              <a:defRPr sz="14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4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4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4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4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4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4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400"/>
            </a:pPr>
            <a:r>
              <a:t>Frequency parameters:</a:t>
            </a:r>
          </a:p>
          <a:p>
            <a:pPr lvl="2">
              <a:buChar char="•"/>
              <a:defRPr sz="1400"/>
            </a:pPr>
            <a:r>
              <a:t>"n77_ssb_pre"</a:t>
            </a:r>
          </a:p>
          <a:p>
            <a:pPr lvl="2">
              <a:buChar char="•"/>
              <a:defRPr sz="1400"/>
            </a:pPr>
            <a:r>
              <a:t>"n77_ssb_post"</a:t>
            </a:r>
          </a:p>
          <a:p>
            <a:pPr lvl="2">
              <a:buChar char="•"/>
              <a:defRPr sz="1400"/>
            </a:pPr>
            <a:r>
              <a:t>"n77b_ssb"</a:t>
            </a:r>
          </a:p>
          <a:p>
            <a:pPr lvl="2">
              <a:buChar char="•"/>
              <a:defRPr sz="1400"/>
            </a:pPr>
            <a:r>
              <a:t>allowed SSB/ARFCN lists pre/post.</a:t>
            </a:r>
          </a:p>
          <a:p>
            <a:pPr lvl="1">
              <a:buChar char="•"/>
              <a:defRPr sz="1400"/>
            </a:pPr>
            <a:r>
              <a:t>Flags:</a:t>
            </a:r>
          </a:p>
          <a:p>
            <a:pPr lvl="2">
              <a:buChar char="•"/>
              <a:defRPr sz="1400"/>
            </a:pPr>
            <a:r>
              <a:t>"profiles_audit"</a:t>
            </a:r>
          </a:p>
          <a:p>
            <a:pPr lvl="2">
              <a:buChar char="•"/>
              <a:defRPr sz="1400"/>
            </a:pPr>
            <a:r>
              <a:t>"frequency_audit"</a:t>
            </a:r>
          </a:p>
          <a:p>
            <a:pPr lvl="2">
              <a:buChar char="•"/>
              <a:defRPr sz="1400"/>
            </a:pPr>
            <a:r>
              <a:t>"export_correction_cmd"</a:t>
            </a:r>
          </a:p>
          <a:p>
            <a:pPr lvl="2">
              <a:buChar char="•"/>
              <a:defRPr sz="14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Parses files and extracts MO tables by "SubNetwork" blocks.</a:t>
            </a:r>
          </a:p>
          <a:p>
            <a:pPr lvl="1">
              <a:buNone/>
              <a:defRPr sz="1400"/>
            </a:pPr>
            <a:r>
              <a:t>2. Generates one sheet per detected table.</a:t>
            </a:r>
          </a:p>
          <a:p>
            <a:pPr lvl="1">
              <a:buNone/>
              <a:defRPr sz="1400"/>
            </a:pPr>
            <a:r>
              <a:t>3. Builds "SummaryAudit" + pivots/auxiliary summaries.</a:t>
            </a:r>
          </a:p>
          <a:p>
            <a:pPr lvl="1">
              <a:buNone/>
              <a:defRPr sz="1400"/>
            </a:pPr>
            <a:r>
              <a:t>4. Runs profiles audit if enabled.</a:t>
            </a:r>
          </a:p>
          <a:p>
            <a:pPr lvl="1">
              <a:buNone/>
              <a:defRPr sz="1400"/>
            </a:pPr>
            <a:r>
              <a:t>5. Exports CA correction commands if requested.</a:t>
            </a:r>
          </a:p>
          <a:p>
            <a:pPr lvl="1">
              <a:buNone/>
              <a:defRPr sz="14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4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400"/>
            </a:pPr>
            <a:r>
              <a:t>Sheets for each parsed MO table.</a:t>
            </a:r>
          </a:p>
          <a:p>
            <a:pPr lvl="2">
              <a:buChar char="•"/>
              <a:defRPr sz="1400"/>
            </a:pPr>
            <a:r>
              <a:t>"SummaryAudit".</a:t>
            </a:r>
          </a:p>
          <a:p>
            <a:pPr lvl="2">
              <a:buChar char="•"/>
              <a:defRPr sz="1400"/>
            </a:pPr>
            <a:r>
              <a:t>NR/LTE parameter discrepancy sheets.</a:t>
            </a:r>
          </a:p>
          <a:p>
            <a:pPr lvl="2">
              <a:buChar char="•"/>
              <a:defRPr sz="1400"/>
            </a:pPr>
            <a:r>
              <a:t>Summary/pivot sheets by frequencies and relations.</a:t>
            </a:r>
          </a:p>
          <a:p>
            <a:pPr lvl="1">
              <a:buChar char="•"/>
              <a:defRPr sz="14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4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SummaryAudit contains rows with:</a:t>
            </a:r>
          </a:p>
          <a:p>
            <a:pPr lvl="2">
              <a:buChar char="•"/>
              <a:defRPr sz="1400"/>
            </a:pPr>
            <a:r>
              <a:t>"Category", "SubCategory", "Metric", "Value", "ExtraInfo",</a:t>
            </a:r>
          </a:p>
          <a:p>
            <a:pPr lvl="2">
              <a:buChar char="•"/>
              <a:defRPr sz="14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4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4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400"/>
            </a:pPr>
            <a:r>
              <a:t>Frequencies "n77_ssb_pre" and "n77_ssb_post".</a:t>
            </a:r>
          </a:p>
          <a:p>
            <a:pPr lvl="1">
              <a:buChar char="•"/>
              <a:defRPr sz="14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4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Loads relation tables ("GUtranCellRelation", "NRCellRelation").</a:t>
            </a:r>
          </a:p>
          <a:p>
            <a:pPr lvl="1">
              <a:buNone/>
              <a:defRPr sz="1400"/>
            </a:pPr>
            <a:r>
              <a:t>2. Normalizes columns/keys and selects the most recent snapshots by date.</a:t>
            </a:r>
          </a:p>
          <a:p>
            <a:pPr lvl="1">
              <a:buNone/>
              <a:defRPr sz="1400"/>
            </a:pPr>
            <a:r>
              <a:t>3. Detect:</a:t>
            </a:r>
          </a:p>
          <a:p>
            <a:pPr lvl="2">
              <a:buChar char="•"/>
              <a:defRPr sz="1400"/>
            </a:pPr>
            <a:r>
              <a:t>new relations,</a:t>
            </a:r>
          </a:p>
          <a:p>
            <a:pPr lvl="2">
              <a:buChar char="•"/>
              <a:defRPr sz="1400"/>
            </a:pPr>
            <a:r>
              <a:t>missing relations,</a:t>
            </a:r>
          </a:p>
          <a:p>
            <a:pPr lvl="2">
              <a:buChar char="•"/>
              <a:defRPr sz="1400"/>
            </a:pPr>
            <a:r>
              <a:t>parameter discrepancies,</a:t>
            </a:r>
          </a:p>
          <a:p>
            <a:pPr lvl="2">
              <a:buChar char="•"/>
              <a:defRPr sz="1400"/>
            </a:pPr>
            <a:r>
              <a:t>frequency discrepancies,</a:t>
            </a:r>
          </a:p>
          <a:p>
            <a:pPr lvl="2">
              <a:buChar char="•"/>
              <a:defRPr sz="14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4. Classify destination targets as "SSB-Pre", "SSB-Post" or "Unknown".</a:t>
            </a:r>
          </a:p>
          <a:p>
            <a:pPr lvl="1">
              <a:buNone/>
              <a:defRPr sz="14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4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400"/>
            </a:pPr>
            <a:r>
              <a:t>"Summary"</a:t>
            </a:r>
          </a:p>
          <a:p>
            <a:pPr lvl="2">
              <a:buChar char="•"/>
              <a:defRPr sz="1400"/>
            </a:pPr>
            <a:r>
              <a:t>"SummaryAuditComparisson" (if there is PRE/POST SummaryAudit)</a:t>
            </a:r>
          </a:p>
          <a:p>
            <a:pPr lvl="2">
              <a:buChar char="•"/>
              <a:defRPr sz="1400"/>
            </a:pPr>
            <a:r>
              <a:t>"Summary_CellRelation"</a:t>
            </a:r>
          </a:p>
          <a:p>
            <a:pPr lvl="2">
              <a:buChar char="•"/>
              <a:defRPr sz="14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4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400"/>
            </a:pPr>
            <a:r>
              <a:t>optional "GU_all", "NR_all".</a:t>
            </a:r>
          </a:p>
          <a:p>
            <a:pPr lvl="1">
              <a:buChar char="•"/>
              <a:defRPr sz="14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Detects PRE/POST candidates by the most appropriate date/time.</a:t>
            </a:r>
          </a:p>
          <a:p>
            <a:pPr lvl="1">
              <a:buNone/>
              <a:defRPr sz="14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4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Same output structure as module 2, per market.</a:t>
            </a:r>
          </a:p>
          <a:p>
            <a:pPr lvl="1">
              <a:buChar char="•"/>
              <a:defRPr sz="14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4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GUI mode: run without CLI arguments.</a:t>
            </a:r>
          </a:p>
          <a:p>
            <a:pPr lvl="1">
              <a:buChar char="•"/>
              <a:defRPr sz="1400"/>
            </a:pPr>
            <a:r>
              <a:t>CLI mode: run with explicit module and options.</a:t>
            </a:r>
          </a:p>
          <a:p>
            <a:pPr lvl="1">
              <a:buChar char="•"/>
              <a:defRPr sz="14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4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4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400"/>
            </a:pPr>
            <a:r>
              <a:t>1. Excludes "UNSYNCHRONIZED" nodes based on "MeContext".</a:t>
            </a:r>
          </a:p>
          <a:p>
            <a:pPr lvl="1">
              <a:buNone/>
              <a:defRPr sz="14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4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4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400"/>
            </a:pPr>
            <a:r>
              <a:t>Metric: specific rule evaluated.</a:t>
            </a:r>
          </a:p>
          <a:p>
            <a:pPr lvl="1">
              <a:buChar char="•"/>
              <a:defRPr sz="1400"/>
            </a:pPr>
            <a:r>
              <a:t>Value:</a:t>
            </a:r>
          </a:p>
          <a:p>
            <a:pPr lvl="2">
              <a:buChar char="•"/>
              <a:defRPr sz="1400"/>
            </a:pPr>
            <a:r>
              <a:t>Integer: number of affected nodes/relations/cells.</a:t>
            </a:r>
          </a:p>
          <a:p>
            <a:pPr lvl="2">
              <a:buChar char="•"/>
              <a:defRPr sz="1400"/>
            </a:pPr>
            <a:r>
              <a:t>"N/A": not evaluable due to missing columns.</a:t>
            </a:r>
          </a:p>
          <a:p>
            <a:pPr lvl="2">
              <a:buChar char="•"/>
              <a:defRPr sz="1400"/>
            </a:pPr>
            <a:r>
              <a:t>Text: captured status or error.</a:t>
            </a:r>
          </a:p>
          <a:p>
            <a:pPr lvl="1">
              <a:buChar char="•"/>
              <a:defRPr sz="14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MeContext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"MeContext".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Total unique nodes.</a:t>
            </a:r>
          </a:p>
          <a:p>
            <a:pPr lvl="1">
              <a:buChar char="•"/>
              <a:defRPr sz="1400"/>
            </a:pPr>
            <a:r>
              <a:t>Nodes with syncStatus="UNSYNCHRONIZED" (excluded from the rest of the audits).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73542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622"/>
                <a:gridCol w="1264394"/>
                <a:gridCol w="2926080"/>
                <a:gridCol w="310850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Total unique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table to create lists of sites for implementation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syncStatus="UNSYNCHRONIZED" (being excluded in all Audits)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Unsynch nodes excluded in Audits and Implementation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Detection of NR nodes with N77 SSB (band 646600–660000).</a:t>
            </a:r>
          </a:p>
          <a:p>
            <a:pPr lvl="1">
              <a:buChar char="•"/>
              <a:defRPr sz="1400"/>
            </a:pPr>
            <a:r>
              <a:t>Classification of NR nodes as LowMidBand / mmWave / mixed.</a:t>
            </a:r>
          </a:p>
          <a:p>
            <a:pPr lvl="1">
              <a:buChar char="•"/>
              <a:defRPr sz="14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400"/>
            </a:pPr>
            <a:r>
              <a:t>Nodes with N77 SSB outside allowed lists.</a:t>
            </a:r>
          </a:p>
          <a:p>
            <a:pPr lvl="1">
              <a:buChar char="•"/>
              <a:defRPr sz="1400"/>
            </a:pPr>
            <a:r>
              <a:t>Old/new SSB presence per node (only old, only new, both).</a:t>
            </a:r>
          </a:p>
          <a:p>
            <a:pPr lvl="1">
              <a:buChar char="•"/>
              <a:defRPr sz="14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400"/>
            </a:pPr>
            <a:r>
              <a:t>NR relations to old/new SSB.</a:t>
            </a:r>
          </a:p>
          <a:p>
            <a:pPr lvl="1">
              <a:buChar char="•"/>
              <a:defRPr sz="1400"/>
            </a:pPr>
            <a:r>
              <a:t>NR externals and termpoints pointing to old/new/unknown.</a:t>
            </a:r>
          </a:p>
          <a:p>
            <a:pPr>
              <a:buNone/>
              <a:defRPr sz="1400"/>
            </a:pPr>
            <a:r>
              <a:t>Typical triggering:</a:t>
            </a:r>
          </a:p>
          <a:p>
            <a:pPr lvl="1">
              <a:buChar char="•"/>
              <a:defRPr sz="14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400"/>
            </a:pPr>
            <a:r>
              <a:t>If columns are missing, a "N/A" status row is added.</a:t>
            </a:r>
          </a:p>
          <a:p>
            <a:pPr lvl="1">
              <a:buChar char="•"/>
              <a:defRPr sz="14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400"/>
            </a:pPr>
            <a:r>
              <a:t>Interpretation: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400"/>
            </a:pPr>
            <a:r>
              <a:t>"ExtraInfo" typically lists affected nodes for operational targeting.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743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486"/>
                <a:gridCol w="1436055"/>
                <a:gridCol w="2926080"/>
                <a:gridCol w="287997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ssbFrequency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LowMidBand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mmWave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Pre-Retune allowed list (648672, 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Post-Retune allowed list (647328, 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Pre-Retune allowed list (650006, 654652, 655324, 655984, 656656)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Post-Retune allowed list (650006, 654648, 655320, 655980, 656652)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18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749"/>
                <a:gridCol w="1283432"/>
                <a:gridCol w="2926080"/>
                <a:gridCol w="317333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with some cells missing relations to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any relations Step1 pending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NRFreqRelation pointing to mcpcPCellNrFreqRelProfileRef containing new SSB name (cloned) or Other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Auto-created NRFreqRelationId to new N77 SSB (647328) but not following VZ naming convention (e.g. with extra characters: "auto_647328")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and NRFreqRelation reference to McpcPCellNrFreqRelProfile with old SSB before "_" (648672_xxxx)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Step2b execution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and the new SSB (647328) NRFreqRelation pointing to same mcpcPCellNrFreqRelProfileRef containing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mismatching params (cell-level) between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review. Step1 run could solve most cases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9155"/>
                <a:gridCol w="1533807"/>
                <a:gridCol w="2401472"/>
                <a:gridCol w="2865166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LTE nodes with old/new SSB.</a:t>
            </a:r>
          </a:p>
          <a:p>
            <a:pPr lvl="1">
              <a:buChar char="•"/>
              <a:defRPr sz="1400"/>
            </a:pPr>
            <a:r>
              <a:t>Nodes with both old/new or old without new.</a:t>
            </a:r>
          </a:p>
          <a:p>
            <a:pPr lvl="1">
              <a:buChar char="•"/>
              <a:defRPr sz="1400"/>
            </a:pPr>
            <a:r>
              <a:t>SSB outside the expected pre/post set.</a:t>
            </a:r>
          </a:p>
          <a:p>
            <a:pPr lvl="1">
              <a:buChar char="•"/>
              <a:defRPr sz="14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400"/>
            </a:pPr>
            <a:r>
              <a:t>LTE externals OUT_OF_SERVICE for old/new.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458"/>
                <a:gridCol w="1106919"/>
                <a:gridCol w="2722972"/>
                <a:gridCol w="35682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with some cells missing relations to new SSB 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Auto-created GUtranFreqRelationId to new N77 SSB (647328) but not following VZ naming convention (647328-30-20-0-1)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Not an issue, unless other inconsistencies raised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same endcB1MeasPriority in old N77 SSB (648672) and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and fix with Step1 or Step2c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between GUtranFreqRelationId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Parameters qQualMin, qRxLevMin, threshXHigh agreed to set to fixed values on new freqs and inconsistencies should be reported to VZ. Other inconsistent parameters would require review for further actions.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1075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174"/>
                <a:gridCol w="1152977"/>
                <a:gridCol w="2564295"/>
                <a:gridCol w="339615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 with serviceStatus=OUT_OF_SERVICE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Externals with unavailable TermPoints are not operational for ENDC and might not be updated immediately after Step2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 with serviceStatus=OUT_OF_SERVICE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"TermPointToGNodeB", "TermPointToENodeB", "TermPointToGNB".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3559"/>
                <a:gridCol w="1504273"/>
                <a:gridCol w="2842924"/>
                <a:gridCol w="242884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usedIpAddress=0.0.0.0/::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"EndcDistrProfile", "FreqPrioNR".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400"/>
            </a:pPr>
            <a:r>
              <a:t>Nodes that do not contain the expected frequency combination.</a:t>
            </a:r>
          </a:p>
          <a:p>
            <a:pPr lvl="1">
              <a:buChar char="•"/>
              <a:defRPr sz="1400"/>
            </a:pPr>
            <a:r>
              <a:t>In "FreqPrioNR": old without new, both present, and parameter mismatch per cell.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823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48"/>
                <a:gridCol w="1129942"/>
                <a:gridCol w="2926080"/>
                <a:gridCol w="3185230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not containing N77 SSBs (648672 or 647328) together with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not empty and not containing N77 SSBs (648672 or 647328) together with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"fwa" in N77 band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(cell-level) between FreqPrioNR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different from "fwa"/"publicsafety"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28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009"/>
                <a:gridCol w="1387310"/>
                <a:gridCol w="2328430"/>
                <a:gridCol w="28378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NRFrequency definitions per node (limit 64)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NRFrequency definitions at limit 64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NRFreqRelation per NR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cells with NRFreqRelation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GUtranSyncSignalFrequency definitions per node (limit 24)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GUtranSyncSignalFrequency definitions at limit 24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GUtranFreqRelation per LTE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cells with GUtranFreqRelation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Compares PRE/POST profiles by supported profile MO.</a:t>
            </a:r>
          </a:p>
          <a:p>
            <a:pPr lvl="1">
              <a:buChar char="•"/>
              <a:defRPr sz="1400"/>
            </a:pPr>
            <a:r>
              <a:t>Detects parameter discrepancies between old/new variants.</a:t>
            </a:r>
          </a:p>
          <a:p>
            <a:pPr lvl="1">
              <a:buChar char="•"/>
              <a:defRPr sz="1400"/>
            </a:pPr>
            <a:r>
              <a:t>Adds results to SummaryAudit and auxiliary detail sheets.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6825"/>
                <a:gridCol w="1318004"/>
                <a:gridCol w="2926080"/>
                <a:gridCol w="247869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with old N77 SSB (xxxx_648672) but not new N77 SSB (xxxx_647328)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102"/>
                <a:gridCol w="1360296"/>
                <a:gridCol w="2926080"/>
                <a:gridCol w="2652122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29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473"/>
                <a:gridCol w="1299448"/>
                <a:gridCol w="2926080"/>
                <a:gridCol w="240259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NRCellCU Ref parameters to Profiles with the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EUtranFreqRelation Ref parameters to Profiles with the old SSB name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MeContext pre-processing</a:t>
            </a:r>
          </a:p>
          <a:p>
            <a:pPr lvl="2">
              <a:buChar char="•"/>
              <a:defRPr sz="1400"/>
            </a:pPr>
            <a:r>
              <a:t>Computes total nodes and "UNSYNCHRONIZED" nodes.</a:t>
            </a:r>
          </a:p>
          <a:p>
            <a:pPr lvl="2">
              <a:buChar char="•"/>
              <a:defRPr sz="14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400"/>
            </a:pPr>
            <a:r>
              <a:t>2. Node scoping for Pre/Post interpretation</a:t>
            </a:r>
          </a:p>
          <a:p>
            <a:pPr lvl="2">
              <a:buChar char="•"/>
              <a:defRPr sz="14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4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4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4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4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4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400"/>
            </a:pPr>
            <a:r>
              <a:t>ENDC/Cardinality/Profile processors follow and append their own rows.</a:t>
            </a:r>
          </a:p>
          <a:p>
            <a:pPr lvl="1">
              <a:buNone/>
              <a:defRPr sz="1400"/>
            </a:pPr>
            <a:r>
              <a:t>4. Resilience model</a:t>
            </a:r>
          </a:p>
          <a:p>
            <a:pPr lvl="2">
              <a:buChar char="•"/>
              <a:defRPr sz="14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400"/>
            </a:pPr>
            <a:r>
              <a:t>If required columns are missing: emits "N/A" rows.</a:t>
            </a:r>
          </a:p>
          <a:p>
            <a:pPr lvl="2">
              <a:buChar char="•"/>
              <a:defRPr sz="14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4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Topology and inventory:</a:t>
            </a:r>
          </a:p>
          <a:p>
            <a:pPr lvl="2">
              <a:buChar char="•"/>
              <a:defRPr sz="1400"/>
            </a:pPr>
            <a:r>
              <a:t>"mmWave Cells", "LowMidBand Cells", "N77 Cells"</a:t>
            </a:r>
          </a:p>
          <a:p>
            <a:pPr lvl="2">
              <a:buChar char="•"/>
              <a:defRPr sz="1400"/>
            </a:pPr>
            <a:r>
              <a:t>"N77A old SSB cells", "N77A new SSB cells"</a:t>
            </a:r>
          </a:p>
          <a:p>
            <a:pPr lvl="1">
              <a:buChar char="•"/>
              <a:defRPr sz="1400"/>
            </a:pPr>
            <a:r>
              <a:t>Relation counters:</a:t>
            </a:r>
          </a:p>
          <a:p>
            <a:pPr lvl="2">
              <a:buChar char="•"/>
              <a:defRPr sz="14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4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400"/>
            </a:pPr>
            <a:r>
              <a:t>Priority snapshots (unique consolidated values):</a:t>
            </a:r>
          </a:p>
          <a:p>
            <a:pPr lvl="2">
              <a:buChar char="•"/>
              <a:defRPr sz="1400"/>
            </a:pPr>
            <a:r>
              <a:t>"NRFreqRelation to old N77A SSB cellReselPrio"</a:t>
            </a:r>
          </a:p>
          <a:p>
            <a:pPr lvl="2">
              <a:buChar char="•"/>
              <a:defRPr sz="1400"/>
            </a:pPr>
            <a:r>
              <a:t>"NRFreqRelation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cellReselPrio"</a:t>
            </a:r>
          </a:p>
          <a:p>
            <a:pPr lvl="2">
              <a:buChar char="•"/>
              <a:defRPr sz="1400"/>
            </a:pPr>
            <a:r>
              <a:t>"GUtranFreqRelation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EndcPrio"</a:t>
            </a:r>
          </a:p>
          <a:p>
            <a:pPr lvl="2">
              <a:buChar char="•"/>
              <a:defRPr sz="1400"/>
            </a:pPr>
            <a:r>
              <a:t>"GUtranFreqRelation to new N77A SSB EndcPrio"</a:t>
            </a:r>
          </a:p>
          <a:p>
            <a:pPr lvl="1">
              <a:buChar char="•"/>
              <a:defRPr sz="1400"/>
            </a:pPr>
            <a:r>
              <a:t>Workflow recommendation fields:</a:t>
            </a:r>
          </a:p>
          <a:p>
            <a:pPr lvl="2">
              <a:buChar char="•"/>
              <a:defRPr sz="1400"/>
            </a:pPr>
            <a:r>
              <a:t>"Step1", "Step2b", "Step2ac", "Next Step", "EndcPrio Next Step"</a:t>
            </a:r>
          </a:p>
          <a:p>
            <a:pPr>
              <a:buNone/>
              <a:defRPr sz="14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400"/>
            </a:pPr>
            <a:r>
              <a:t>"Step2b" focuses on old/new N77A cell presence.</a:t>
            </a:r>
          </a:p>
          <a:p>
            <a:pPr lvl="1">
              <a:buChar char="•"/>
              <a:defRPr sz="1400"/>
            </a:pPr>
            <a:r>
              <a:t>"Step2ac" focuses on ENDC priority transition validation.</a:t>
            </a:r>
          </a:p>
          <a:p>
            <a:pPr lvl="1">
              <a:buChar char="•"/>
              <a:defRPr sz="14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4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400"/>
            </a:pPr>
            <a:r>
              <a:t>"Frequency" extracted from relation references.</a:t>
            </a:r>
          </a:p>
          <a:p>
            <a:pPr lvl="1">
              <a:buChar char="•"/>
              <a:defRPr sz="14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4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4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4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4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4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4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4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NRCellDU:</a:t>
            </a:r>
          </a:p>
          <a:p>
            <a:pPr lvl="2">
              <a:buChar char="•"/>
              <a:defRPr sz="1400"/>
            </a:pPr>
            <a:r>
              <a:t>Node classification LowMidBand/mmWave/mixed.</a:t>
            </a:r>
          </a:p>
          <a:p>
            <a:pPr lvl="2">
              <a:buChar char="•"/>
              <a:defRPr sz="1400"/>
            </a:pPr>
            <a:r>
              <a:t>N77-in-band detection.</a:t>
            </a:r>
          </a:p>
          <a:p>
            <a:pPr lvl="2">
              <a:buChar char="•"/>
              <a:defRPr sz="14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400"/>
            </a:pPr>
            <a:r>
              <a:t>NRFrequency:</a:t>
            </a:r>
          </a:p>
          <a:p>
            <a:pPr lvl="2">
              <a:buChar char="•"/>
              <a:defRPr sz="1400"/>
            </a:pPr>
            <a:r>
              <a:t>old/new/both/old-without-new presence by node.</a:t>
            </a:r>
          </a:p>
          <a:p>
            <a:pPr lvl="2">
              <a:buChar char="•"/>
              <a:defRPr sz="1400"/>
            </a:pPr>
            <a:r>
              <a:t>values outside expected old/new sets.</a:t>
            </a:r>
          </a:p>
          <a:p>
            <a:pPr lvl="1">
              <a:buChar char="•"/>
              <a:defRPr sz="1400"/>
            </a:pPr>
            <a:r>
              <a:t>NRFreqRelation:</a:t>
            </a:r>
          </a:p>
          <a:p>
            <a:pPr lvl="2">
              <a:buChar char="•"/>
              <a:defRPr sz="1400"/>
            </a:pPr>
            <a:r>
              <a:t>old/new/both/old-without-new relation presence.</a:t>
            </a:r>
          </a:p>
          <a:p>
            <a:pPr lvl="2">
              <a:buChar char="•"/>
              <a:defRPr sz="1400"/>
            </a:pPr>
            <a:r>
              <a:t>naming-convention checks for auto-created relation IDs.</a:t>
            </a:r>
          </a:p>
          <a:p>
            <a:pPr lvl="2">
              <a:buChar char="•"/>
              <a:defRPr sz="1400"/>
            </a:pPr>
            <a:r>
              <a:t>cell-level old-vs-new parameter mismatch detection.</a:t>
            </a:r>
          </a:p>
          <a:p>
            <a:pPr lvl="2">
              <a:buChar char="•"/>
              <a:defRPr sz="14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400"/>
            </a:pPr>
            <a:r>
              <a:t>NRSectorCarrier:</a:t>
            </a:r>
          </a:p>
          <a:p>
            <a:pPr lvl="2">
              <a:buChar char="•"/>
              <a:defRPr sz="1400"/>
            </a:pPr>
            <a:r>
              <a:t>allowed ARFCN list compliance (pre/post).</a:t>
            </a:r>
          </a:p>
          <a:p>
            <a:pPr lvl="2">
              <a:buChar char="•"/>
              <a:defRPr sz="1400"/>
            </a:pPr>
            <a:r>
              <a:t>out-of-list inconsistencies.</a:t>
            </a:r>
          </a:p>
          <a:p>
            <a:pPr lvl="1">
              <a:buChar char="•"/>
              <a:defRPr sz="1400"/>
            </a:pPr>
            <a:r>
              <a:t>NRCellRelation:</a:t>
            </a:r>
          </a:p>
          <a:p>
            <a:pPr lvl="2">
              <a:buChar char="•"/>
              <a:defRPr sz="1400"/>
            </a:pPr>
            <a:r>
              <a:t>relation counts to old/new targets.</a:t>
            </a:r>
          </a:p>
          <a:p>
            <a:pPr lvl="2">
              <a:buChar char="•"/>
              <a:defRPr sz="1400"/>
            </a:pPr>
            <a:r>
              <a:t>extraction/parsing consistency from "nRFreqRelationRef".</a:t>
            </a:r>
          </a:p>
          <a:p>
            <a:pPr lvl="1">
              <a:buChar char="•"/>
              <a:defRPr sz="1400"/>
            </a:pPr>
            <a:r>
              <a:t>GUtranSyncSignalFrequency:</a:t>
            </a:r>
          </a:p>
          <a:p>
            <a:pPr lvl="2">
              <a:buChar char="•"/>
              <a:defRPr sz="1400"/>
            </a:pPr>
            <a:r>
              <a:t>old/new/both/old-without-new LTE presence by node.</a:t>
            </a:r>
          </a:p>
          <a:p>
            <a:pPr lvl="2">
              <a:buChar char="•"/>
              <a:defRPr sz="1400"/>
            </a:pPr>
            <a:r>
              <a:t>out-of-set inconsistencies.</a:t>
            </a:r>
          </a:p>
          <a:p>
            <a:pPr lvl="1">
              <a:buChar char="•"/>
              <a:defRPr sz="1400"/>
            </a:pPr>
            <a:r>
              <a:t>GUtranFreqRelation:</a:t>
            </a:r>
          </a:p>
          <a:p>
            <a:pPr lvl="2">
              <a:buChar char="•"/>
              <a:defRPr sz="1400"/>
            </a:pPr>
            <a:r>
              <a:t>old/new/both/old-without-new checks.</a:t>
            </a:r>
          </a:p>
          <a:p>
            <a:pPr lvl="2">
              <a:buChar char="•"/>
              <a:defRPr sz="1400"/>
            </a:pPr>
            <a:r>
              <a:t>naming convention validation ("&lt;ssb&gt;-30-20-0-1" style).</a:t>
            </a:r>
          </a:p>
          <a:p>
            <a:pPr lvl="2">
              <a:buChar char="•"/>
              <a:defRPr sz="1400"/>
            </a:pPr>
            <a:r>
              <a:t>old/new cell-level parameter and ENDC priority checks.</a:t>
            </a:r>
          </a:p>
          <a:p>
            <a:pPr lvl="1">
              <a:buChar char="•"/>
              <a:defRPr sz="1400"/>
            </a:pPr>
            <a:r>
              <a:t>GUtranCellRelation:</a:t>
            </a:r>
          </a:p>
          <a:p>
            <a:pPr lvl="2">
              <a:buChar char="•"/>
              <a:defRPr sz="1400"/>
            </a:pPr>
            <a:r>
              <a:t>relation counts to old/new LTE targets.</a:t>
            </a:r>
          </a:p>
          <a:p>
            <a:pPr lvl="1">
              <a:buChar char="•"/>
              <a:defRPr sz="1400"/>
            </a:pPr>
            <a:r>
              <a:t>ExternalNRCellCU / ExternalGUtranCell:</a:t>
            </a:r>
          </a:p>
          <a:p>
            <a:pPr lvl="2">
              <a:buChar char="•"/>
              <a:defRPr sz="1400"/>
            </a:pPr>
            <a:r>
              <a:t>old/new external references counts.</a:t>
            </a:r>
          </a:p>
          <a:p>
            <a:pPr lvl="2">
              <a:buChar char="•"/>
              <a:defRPr sz="1400"/>
            </a:pPr>
            <a:r>
              <a:t>target classification and termpoint correlation.</a:t>
            </a:r>
          </a:p>
          <a:p>
            <a:pPr lvl="1">
              <a:buChar char="•"/>
              <a:defRPr sz="1400"/>
            </a:pPr>
            <a:r>
              <a:t>TermPoint tables:</a:t>
            </a:r>
          </a:p>
          <a:p>
            <a:pPr lvl="2">
              <a:buChar char="•"/>
              <a:defRPr sz="1400"/>
            </a:pPr>
            <a:r>
              <a:t>locked/disabled/unhealthy transport endpoint detection.</a:t>
            </a:r>
          </a:p>
          <a:p>
            <a:pPr lvl="2">
              <a:buChar char="•"/>
              <a:defRPr sz="1400"/>
            </a:pPr>
            <a:r>
              <a:t>alignment with external-cell update needs.</a:t>
            </a:r>
          </a:p>
          <a:p>
            <a:pPr lvl="1">
              <a:buChar char="•"/>
              <a:defRPr sz="1400"/>
            </a:pPr>
            <a:r>
              <a:t>EndcDistrProfile / FreqPrioNR:</a:t>
            </a:r>
          </a:p>
          <a:p>
            <a:pPr lvl="2">
              <a:buChar char="•"/>
              <a:defRPr sz="1400"/>
            </a:pPr>
            <a:r>
              <a:t>expected old/new + N77B combinations.</a:t>
            </a:r>
          </a:p>
          <a:p>
            <a:pPr lvl="2">
              <a:buChar char="•"/>
              <a:defRPr sz="1400"/>
            </a:pPr>
            <a:r>
              <a:t>unexpected combinations and param discrepancies.</a:t>
            </a:r>
          </a:p>
          <a:p>
            <a:pPr lvl="1">
              <a:buChar char="•"/>
              <a:defRPr sz="1400"/>
            </a:pPr>
            <a:r>
              <a:t>Cardinality checks:</a:t>
            </a:r>
          </a:p>
          <a:p>
            <a:pPr lvl="2">
              <a:buChar char="•"/>
              <a:defRPr sz="14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4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Selects common PRE and POST relations by composite key:</a:t>
            </a:r>
          </a:p>
          <a:p>
            <a:pPr lvl="2">
              <a:buChar char="•"/>
              <a:defRPr sz="14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400"/>
            </a:pPr>
            <a:r>
              <a:t>NR: typically "NodeId", "NRCellCUId", "NRCellRelationId".</a:t>
            </a:r>
          </a:p>
          <a:p>
            <a:pPr lvl="1">
              <a:buNone/>
              <a:defRPr sz="1400"/>
            </a:pPr>
            <a:r>
              <a:t>2. Excludes control columns (keys, frequency, Pre/Post, Date).</a:t>
            </a:r>
          </a:p>
          <a:p>
            <a:pPr lvl="1">
              <a:buNone/>
              <a:defRPr sz="1400"/>
            </a:pPr>
            <a:r>
              <a:t>3. Compares value-by-value across shared columns.</a:t>
            </a:r>
          </a:p>
          <a:p>
            <a:pPr lvl="1">
              <a:buNone/>
              <a:defRPr sz="1400"/>
            </a:pPr>
            <a:r>
              <a:t>4. Sets "ParamDiff=True" if at least one column differs.</a:t>
            </a:r>
          </a:p>
          <a:p>
            <a:pPr lvl="1">
              <a:buNone/>
              <a:defRPr sz="14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400"/>
            </a:pPr>
            <a:r>
              <a:t>2. Discrepancy rule:</a:t>
            </a:r>
          </a:p>
          <a:p>
            <a:pPr lvl="2">
              <a:buChar char="•"/>
              <a:defRPr sz="14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400"/>
            </a:pPr>
            <a:r>
              <a:t>3. Classifies the discrepancy as:</a:t>
            </a:r>
          </a:p>
          <a:p>
            <a:pPr lvl="2">
              <a:buChar char="•"/>
              <a:defRPr sz="1400"/>
            </a:pPr>
            <a:r>
              <a:t>"FreqDiff_SSBPost" (target identified as SSB-Post),</a:t>
            </a:r>
          </a:p>
          <a:p>
            <a:pPr lvl="2">
              <a:buChar char="•"/>
              <a:defRPr sz="14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They are split into three groups:</a:t>
            </a:r>
          </a:p>
          <a:p>
            <a:pPr lvl="1">
              <a:buChar char="•"/>
              <a:defRPr sz="1400"/>
            </a:pPr>
            <a:r>
              <a:t>New relations: keys present in POST and absent in PRE.</a:t>
            </a:r>
          </a:p>
          <a:p>
            <a:pPr lvl="1">
              <a:buChar char="•"/>
              <a:defRPr sz="1400"/>
            </a:pPr>
            <a:r>
              <a:t>Missing relations: keys present in PRE and absent in POST.</a:t>
            </a:r>
          </a:p>
          <a:p>
            <a:pPr lvl="1">
              <a:buChar char="•"/>
              <a:defRPr sz="14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4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4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4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4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4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4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400"/>
            </a:pPr>
            <a:r>
              <a:t>GU_missing / NR_missing: relations removed versus PRE.</a:t>
            </a:r>
          </a:p>
          <a:p>
            <a:pPr lvl="1">
              <a:buChar char="•"/>
              <a:defRPr sz="1400"/>
            </a:pPr>
            <a:r>
              <a:t>GU_new / NR_new: relations added in POST.</a:t>
            </a:r>
          </a:p>
          <a:p>
            <a:pPr lvl="1">
              <a:buChar char="•"/>
              <a:defRPr sz="14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885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126"/>
                <a:gridCol w="1888159"/>
                <a:gridCol w="2026422"/>
                <a:gridCol w="2243893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Keep market log exports in a consistent structure and following the below naming convention (for both the parent folder and the zip file contining Step0 logs):</a:t>
            </a:r>
          </a:p>
          <a:p>
            <a:pPr lvl="2">
              <a:buChar char="•"/>
              <a:defRPr sz="1400"/>
            </a:pPr>
            <a:r>
              <a:t>Recommended naming convention: "&lt;TIMESTAMP&gt;_Step0_&lt;MARKET_ID&gt;_&lt;MARKET_NAME&gt;_&lt;PHASE&gt;"</a:t>
            </a:r>
          </a:p>
          <a:p>
            <a:pPr lvl="2">
              <a:buChar char="•"/>
              <a:defRPr sz="1400"/>
            </a:pPr>
            <a:r>
              <a:t>Example: "20260217_0507_Step0_MKT188_Omaha_PostStep1/20260217_0507_Step0_MKT188_Omaha_PostStep1.zip"</a:t>
            </a:r>
          </a:p>
          <a:p>
            <a:pPr lvl="1">
              <a:buChar char="•"/>
              <a:defRPr sz="14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4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4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4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400"/>
            </a:pPr>
            <a:r>
              <a:t>Use Bulk mode only with a controlled folder naming convention.</a:t>
            </a:r>
          </a:p>
          <a:p>
            <a:pPr lvl="1">
              <a:buChar char="•"/>
              <a:defRPr sz="14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4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4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4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8</cp:revision>
  <dcterms:created xsi:type="dcterms:W3CDTF">2013-01-27T09:14:16Z</dcterms:created>
  <dcterms:modified xsi:type="dcterms:W3CDTF">2026-02-17T15:22:01Z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