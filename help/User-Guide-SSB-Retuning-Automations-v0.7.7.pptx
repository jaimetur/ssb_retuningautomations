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guide orient="horz" pos="2160"/>
        <p:guide pos="384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2/19/2026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D8C08C-CAA2-0BE1-C083-696B5B7BDA70}"/>
              </a:ext>
            </a:extLst>
          </p:cNvPr>
          <p:cNvSpPr/>
          <p:nvPr userDrawn="1"/>
        </p:nvSpPr>
        <p:spPr bwMode="auto">
          <a:xfrm>
            <a:off x="0" y="0"/>
            <a:ext cx="5501640" cy="6858000"/>
          </a:xfrm>
          <a:prstGeom prst="rect">
            <a:avLst/>
          </a:prstGeom>
          <a:solidFill>
            <a:srgbClr val="85CCFF"/>
          </a:solidFill>
          <a:ln w="12700" cap="flat" cmpd="sng" algn="ctr">
            <a:noFill/>
            <a:prstDash val="solid"/>
            <a:round/>
            <a:headEnd type="none" w="med" len="med"/>
            <a:tailEnd type="none" w="med" len="med"/>
          </a:ln>
          <a:effectLst/>
        </p:spPr>
        <p:txBody>
          <a:bodyPr rot="0" spcFirstLastPara="0" vertOverflow="overflow" horzOverflow="overflow" vert="horz" wrap="square" lIns="72000" tIns="36000" rIns="73152" bIns="36576" numCol="1" spcCol="0" rtlCol="0" fromWordArt="0" anchor="t" anchorCtr="0" forceAA="0" compatLnSpc="1">
            <a:prstTxWarp prst="textNoShape">
              <a:avLst/>
            </a:prstTxWarp>
            <a:noAutofit/>
          </a:bodyPr>
          <a:lstStyle/>
          <a:p>
            <a:pPr marL="180000" indent="-180000" algn="l">
              <a:spcBef>
                <a:spcPts val="800"/>
              </a:spcBef>
              <a:buFont typeface="Ericsson Hilda" panose="00000500000000000000" pitchFamily="2" charset="0"/>
              <a:buChar char="●"/>
            </a:pPr>
            <a:endParaRPr lang="en-US" sz="1800" err="1">
              <a:solidFill>
                <a:srgbClr val="FFFFFF"/>
              </a:solidFill>
              <a:latin typeface="+mn-lt"/>
            </a:endParaRPr>
          </a:p>
        </p:txBody>
      </p:sp>
      <p:pic>
        <p:nvPicPr>
          <p:cNvPr id="8" name="Picture 7" descr="A colorful logo with text&#10;&#10;AI-generated content may be incorrect.">
            <a:extLst>
              <a:ext uri="{FF2B5EF4-FFF2-40B4-BE49-F238E27FC236}">
                <a16:creationId xmlns:a16="http://schemas.microsoft.com/office/drawing/2014/main" id="{4CD53B24-4BDC-974B-673B-F94258AFBEE4}"/>
              </a:ext>
            </a:extLst>
          </p:cNvPr>
          <p:cNvPicPr>
            <a:picLocks/>
          </p:cNvPicPr>
          <p:nvPr userDrawn="1"/>
        </p:nvPicPr>
        <p:blipFill>
          <a:blip r:embed="rId2"/>
          <a:stretch>
            <a:fillRect/>
          </a:stretch>
        </p:blipFill>
        <p:spPr>
          <a:xfrm>
            <a:off x="5501641" y="0"/>
            <a:ext cx="6690361" cy="6858000"/>
          </a:xfrm>
          <a:prstGeom prst="rect">
            <a:avLst/>
          </a:prstGeom>
          <a:noFill/>
        </p:spPr>
      </p:pic>
      <p:sp>
        <p:nvSpPr>
          <p:cNvPr id="2" name="Title 1"/>
          <p:cNvSpPr>
            <a:spLocks noGrp="1"/>
          </p:cNvSpPr>
          <p:nvPr>
            <p:ph type="ctrTitle" hasCustomPrompt="1"/>
          </p:nvPr>
        </p:nvSpPr>
        <p:spPr>
          <a:xfrm>
            <a:off x="233680" y="2130426"/>
            <a:ext cx="5115560" cy="1470025"/>
          </a:xfrm>
        </p:spPr>
        <p:txBody>
          <a:bodyPr>
            <a:noAutofit/>
          </a:bodyPr>
          <a:lstStyle>
            <a:lvl1pPr algn="ctr">
              <a:defRPr sz="4800">
                <a:solidFill>
                  <a:srgbClr val="002060"/>
                </a:solidFill>
              </a:defRPr>
            </a:lvl1pPr>
          </a:lstStyle>
          <a:p>
            <a:r>
              <a:rPr lang="en-US" dirty="0"/>
              <a:t>Click To Edit Master Title Style</a:t>
            </a:r>
          </a:p>
        </p:txBody>
      </p:sp>
      <p:sp>
        <p:nvSpPr>
          <p:cNvPr id="3" name="Subtitle 2"/>
          <p:cNvSpPr>
            <a:spLocks noGrp="1"/>
          </p:cNvSpPr>
          <p:nvPr>
            <p:ph type="subTitle" idx="1"/>
          </p:nvPr>
        </p:nvSpPr>
        <p:spPr>
          <a:xfrm>
            <a:off x="233680" y="3886200"/>
            <a:ext cx="5166360" cy="1752600"/>
          </a:xfrm>
        </p:spPr>
        <p:txBody>
          <a:bodyPr>
            <a:normAutofit/>
          </a:bodyPr>
          <a:lstStyle>
            <a:lvl1pPr marL="0" indent="0" algn="ctr">
              <a:buNone/>
              <a:defRPr sz="3200">
                <a:solidFill>
                  <a:srgbClr val="0070C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170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37111"/>
            <a:ext cx="10972800" cy="523995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16977"/>
            <a:ext cx="11164711"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0"/>
            <a:ext cx="5430520" cy="523614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8437895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1"/>
            <a:ext cx="5435600" cy="2612920"/>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1" y="4130041"/>
            <a:ext cx="5435597" cy="254702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1373BBEB-A4CB-84AC-BA26-0B6CA5A17919}"/>
              </a:ext>
            </a:extLst>
          </p:cNvPr>
          <p:cNvSpPr>
            <a:spLocks noGrp="1"/>
          </p:cNvSpPr>
          <p:nvPr>
            <p:ph idx="11"/>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56926647"/>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14400" y="2130426"/>
            <a:ext cx="103632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64015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600200"/>
            <a:ext cx="109728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9" r:id="rId3"/>
    <p:sldLayoutId id="2147483671" r:id="rId4"/>
    <p:sldLayoutId id="214748367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a:t>
            </a:r>
          </a:p>
        </p:txBody>
      </p:sp>
      <p:sp>
        <p:nvSpPr>
          <p:cNvPr id="3" name="Subtitle 2"/>
          <p:cNvSpPr>
            <a:spLocks noGrp="1"/>
          </p:cNvSpPr>
          <p:nvPr>
            <p:ph type="subTitle" idx="1"/>
          </p:nvPr>
        </p:nvSpPr>
        <p:spPr/>
        <p:txBody>
          <a:bodyPr/>
          <a:lstStyle/>
          <a:p>
            <a:r>
              <a:t>SSB Retuning Automations v0.7.7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Relations with old and new SSB will coexist in some nodes for a certain period, in some cases making intra-frequency relations become inter-frequency relations with impact on NR and ENDC mobility. Inter-frequency mobility will not be started until serving cell will go below a certain level entering the search zone, that might not be reached in locations that used to trigger intra-frequency mobility towards a best server. In addition, once the UE starts to measure either in idle or connected mode, the old and new SSBs will be reported in 2 separate frequencies and a cell ranked 3rd might become 1st after the split, creating the risk of connecting to cells suffering high interference.</a:t>
            </a:r>
          </a:p>
          <a:p>
            <a:pPr lvl="1">
              <a:buChar char="•"/>
              <a:defRPr sz="1200"/>
            </a:pPr>
            <a:r>
              <a:t>The amount and duration of such situations will depend on the retune clusterization and planning that should be aimed at minimizing the old and new SSB borders.</a:t>
            </a:r>
          </a:p>
          <a:p>
            <a:pPr lvl="1">
              <a:buChar char="•"/>
              <a:defRPr sz="1200"/>
            </a:pPr>
            <a:r>
              <a:t>Mobility optimizations might be recommended to mitigate the impact on KPIs such as drop rate.</a:t>
            </a:r>
          </a:p>
          <a:p>
            <a:pPr lvl="1">
              <a:buChar char="•"/>
              <a:defRPr sz="1200"/>
            </a:pPr>
            <a:r>
              <a:t>Full audit needed to evaluate the number of MOs and anticipate any additions that might be needed to the scripts for different markets.</a:t>
            </a:r>
          </a:p>
          <a:p>
            <a:pPr lvl="1">
              <a:buChar char="•"/>
              <a:defRPr sz="1200"/>
            </a:pPr>
            <a:r>
              <a:t>Detect if any MOs exceeding the allowed cardinality adding the new SSB definitions:</a:t>
            </a:r>
          </a:p>
          <a:p>
            <a:pPr lvl="2">
              <a:buChar char="•"/>
              <a:defRPr sz="1200"/>
            </a:pPr>
            <a:r>
              <a:t>Max NRFrequency definitions per node (limit 64)</a:t>
            </a:r>
          </a:p>
          <a:p>
            <a:pPr lvl="2">
              <a:buChar char="•"/>
              <a:defRPr sz="1200"/>
            </a:pPr>
            <a:r>
              <a:t>Max NRFreqRelation per NR cell (limit 16)</a:t>
            </a:r>
          </a:p>
          <a:p>
            <a:pPr lvl="2">
              <a:buChar char="•"/>
              <a:defRPr sz="1200"/>
            </a:pPr>
            <a:r>
              <a:t>Max GUtranSyncSignalFrequency definitions per node (limit 24)</a:t>
            </a:r>
          </a:p>
          <a:p>
            <a:pPr lvl="2">
              <a:buChar char="•"/>
              <a:defRPr sz="1200"/>
            </a:pPr>
            <a:r>
              <a:t>Max GUtranFreqRelation per LTE cell (limit 16)</a:t>
            </a:r>
          </a:p>
          <a:p>
            <a:pPr lvl="1">
              <a:buChar char="•"/>
              <a:defRPr sz="1200"/>
            </a:pPr>
            <a:r>
              <a:t>Identify retune+border clusters with markets being planned on different nights</a:t>
            </a:r>
          </a:p>
        </p:txBody>
      </p:sp>
      <p:pic>
        <p:nvPicPr>
          <p:cNvPr id="5" name="Picture 4" descr="clusters_definition.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a:t>
            </a:r>
          </a:p>
        </p:txBody>
      </p:sp>
      <p:sp>
        <p:nvSpPr>
          <p:cNvPr id="3" name="Content Placeholder 2"/>
          <p:cNvSpPr>
            <a:spLocks noGrp="1"/>
          </p:cNvSpPr>
          <p:nvPr>
            <p:ph idx="1"/>
          </p:nvPr>
        </p:nvSpPr>
        <p:spPr/>
        <p:txBody>
          <a:bodyPr/>
          <a:lstStyle/>
          <a:p>
            <a:pPr>
              <a:buNone/>
              <a:defRPr b="1" sz="1400"/>
            </a:pPr>
            <a:r>
              <a:t>Step0, initial network audit</a:t>
            </a:r>
          </a:p>
          <a:p>
            <a:pPr lvl="1">
              <a:buChar char="•"/>
              <a:defRPr sz="1200"/>
            </a:pPr>
            <a:r>
              <a:t>Pre-checks export with all relevant MOs and params in retune+border clusters, including cellRelation. Evaluate the number of MOs and anticipate any additions that might be needed to the scripts for different markets</a:t>
            </a:r>
          </a:p>
          <a:p>
            <a:pPr>
              <a:buNone/>
              <a:defRPr b="1" sz="1400"/>
            </a:pPr>
            <a:r>
              <a:t>Step1, before SSB retune including neighboring sites</a:t>
            </a:r>
          </a:p>
          <a:p>
            <a:pPr lvl="1">
              <a:buChar char="•"/>
              <a:defRPr sz="1200"/>
            </a:pPr>
            <a:r>
              <a:t>Retune readiness in retune + neighboring clusters</a:t>
            </a:r>
          </a:p>
          <a:p>
            <a:pPr lvl="1">
              <a:buChar char="•"/>
              <a:defRPr sz="1200"/>
            </a:pPr>
            <a:r>
              <a:t>Following the clusterization and planning phase, there would be a first step preparing the network for the coexistence of old and new SSBs.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a:t>
            </a:r>
          </a:p>
          <a:p>
            <a:pPr>
              <a:buNone/>
              <a:defRPr b="1" sz="1400"/>
            </a:pPr>
            <a:r>
              <a:t>Step2, SSB retune cluster</a:t>
            </a:r>
          </a:p>
          <a:p>
            <a:pPr lvl="1">
              <a:buChar char="•"/>
              <a:defRPr sz="1200"/>
            </a:pPr>
            <a:r>
              <a:t>Finally, in the second step we will proceed with the SSB retune in the retune clusters.</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 (cont.)</a:t>
            </a:r>
          </a:p>
        </p:txBody>
      </p:sp>
      <p:sp>
        <p:nvSpPr>
          <p:cNvPr id="3" name="Content Placeholder 2"/>
          <p:cNvSpPr>
            <a:spLocks noGrp="1"/>
          </p:cNvSpPr>
          <p:nvPr>
            <p:ph idx="1"/>
          </p:nvPr>
        </p:nvSpPr>
        <p:spPr/>
        <p:txBody>
          <a:bodyPr/>
          <a:lstStyle/>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Retune process roadmap</a:t>
            </a:r>
          </a:p>
          <a:p>
            <a:pPr>
              <a:defRPr b="0" sz="1000"/>
            </a:pPr>
            <a:r>
              <a:t>Retune Process Roadmap</a:t>
            </a:r>
          </a:p>
        </p:txBody>
      </p:sp>
      <p:sp>
        <p:nvSpPr>
          <p:cNvPr id="3" name="Content Placeholder 2"/>
          <p:cNvSpPr>
            <a:spLocks noGrp="1"/>
          </p:cNvSpPr>
          <p:nvPr>
            <p:ph idx="1"/>
          </p:nvPr>
        </p:nvSpPr>
        <p:spPr/>
        <p:txBody>
          <a:bodyPr/>
          <a:lstStyle/>
          <a:p/>
        </p:txBody>
      </p:sp>
      <p:pic>
        <p:nvPicPr>
          <p:cNvPr id="4" name="Picture 3" descr="retune_process_roadmap.png"/>
          <p:cNvPicPr>
            <a:picLocks noChangeAspect="1"/>
          </p:cNvPicPr>
          <p:nvPr/>
        </p:nvPicPr>
        <p:blipFill>
          <a:blip r:embed="rId2"/>
          <a:stretch>
            <a:fillRect/>
          </a:stretch>
        </p:blipFill>
        <p:spPr>
          <a:xfrm>
            <a:off x="609600" y="1437111"/>
            <a:ext cx="10972800" cy="523995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Structure and Inputs/Outputs</a:t>
            </a:r>
          </a:p>
        </p:txBody>
      </p:sp>
      <p:sp>
        <p:nvSpPr>
          <p:cNvPr id="3" name="Content Placeholder 2"/>
          <p:cNvSpPr>
            <a:spLocks noGrp="1"/>
          </p:cNvSpPr>
          <p:nvPr>
            <p:ph idx="1"/>
          </p:nvPr>
        </p:nvSpPr>
        <p:spPr/>
        <p:txBody>
          <a:bodyPr/>
          <a:lstStyle/>
          <a:p>
            <a:pPr>
              <a:buNone/>
              <a:defRPr b="1" sz="1400"/>
            </a:pPr>
            <a:r>
              <a:t>Structure</a:t>
            </a:r>
          </a:p>
          <a:p>
            <a:pPr lvl="1">
              <a:buChar char="•"/>
              <a:defRPr sz="1200"/>
            </a:pPr>
            <a:r>
              <a:t>SSB Retuning Automations is an automation platform for SSB retuning projects that can run in GUI or CLI mode or through a Web Interface (using a server/client infrastructure) and orchestrates five functional modules:</a:t>
            </a:r>
          </a:p>
          <a:p>
            <a:pPr lvl="2">
              <a:buChar char="•"/>
              <a:defRPr sz="1200"/>
            </a:pPr>
            <a:r>
              <a:t>Module 0: Update Network Frequencies.</a:t>
            </a:r>
          </a:p>
          <a:p>
            <a:pPr lvl="2">
              <a:buChar char="•"/>
              <a:defRPr sz="1200"/>
            </a:pPr>
            <a:r>
              <a:t>Module 1: Configuration Audit &amp; Logs Parser.</a:t>
            </a:r>
          </a:p>
          <a:p>
            <a:pPr lvl="2">
              <a:buChar char="•"/>
              <a:defRPr sz="1200"/>
            </a:pPr>
            <a:r>
              <a:t>Module 2: Consistency Check (manual Pre/Post).</a:t>
            </a:r>
          </a:p>
          <a:p>
            <a:pPr lvl="2">
              <a:buChar char="•"/>
              <a:defRPr sz="1200"/>
            </a:pPr>
            <a:r>
              <a:t>Module 3: Consistency Check Bulk (automatic Pre/Post detection by market).</a:t>
            </a:r>
          </a:p>
          <a:p>
            <a:pPr lvl="2">
              <a:buChar char="•"/>
              <a:defRPr sz="1200"/>
            </a:pPr>
            <a:r>
              <a:t>Module 4: Final Clean-Up.</a:t>
            </a:r>
          </a:p>
          <a:p>
            <a:pPr lvl="1">
              <a:buChar char="•"/>
              <a:defRPr sz="1200"/>
            </a:pPr>
            <a:r>
              <a:t>The main execution lives in "src/SSB_RetuningAutomations.py", where CLI arguments, GUI, configuration persistence, input resolution (folders/ZIP), per-module execution, and artifact versioning are managed.</a:t>
            </a:r>
          </a:p>
          <a:p>
            <a:pPr>
              <a:buNone/>
              <a:defRPr b="1" sz="1400"/>
            </a:pPr>
            <a:r>
              <a:t>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Repository architecture, Execution modes and Versioning</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a:p>
            <a:pPr>
              <a:buNone/>
              <a:defRPr b="1" sz="1400"/>
            </a:pPr>
            <a:r>
              <a:t>Execution modes</a:t>
            </a:r>
          </a:p>
          <a:p>
            <a:pPr lvl="1">
              <a:buChar char="•"/>
              <a:defRPr sz="1200"/>
            </a:pPr>
            <a:r>
              <a:t>The tool can be run in three different modes:</a:t>
            </a:r>
          </a:p>
          <a:p>
            <a:pPr lvl="2">
              <a:buChar char="•"/>
              <a:defRPr sz="1200"/>
            </a:pPr>
            <a:r>
              <a:t>GUI mode: run without CLI arguments.</a:t>
            </a:r>
          </a:p>
          <a:p>
            <a:pPr lvl="2">
              <a:buChar char="•"/>
              <a:defRPr sz="1200"/>
            </a:pPr>
            <a:r>
              <a:t>CLI mode: run with explicit module and options.</a:t>
            </a:r>
          </a:p>
          <a:p>
            <a:pPr lvl="2">
              <a:buChar char="•"/>
              <a:defRPr sz="1200"/>
            </a:pPr>
            <a:r>
              <a:t>Web Interfacee: the tool can be run in a server/client infrastructure, accessing the server through a Web Interface where you can unpload your inputs, enqueue different tasks and  export the results when finish..</a:t>
            </a:r>
          </a:p>
          <a:p>
            <a:pPr>
              <a:buNone/>
              <a:defRPr b="1" sz="1400"/>
            </a:pPr>
            <a:r>
              <a:t>Versioning</a:t>
            </a:r>
          </a:p>
          <a:p>
            <a:pPr lvl="1">
              <a:buChar char="•"/>
              <a:defRPr sz="1200"/>
            </a:pPr>
            <a:r>
              <a:t>All Generated artifacts include a versioned suffix: "&lt;timestamp&gt;_v&lt;TOOL_VERSION&gt;". This guarantees traceability and avoids collisions between runs.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Graphical User Interface - GUI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Graphical User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gui-interface.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User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Web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web-interface-user-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Inputs Repository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the Inputs Repository.</a:t>
            </a:r>
          </a:p>
        </p:txBody>
      </p:sp>
      <p:pic>
        <p:nvPicPr>
          <p:cNvPr id="5" name="Picture 4" descr="web-interface-inputs-execution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Executions and System Logs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Last Executions and some useful System Logs of the tool.</a:t>
            </a:r>
          </a:p>
        </p:txBody>
      </p:sp>
      <p:pic>
        <p:nvPicPr>
          <p:cNvPr id="5" name="Picture 4" descr="web-interface-log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Admin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Administrator Panel for SSB Retuning Automations. From this panel you can manage the configuration of the tool, view logs and manage user access.</a:t>
            </a:r>
          </a:p>
        </p:txBody>
      </p:sp>
      <p:pic>
        <p:nvPicPr>
          <p:cNvPr id="5" name="Picture 4" descr="web-interface-admin-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Database Management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With those panels you can manage the database of the tool, schedule backups tasks, or edit the database content directly.</a:t>
            </a:r>
          </a:p>
        </p:txBody>
      </p:sp>
      <p:pic>
        <p:nvPicPr>
          <p:cNvPr id="5" name="Picture 4" descr="web-interface-database-management-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a:t>
            </a:r>
          </a:p>
        </p:txBody>
      </p:sp>
      <p:sp>
        <p:nvSpPr>
          <p:cNvPr id="3" name="Content Placeholder 2"/>
          <p:cNvSpPr>
            <a:spLocks noGrp="1"/>
          </p:cNvSpPr>
          <p:nvPr>
            <p:ph idx="1"/>
          </p:nvPr>
        </p:nvSpPr>
        <p:spPr/>
        <p:txBody>
          <a:bodyPr/>
          <a:lstStyle/>
          <a:p>
            <a:pPr>
              <a:buNone/>
              <a:defRPr sz="1200"/>
            </a:pPr>
            <a:r>
              <a:t>With the CLI you can run the modules you want to run and provide all different arguments you need.</a:t>
            </a:r>
          </a:p>
          <a:p>
            <a:pPr>
              <a:buNone/>
              <a:defRPr sz="1200"/>
            </a:pPr>
            <a:r>
              <a:t>▶️ Basic Syntax:</a:t>
            </a:r>
          </a:p>
          <a:p>
            <a:pPr lvl="1">
              <a:buChar char="•"/>
              <a:defRPr sz="1200"/>
            </a:pPr>
            <a:r>
              <a:t>SSB_RetuningAutomations.exe --module &lt;module-name&gt; [options]</a:t>
            </a:r>
          </a:p>
          <a:p>
            <a:pPr lvl="1">
              <a:buChar char="•"/>
              <a:defRPr sz="1200"/>
            </a:pPr>
            <a:r>
              <a:t>If "--module" is omitted and no other arguments are provided, the GUI will launch automatically unless "--no-gui" is specified.</a:t>
            </a:r>
          </a:p>
          <a:p>
            <a:pPr>
              <a:buNone/>
              <a:defRPr sz="1200"/>
            </a:pPr>
            <a:r>
              <a:t>⚙️ Main Options:</a:t>
            </a:r>
          </a:p>
        </p:txBody>
      </p:sp>
      <p:graphicFrame>
        <p:nvGraphicFramePr>
          <p:cNvPr id="4" name="Table 3"/>
          <p:cNvGraphicFramePr>
            <a:graphicFrameLocks noGrp="1"/>
          </p:cNvGraphicFramePr>
          <p:nvPr/>
        </p:nvGraphicFramePr>
        <p:xfrm>
          <a:off x="609600" y="2871817"/>
          <a:ext cx="10972800" cy="1031240"/>
        </p:xfrm>
        <a:graphic>
          <a:graphicData uri="http://schemas.openxmlformats.org/drawingml/2006/table">
            <a:tbl>
              <a:tblPr firstRow="1" bandRow="1">
                <a:tableStyleId>{5C22544A-7EE6-4342-B048-85BDC9FD1C3A}</a:tableStyleId>
              </a:tblPr>
              <a:tblGrid>
                <a:gridCol w="2185489"/>
                <a:gridCol w="8787311"/>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--module</a:t>
                      </a:r>
                    </a:p>
                  </a:txBody>
                  <a:tcPr/>
                </a:tc>
                <a:tc>
                  <a:txBody>
                    <a:bodyPr wrap="square" lIns="25400" rIns="25400" tIns="12700" bIns="12700"/>
                    <a:lstStyle/>
                    <a:p>
                      <a:pPr>
                        <a:defRPr sz="700">
                          <a:solidFill>
                            <a:srgbClr val="282828"/>
                          </a:solidFill>
                        </a:defRPr>
                      </a:pPr>
                      <a:r>
                        <a:t>Module to run: ["configuration-audit", "consistency-check", "consistency-check-bulk", "final-cleanup"]</a:t>
                      </a:r>
                    </a:p>
                  </a:txBody>
                  <a:tcPr/>
                </a:tc>
              </a:tr>
              <a:tr h="145415">
                <a:tc>
                  <a:txBody>
                    <a:bodyPr wrap="square" lIns="25400" rIns="25400" tIns="12700" bIns="12700"/>
                    <a:lstStyle/>
                    <a:p>
                      <a:pPr>
                        <a:defRPr sz="700">
                          <a:solidFill>
                            <a:srgbClr val="282828"/>
                          </a:solidFill>
                        </a:defRPr>
                      </a:pPr>
                      <a:r>
                        <a:t>--input</a:t>
                      </a:r>
                    </a:p>
                  </a:txBody>
                  <a:tcPr>
                    <a:solidFill>
                      <a:srgbClr val="F2F6FC"/>
                    </a:solidFill>
                  </a:tcPr>
                </a:tc>
                <a:tc>
                  <a:txBody>
                    <a:bodyPr wrap="square" lIns="25400" rIns="25400" tIns="12700" bIns="12700"/>
                    <a:lstStyle/>
                    <a:p>
                      <a:pPr>
                        <a:defRPr sz="700">
                          <a:solidFill>
                            <a:srgbClr val="282828"/>
                          </a:solidFill>
                        </a:defRPr>
                      </a:pPr>
                      <a:r>
                        <a:t>Input folder to process (single-input modules)</a:t>
                      </a:r>
                    </a:p>
                  </a:txBody>
                  <a:tcPr>
                    <a:solidFill>
                      <a:srgbClr val="F2F6FC"/>
                    </a:solidFill>
                  </a:tcPr>
                </a:tc>
              </a:tr>
              <a:tr h="145415">
                <a:tc>
                  <a:txBody>
                    <a:bodyPr wrap="square" lIns="25400" rIns="25400" tIns="12700" bIns="12700"/>
                    <a:lstStyle/>
                    <a:p>
                      <a:pPr>
                        <a:defRPr sz="700">
                          <a:solidFill>
                            <a:srgbClr val="282828"/>
                          </a:solidFill>
                        </a:defRPr>
                      </a:pPr>
                      <a:r>
                        <a:t>--inputs</a:t>
                      </a:r>
                    </a:p>
                  </a:txBody>
                  <a:tcPr/>
                </a:tc>
                <a:tc>
                  <a:txBody>
                    <a:bodyPr wrap="square" lIns="25400" rIns="25400" tIns="12700" bIns="12700"/>
                    <a:lstStyle/>
                    <a:p>
                      <a:pPr>
                        <a:defRPr sz="700">
                          <a:solidFill>
                            <a:srgbClr val="282828"/>
                          </a:solidFill>
                        </a:defRPr>
                      </a:pPr>
                      <a:r>
                        <a:t>Input folders to process module in batch mode. Example: "--module configuration-audit --inputs dir1 dir2 dir3"</a:t>
                      </a:r>
                    </a:p>
                  </a:txBody>
                  <a:tcPr/>
                </a:tc>
              </a:tr>
              <a:tr h="145415">
                <a:tc>
                  <a:txBody>
                    <a:bodyPr wrap="square" lIns="25400" rIns="25400" tIns="12700" bIns="12700"/>
                    <a:lstStyle/>
                    <a:p>
                      <a:pPr>
                        <a:defRPr sz="700">
                          <a:solidFill>
                            <a:srgbClr val="282828"/>
                          </a:solidFill>
                        </a:defRPr>
                      </a:pPr>
                      <a:r>
                        <a:t>--input-pre</a:t>
                      </a:r>
                    </a:p>
                  </a:txBody>
                  <a:tcPr>
                    <a:solidFill>
                      <a:srgbClr val="F2F6FC"/>
                    </a:solidFill>
                  </a:tcPr>
                </a:tc>
                <a:tc>
                  <a:txBody>
                    <a:bodyPr wrap="square" lIns="25400" rIns="25400" tIns="12700" bIns="12700"/>
                    <a:lstStyle/>
                    <a:p>
                      <a:pPr>
                        <a:defRPr sz="700">
                          <a:solidFill>
                            <a:srgbClr val="282828"/>
                          </a:solidFill>
                        </a:defRPr>
                      </a:pPr>
                      <a:r>
                        <a:t>PRE input folder (only for "consistency-check")</a:t>
                      </a:r>
                    </a:p>
                  </a:txBody>
                  <a:tcPr>
                    <a:solidFill>
                      <a:srgbClr val="F2F6FC"/>
                    </a:solidFill>
                  </a:tcPr>
                </a:tc>
              </a:tr>
              <a:tr h="145415">
                <a:tc>
                  <a:txBody>
                    <a:bodyPr wrap="square" lIns="25400" rIns="25400" tIns="12700" bIns="12700"/>
                    <a:lstStyle/>
                    <a:p>
                      <a:pPr>
                        <a:defRPr sz="700">
                          <a:solidFill>
                            <a:srgbClr val="282828"/>
                          </a:solidFill>
                        </a:defRPr>
                      </a:pPr>
                      <a:r>
                        <a:t>--input-post</a:t>
                      </a:r>
                    </a:p>
                  </a:txBody>
                  <a:tcPr/>
                </a:tc>
                <a:tc>
                  <a:txBody>
                    <a:bodyPr wrap="square" lIns="25400" rIns="25400" tIns="12700" bIns="12700"/>
                    <a:lstStyle/>
                    <a:p>
                      <a:pPr>
                        <a:defRPr sz="700">
                          <a:solidFill>
                            <a:srgbClr val="282828"/>
                          </a:solidFill>
                        </a:defRPr>
                      </a:pPr>
                      <a:r>
                        <a:t>POST input folder (only for "consistency-check")</a:t>
                      </a:r>
                    </a:p>
                  </a:txBody>
                  <a:tcPr/>
                </a:tc>
              </a:tr>
              <a:tr h="145415">
                <a:tc>
                  <a:txBody>
                    <a:bodyPr wrap="square" lIns="25400" rIns="25400" tIns="12700" bIns="12700"/>
                    <a:lstStyle/>
                    <a:p>
                      <a:pPr>
                        <a:defRPr sz="700">
                          <a:solidFill>
                            <a:srgbClr val="282828"/>
                          </a:solidFill>
                        </a:defRPr>
                      </a:pPr>
                      <a:r>
                        <a:t>--output</a:t>
                      </a:r>
                    </a:p>
                  </a:txBody>
                  <a:tcPr>
                    <a:solidFill>
                      <a:srgbClr val="F2F6FC"/>
                    </a:solidFill>
                  </a:tcPr>
                </a:tc>
                <a:tc>
                  <a:txBody>
                    <a:bodyPr wrap="square" lIns="25400" rIns="25400" tIns="12700" bIns="12700"/>
                    <a:lstStyle/>
                    <a:p>
                      <a:pPr>
                        <a:defRPr sz="700">
                          <a:solidFill>
                            <a:srgbClr val="282828"/>
                          </a:solidFill>
                        </a:defRPr>
                      </a:pPr>
                      <a:r>
                        <a:t>Output root folder override (all modules). The tool still creates the same module/version subfolder logic under this root.</a:t>
                      </a:r>
                    </a:p>
                  </a:txBody>
                  <a:tcPr>
                    <a:solidFill>
                      <a:srgbClr val="F2F6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2409190"/>
        </p:xfrm>
        <a:graphic>
          <a:graphicData uri="http://schemas.openxmlformats.org/drawingml/2006/table">
            <a:tbl>
              <a:tblPr firstRow="1" bandRow="1">
                <a:tableStyleId>{5C22544A-7EE6-4342-B048-85BDC9FD1C3A}</a:tableStyleId>
              </a:tblPr>
              <a:tblGrid>
                <a:gridCol w="2589757"/>
                <a:gridCol w="8383043"/>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--n77-ssb-pre"</a:t>
                      </a:r>
                    </a:p>
                  </a:txBody>
                  <a:tcPr/>
                </a:tc>
                <a:tc>
                  <a:txBody>
                    <a:bodyPr wrap="square" lIns="25400" rIns="25400" tIns="12700" bIns="12700"/>
                    <a:lstStyle/>
                    <a:p>
                      <a:pPr>
                        <a:defRPr sz="700">
                          <a:solidFill>
                            <a:srgbClr val="282828"/>
                          </a:solidFill>
                        </a:defRPr>
                      </a:pPr>
                      <a:r>
                        <a:t>N77 SSB frequency before refarming (Pre), e.g. "647328"</a:t>
                      </a:r>
                    </a:p>
                  </a:txBody>
                  <a:tcPr/>
                </a:tc>
              </a:tr>
              <a:tr h="145415">
                <a:tc>
                  <a:txBody>
                    <a:bodyPr wrap="square" lIns="25400" rIns="25400" tIns="12700" bIns="12700"/>
                    <a:lstStyle/>
                    <a:p>
                      <a:pPr>
                        <a:defRPr sz="700">
                          <a:solidFill>
                            <a:srgbClr val="282828"/>
                          </a:solidFill>
                        </a:defRPr>
                      </a:pPr>
                      <a:r>
                        <a:t>--n77-ssb-post</a:t>
                      </a:r>
                    </a:p>
                  </a:txBody>
                  <a:tcPr>
                    <a:solidFill>
                      <a:srgbClr val="F2F6FC"/>
                    </a:solidFill>
                  </a:tcPr>
                </a:tc>
                <a:tc>
                  <a:txBody>
                    <a:bodyPr wrap="square" lIns="25400" rIns="25400" tIns="12700" bIns="12700"/>
                    <a:lstStyle/>
                    <a:p>
                      <a:pPr>
                        <a:defRPr sz="700">
                          <a:solidFill>
                            <a:srgbClr val="282828"/>
                          </a:solidFill>
                        </a:defRPr>
                      </a:pPr>
                      <a:r>
                        <a:t>N77 SSB frequency after refarming (Post), e.g. "653952"</a:t>
                      </a:r>
                    </a:p>
                  </a:txBody>
                  <a:tcPr>
                    <a:solidFill>
                      <a:srgbClr val="F2F6FC"/>
                    </a:solidFill>
                  </a:tcPr>
                </a:tc>
              </a:tr>
              <a:tr h="145415">
                <a:tc>
                  <a:txBody>
                    <a:bodyPr wrap="square" lIns="25400" rIns="25400" tIns="12700" bIns="12700"/>
                    <a:lstStyle/>
                    <a:p>
                      <a:pPr>
                        <a:defRPr sz="700">
                          <a:solidFill>
                            <a:srgbClr val="282828"/>
                          </a:solidFill>
                        </a:defRPr>
                      </a:pPr>
                      <a:r>
                        <a:t>--n77b-ssb</a:t>
                      </a:r>
                    </a:p>
                  </a:txBody>
                  <a:tcPr/>
                </a:tc>
                <a:tc>
                  <a:txBody>
                    <a:bodyPr wrap="square" lIns="25400" rIns="25400" tIns="12700" bIns="12700"/>
                    <a:lstStyle/>
                    <a:p>
                      <a:pPr>
                        <a:defRPr sz="700">
                          <a:solidFill>
                            <a:srgbClr val="282828"/>
                          </a:solidFill>
                        </a:defRPr>
                      </a:pPr>
                      <a:r>
                        <a:t>N77B SSB frequency (ARFCN), e.g. "650334"</a:t>
                      </a:r>
                    </a:p>
                  </a:txBody>
                  <a:tcPr/>
                </a:tc>
              </a:tr>
              <a:tr h="145415">
                <a:tc>
                  <a:txBody>
                    <a:bodyPr wrap="square" lIns="25400" rIns="25400" tIns="12700" bIns="12700"/>
                    <a:lstStyle/>
                    <a:p>
                      <a:pPr>
                        <a:defRPr sz="700">
                          <a:solidFill>
                            <a:srgbClr val="282828"/>
                          </a:solidFill>
                        </a:defRPr>
                      </a:pPr>
                      <a:r>
                        <a:t>--allowed-n77-ssb-pre</a:t>
                      </a:r>
                    </a:p>
                  </a:txBody>
                  <a:tcPr>
                    <a:solidFill>
                      <a:srgbClr val="F2F6FC"/>
                    </a:solidFill>
                  </a:tcPr>
                </a:tc>
                <a:tc>
                  <a:txBody>
                    <a:bodyPr wrap="square" lIns="25400" rIns="25400" tIns="12700" bIns="12700"/>
                    <a:lstStyle/>
                    <a:p>
                      <a:pPr>
                        <a:defRPr sz="700">
                          <a:solidFill>
                            <a:srgbClr val="282828"/>
                          </a:solidFill>
                        </a:defRPr>
                      </a:pPr>
                      <a:r>
                        <a:t>Comma-separated allowed N77 SSB (Pre)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--allowed-n77-arfcn-pre</a:t>
                      </a:r>
                    </a:p>
                  </a:txBody>
                  <a:tcPr/>
                </a:tc>
                <a:tc>
                  <a:txBody>
                    <a:bodyPr wrap="square" lIns="25400" rIns="25400" tIns="12700" bIns="12700"/>
                    <a:lstStyle/>
                    <a:p>
                      <a:pPr>
                        <a:defRPr sz="700">
                          <a:solidFill>
                            <a:srgbClr val="282828"/>
                          </a:solidFill>
                        </a:defRPr>
                      </a:pPr>
                      <a:r>
                        <a:t>Comma-separated allowed N77 ARFCN (Pre) values for Configuration Audit</a:t>
                      </a:r>
                    </a:p>
                  </a:txBody>
                  <a:tcPr/>
                </a:tc>
              </a:tr>
              <a:tr h="145415">
                <a:tc>
                  <a:txBody>
                    <a:bodyPr wrap="square" lIns="25400" rIns="25400" tIns="12700" bIns="12700"/>
                    <a:lstStyle/>
                    <a:p>
                      <a:pPr>
                        <a:defRPr sz="700">
                          <a:solidFill>
                            <a:srgbClr val="282828"/>
                          </a:solidFill>
                        </a:defRPr>
                      </a:pPr>
                      <a:r>
                        <a:t>--allowed-n77-ssb-post</a:t>
                      </a:r>
                    </a:p>
                  </a:txBody>
                  <a:tcPr>
                    <a:solidFill>
                      <a:srgbClr val="F2F6FC"/>
                    </a:solidFill>
                  </a:tcPr>
                </a:tc>
                <a:tc>
                  <a:txBody>
                    <a:bodyPr wrap="square" lIns="25400" rIns="25400" tIns="12700" bIns="12700"/>
                    <a:lstStyle/>
                    <a:p>
                      <a:pPr>
                        <a:defRPr sz="700">
                          <a:solidFill>
                            <a:srgbClr val="282828"/>
                          </a:solidFill>
                        </a:defRPr>
                      </a:pPr>
                      <a:r>
                        <a:t>Comma-separated allowed N77 SSB (Post)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--allowed-n77-arfcn-post</a:t>
                      </a:r>
                    </a:p>
                  </a:txBody>
                  <a:tcPr/>
                </a:tc>
                <a:tc>
                  <a:txBody>
                    <a:bodyPr wrap="square" lIns="25400" rIns="25400" tIns="12700" bIns="12700"/>
                    <a:lstStyle/>
                    <a:p>
                      <a:pPr>
                        <a:defRPr sz="700">
                          <a:solidFill>
                            <a:srgbClr val="282828"/>
                          </a:solidFill>
                        </a:defRPr>
                      </a:pPr>
                      <a:r>
                        <a:t>Comma-separated allowed N77 ARFCN (Post) values for Configuration Audit</a:t>
                      </a:r>
                    </a:p>
                  </a:txBody>
                  <a:tcPr/>
                </a:tc>
              </a:tr>
              <a:tr h="145415">
                <a:tc>
                  <a:txBody>
                    <a:bodyPr wrap="square" lIns="25400" rIns="25400" tIns="12700" bIns="12700"/>
                    <a:lstStyle/>
                    <a:p>
                      <a:pPr>
                        <a:defRPr sz="700">
                          <a:solidFill>
                            <a:srgbClr val="282828"/>
                          </a:solidFill>
                        </a:defRPr>
                      </a:pPr>
                      <a:r>
                        <a:t>--ca-freq-filters</a:t>
                      </a:r>
                    </a:p>
                  </a:txBody>
                  <a:tcPr>
                    <a:solidFill>
                      <a:srgbClr val="F2F6FC"/>
                    </a:solidFill>
                  </a:tcPr>
                </a:tc>
                <a:tc>
                  <a:txBody>
                    <a:bodyPr wrap="square" lIns="25400" rIns="25400" tIns="12700" bIns="12700"/>
                    <a:lstStyle/>
                    <a:p>
                      <a:pPr>
                        <a:defRPr sz="700">
                          <a:solidFill>
                            <a:srgbClr val="282828"/>
                          </a:solidFill>
                        </a:defRPr>
                      </a:pPr>
                      <a:r>
                        <a:t>Comma-separated list of frequency substrings to filter pivot columns in Configuration Audit module</a:t>
                      </a:r>
                    </a:p>
                  </a:txBody>
                  <a:tcPr>
                    <a:solidFill>
                      <a:srgbClr val="F2F6FC"/>
                    </a:solidFill>
                  </a:tcPr>
                </a:tc>
              </a:tr>
              <a:tr h="145415">
                <a:tc>
                  <a:txBody>
                    <a:bodyPr wrap="square" lIns="25400" rIns="25400" tIns="12700" bIns="12700"/>
                    <a:lstStyle/>
                    <a:p>
                      <a:pPr>
                        <a:defRPr sz="700">
                          <a:solidFill>
                            <a:srgbClr val="282828"/>
                          </a:solidFill>
                        </a:defRPr>
                      </a:pPr>
                      <a:r>
                        <a:t>--cc-freq-filters</a:t>
                      </a:r>
                    </a:p>
                  </a:txBody>
                  <a:tcPr/>
                </a:tc>
                <a:tc>
                  <a:txBody>
                    <a:bodyPr wrap="square" lIns="25400" rIns="25400" tIns="12700" bIns="12700"/>
                    <a:lstStyle/>
                    <a:p>
                      <a:pPr>
                        <a:defRPr sz="700">
                          <a:solidFill>
                            <a:srgbClr val="282828"/>
                          </a:solidFill>
                        </a:defRPr>
                      </a:pPr>
                      <a:r>
                        <a:t>Comma-separated list of frequency substrings to filter relations in Consistency Check module</a:t>
                      </a:r>
                    </a:p>
                  </a:txBody>
                  <a:tcPr/>
                </a:tc>
              </a:tr>
              <a:tr h="265430">
                <a:tc>
                  <a:txBody>
                    <a:bodyPr wrap="square" lIns="25400" rIns="25400" tIns="12700" bIns="12700"/>
                    <a:lstStyle/>
                    <a:p>
                      <a:pPr>
                        <a:defRPr sz="700">
                          <a:solidFill>
                            <a:srgbClr val="282828"/>
                          </a:solidFill>
                        </a:defRPr>
                      </a:pPr>
                      <a:r>
                        <a:t>--frequency-audit</a:t>
                      </a:r>
                    </a:p>
                  </a:txBody>
                  <a:tcPr>
                    <a:solidFill>
                      <a:srgbClr val="F2F6FC"/>
                    </a:solidFill>
                  </a:tcPr>
                </a:tc>
                <a:tc>
                  <a:txBody>
                    <a:bodyPr wrap="square" lIns="25400" rIns="25400" tIns="12700" bIns="12700"/>
                    <a:lstStyle/>
                    <a:p>
                      <a:pPr>
                        <a:defRPr sz="700">
                          <a:solidFill>
                            <a:srgbClr val="282828"/>
                          </a:solidFill>
                        </a:defRPr>
                      </a:pPr>
                      <a:r>
                        <a:t>Enable/disable Frequency Audit (integrated into Configuration Audit). Default Value: Enabled (use "--no-frequency-audit" to disable it)</a:t>
                      </a:r>
                    </a:p>
                  </a:txBody>
                  <a:tcPr>
                    <a:solidFill>
                      <a:srgbClr val="F2F6FC"/>
                    </a:solidFill>
                  </a:tcPr>
                </a:tc>
              </a:tr>
              <a:tr h="145415">
                <a:tc>
                  <a:txBody>
                    <a:bodyPr wrap="square" lIns="25400" rIns="25400" tIns="12700" bIns="12700"/>
                    <a:lstStyle/>
                    <a:p>
                      <a:pPr>
                        <a:defRPr sz="700">
                          <a:solidFill>
                            <a:srgbClr val="282828"/>
                          </a:solidFill>
                        </a:defRPr>
                      </a:pPr>
                      <a:r>
                        <a:t>--profiles-audit</a:t>
                      </a:r>
                    </a:p>
                  </a:txBody>
                  <a:tcPr/>
                </a:tc>
                <a:tc>
                  <a:txBody>
                    <a:bodyPr wrap="square" lIns="25400" rIns="25400" tIns="12700" bIns="12700"/>
                    <a:lstStyle/>
                    <a:p>
                      <a:pPr>
                        <a:defRPr sz="700">
                          <a:solidFill>
                            <a:srgbClr val="282828"/>
                          </a:solidFill>
                        </a:defRPr>
                      </a:pPr>
                      <a:r>
                        <a:t>Enable/disable Profiles Audit (integrated into Configuration Audit). Default Value: Enabled (use "--no-profiles-audit" to disable it)</a:t>
                      </a:r>
                    </a:p>
                  </a:txBody>
                  <a:tcPr/>
                </a:tc>
              </a:tr>
              <a:tr h="265430">
                <a:tc>
                  <a:txBody>
                    <a:bodyPr wrap="square" lIns="25400" rIns="25400" tIns="12700" bIns="12700"/>
                    <a:lstStyle/>
                    <a:p>
                      <a:pPr>
                        <a:defRPr sz="700">
                          <a:solidFill>
                            <a:srgbClr val="282828"/>
                          </a:solidFill>
                        </a:defRPr>
                      </a:pPr>
                      <a:r>
                        <a:t>--export-correction-cmd</a:t>
                      </a:r>
                    </a:p>
                  </a:txBody>
                  <a:tcPr>
                    <a:solidFill>
                      <a:srgbClr val="F2F6FC"/>
                    </a:solidFill>
                  </a:tcPr>
                </a:tc>
                <a:tc>
                  <a:txBody>
                    <a:bodyPr wrap="square" lIns="25400" rIns="25400" tIns="12700" bIns="12700"/>
                    <a:lstStyle/>
                    <a:p>
                      <a:pPr>
                        <a:defRPr sz="700">
                          <a:solidFill>
                            <a:srgbClr val="282828"/>
                          </a:solidFill>
                        </a:defRPr>
                      </a:pPr>
                      <a:r>
                        <a:t>Enable/disable exporting correction command to text files (slow). Default Value: Enabled (use "--no-export-correction-cmd" to disable it).</a:t>
                      </a:r>
                    </a:p>
                  </a:txBody>
                  <a:tcPr>
                    <a:solidFill>
                      <a:srgbClr val="F2F6FC"/>
                    </a:solidFill>
                  </a:tcPr>
                </a:tc>
              </a:tr>
              <a:tr h="265430">
                <a:tc>
                  <a:txBody>
                    <a:bodyPr wrap="square" lIns="25400" rIns="25400" tIns="12700" bIns="12700"/>
                    <a:lstStyle/>
                    <a:p>
                      <a:pPr>
                        <a:defRPr sz="700">
                          <a:solidFill>
                            <a:srgbClr val="282828"/>
                          </a:solidFill>
                        </a:defRPr>
                      </a:pPr>
                      <a:r>
                        <a:t>--fast-excel</a:t>
                      </a:r>
                    </a:p>
                  </a:txBody>
                  <a:tcPr/>
                </a:tc>
                <a:tc>
                  <a:txBody>
                    <a:bodyPr wrap="square" lIns="25400" rIns="25400" tIns="12700" bIns="12700"/>
                    <a:lstStyle/>
                    <a:p>
                      <a:pPr>
                        <a:defRPr sz="700">
                          <a:solidFill>
                            <a:srgbClr val="282828"/>
                          </a:solidFill>
                        </a:defRPr>
                      </a:pPr>
                      <a:r>
                        <a:t>Enable/disable fast Excel export using xlsxwriter engine (reduced formatting features if compared to openpyxl). Default Value: Disabled (use "--fast-excel" to enable it).</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609600" y="2677745"/>
          <a:ext cx="10972800" cy="569595"/>
        </p:xfrm>
        <a:graphic>
          <a:graphicData uri="http://schemas.openxmlformats.org/drawingml/2006/table">
            <a:tbl>
              <a:tblPr firstRow="1" bandRow="1">
                <a:tableStyleId>{5C22544A-7EE6-4342-B048-85BDC9FD1C3A}</a:tableStyleId>
              </a:tblPr>
              <a:tblGrid>
                <a:gridCol w="1240829"/>
                <a:gridCol w="1685859"/>
                <a:gridCol w="2926080"/>
                <a:gridCol w="512003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a:p>
            <a:pPr>
              <a:buNone/>
              <a:defRPr sz="1200"/>
            </a:pPr>
            <a:r>
              <a:t>Complete Checks List: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420110"/>
        </p:xfrm>
        <a:graphic>
          <a:graphicData uri="http://schemas.openxmlformats.org/drawingml/2006/table">
            <a:tbl>
              <a:tblPr firstRow="1" bandRow="1">
                <a:tableStyleId>{5C22544A-7EE6-4342-B048-85BDC9FD1C3A}</a:tableStyleId>
              </a:tblPr>
              <a:tblGrid>
                <a:gridCol w="1316648"/>
                <a:gridCol w="1914741"/>
                <a:gridCol w="2926080"/>
                <a:gridCol w="481533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N77A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N77A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N77B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NttB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these nodes</a:t>
                      </a:r>
                    </a:p>
                  </a:txBody>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558540"/>
        </p:xfrm>
        <a:graphic>
          <a:graphicData uri="http://schemas.openxmlformats.org/drawingml/2006/table">
            <a:tbl>
              <a:tblPr firstRow="1" bandRow="1">
                <a:tableStyleId>{5C22544A-7EE6-4342-B048-85BDC9FD1C3A}</a:tableStyleId>
              </a:tblPr>
              <a:tblGrid>
                <a:gridCol w="1212767"/>
                <a:gridCol w="1696681"/>
                <a:gridCol w="2926080"/>
                <a:gridCol w="513727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some cells missing relations to new SSB (647328)</a:t>
                      </a:r>
                    </a:p>
                  </a:txBody>
                  <a:tcPr/>
                </a:tc>
                <a:tc>
                  <a:txBody>
                    <a:bodyPr wrap="square" lIns="25400" rIns="25400" tIns="12700" bIns="12700"/>
                    <a:lstStyle/>
                    <a:p>
                      <a:pPr>
                        <a:defRPr sz="700">
                          <a:solidFill>
                            <a:srgbClr val="282828"/>
                          </a:solidFill>
                        </a:defRPr>
                      </a:pPr>
                      <a:r>
                        <a:t>Nodes with any relations Step1 pending</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N77 SSB not in (648672, 647328)</a:t>
                      </a:r>
                    </a:p>
                  </a:txBody>
                  <a:tcPr/>
                </a:tc>
                <a:tc>
                  <a:txBody>
                    <a:bodyPr wrap="square" lIns="25400" rIns="25400" tIns="12700" bIns="12700"/>
                    <a:lstStyle/>
                    <a:p>
                      <a:pPr>
                        <a:defRPr sz="700">
                          <a:solidFill>
                            <a:srgbClr val="282828"/>
                          </a:solidFill>
                        </a:defRPr>
                      </a:pP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tc>
                <a:tc>
                  <a:txBody>
                    <a:bodyPr wrap="square" lIns="25400" rIns="25400" tIns="12700" bIns="12700"/>
                    <a:lstStyle/>
                    <a:p>
                      <a:pPr>
                        <a:defRPr sz="700">
                          <a:solidFill>
                            <a:srgbClr val="282828"/>
                          </a:solidFill>
                        </a:defRPr>
                      </a:pPr>
                      <a:r>
                        <a:t>Need to review Step2b execution</a:t>
                      </a: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tc>
                <a:tc>
                  <a:txBody>
                    <a:bodyPr wrap="square" lIns="25400" rIns="25400" tIns="12700" bIns="12700"/>
                    <a:lstStyle/>
                    <a:p>
                      <a:pPr>
                        <a:defRPr sz="700">
                          <a:solidFill>
                            <a:srgbClr val="282828"/>
                          </a:solidFill>
                        </a:defRPr>
                      </a:pPr>
                      <a:r>
                        <a:t>Need to review. Step1 run could solve most cases</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145415">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new N77 SSB (647328)</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r h="145415">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r>
                        <a:t>PN and DAS might have no External relations defined</a:t>
                      </a:r>
                    </a:p>
                  </a:txBody>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380230"/>
        </p:xfrm>
        <a:graphic>
          <a:graphicData uri="http://schemas.openxmlformats.org/drawingml/2006/table">
            <a:tbl>
              <a:tblPr firstRow="1" bandRow="1">
                <a:tableStyleId>{5C22544A-7EE6-4342-B048-85BDC9FD1C3A}</a:tableStyleId>
              </a:tblPr>
              <a:tblGrid>
                <a:gridCol w="1108611"/>
                <a:gridCol w="1475892"/>
                <a:gridCol w="2926080"/>
                <a:gridCol w="5462217"/>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some cells missing relations to new SSB (647328)</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 with serviceStatus=OUT_OF_SERVICE</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016760"/>
        </p:xfrm>
        <a:graphic>
          <a:graphicData uri="http://schemas.openxmlformats.org/drawingml/2006/table">
            <a:tbl>
              <a:tblPr firstRow="1" bandRow="1">
                <a:tableStyleId>{5C22544A-7EE6-4342-B048-85BDC9FD1C3A}</a:tableStyleId>
              </a:tblPr>
              <a:tblGrid>
                <a:gridCol w="1938078"/>
                <a:gridCol w="2005698"/>
                <a:gridCol w="2926080"/>
                <a:gridCol w="41029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graphicFrame>
        <p:nvGraphicFramePr>
          <p:cNvPr id="4" name="Table 3"/>
          <p:cNvGraphicFramePr>
            <a:graphicFrameLocks noGrp="1"/>
          </p:cNvGraphicFramePr>
          <p:nvPr/>
        </p:nvGraphicFramePr>
        <p:xfrm>
          <a:off x="609600" y="2871817"/>
          <a:ext cx="10972800" cy="3805249"/>
        </p:xfrm>
        <a:graphic>
          <a:graphicData uri="http://schemas.openxmlformats.org/drawingml/2006/table">
            <a:tbl>
              <a:tblPr firstRow="1" bandRow="1">
                <a:tableStyleId>{5C22544A-7EE6-4342-B048-85BDC9FD1C3A}</a:tableStyleId>
              </a:tblPr>
              <a:tblGrid>
                <a:gridCol w="1317798"/>
                <a:gridCol w="1506589"/>
                <a:gridCol w="2926080"/>
                <a:gridCol w="5222333"/>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 if existing GUtranFreqRelation</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282190"/>
        </p:xfrm>
        <a:graphic>
          <a:graphicData uri="http://schemas.openxmlformats.org/drawingml/2006/table">
            <a:tbl>
              <a:tblPr firstRow="1" bandRow="1">
                <a:tableStyleId>{5C22544A-7EE6-4342-B048-85BDC9FD1C3A}</a:tableStyleId>
              </a:tblPr>
              <a:tblGrid>
                <a:gridCol w="2234678"/>
                <a:gridCol w="1849747"/>
                <a:gridCol w="2926080"/>
                <a:gridCol w="3962295"/>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860290"/>
        </p:xfrm>
        <a:graphic>
          <a:graphicData uri="http://schemas.openxmlformats.org/drawingml/2006/table">
            <a:tbl>
              <a:tblPr firstRow="1" bandRow="1">
                <a:tableStyleId>{5C22544A-7EE6-4342-B048-85BDC9FD1C3A}</a:tableStyleId>
              </a:tblPr>
              <a:tblGrid>
                <a:gridCol w="2009100"/>
                <a:gridCol w="1757339"/>
                <a:gridCol w="2926080"/>
                <a:gridCol w="428028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5100320"/>
        </p:xfrm>
        <a:graphic>
          <a:graphicData uri="http://schemas.openxmlformats.org/drawingml/2006/table">
            <a:tbl>
              <a:tblPr firstRow="1" bandRow="1">
                <a:tableStyleId>{5C22544A-7EE6-4342-B048-85BDC9FD1C3A}</a:tableStyleId>
              </a:tblPr>
              <a:tblGrid>
                <a:gridCol w="2135297"/>
                <a:gridCol w="1732597"/>
                <a:gridCol w="2926080"/>
                <a:gridCol w="417882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385445">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1340485"/>
        </p:xfrm>
        <a:graphic>
          <a:graphicData uri="http://schemas.openxmlformats.org/drawingml/2006/table">
            <a:tbl>
              <a:tblPr firstRow="1" bandRow="1">
                <a:tableStyleId>{5C22544A-7EE6-4342-B048-85BDC9FD1C3A}</a:tableStyleId>
              </a:tblPr>
              <a:tblGrid>
                <a:gridCol w="1975930"/>
                <a:gridCol w="1763841"/>
                <a:gridCol w="2926080"/>
                <a:gridCol w="430694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885825"/>
        </p:xfrm>
        <a:graphic>
          <a:graphicData uri="http://schemas.openxmlformats.org/drawingml/2006/table">
            <a:tbl>
              <a:tblPr firstRow="1" bandRow="1">
                <a:tableStyleId>{5C22544A-7EE6-4342-B048-85BDC9FD1C3A}</a:tableStyleId>
              </a:tblPr>
              <a:tblGrid>
                <a:gridCol w="2761502"/>
                <a:gridCol w="2517545"/>
                <a:gridCol w="2701897"/>
                <a:gridCol w="2991856"/>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609600" y="2483673"/>
          <a:ext cx="10972800" cy="449580"/>
        </p:xfrm>
        <a:graphic>
          <a:graphicData uri="http://schemas.openxmlformats.org/drawingml/2006/table">
            <a:tbl>
              <a:tblPr firstRow="1" bandRow="1">
                <a:tableStyleId>{5C22544A-7EE6-4342-B048-85BDC9FD1C3A}</a:tableStyleId>
              </a:tblPr>
              <a:tblGrid>
                <a:gridCol w="2709865"/>
                <a:gridCol w="8262935"/>
              </a:tblGrid>
              <a:tr h="15875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72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Aptos</vt:lpstr>
      <vt:lpstr>Arial</vt:lpstr>
      <vt:lpstr>Calibri</vt:lpstr>
      <vt:lpstr>Ericsson Hilda</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18</cp:revision>
  <dcterms:created xsi:type="dcterms:W3CDTF">2013-01-27T09:14:16Z</dcterms:created>
  <dcterms:modified xsi:type="dcterms:W3CDTF">2026-02-19T18:13:46Z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