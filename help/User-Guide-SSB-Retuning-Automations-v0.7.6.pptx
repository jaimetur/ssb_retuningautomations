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handoutMasterIdLst>
    <p:handoutMasterId r:id="rId6"/>
  </p:handout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87" r:id="rId43"/>
    <p:sldId id="288" r:id="rId44"/>
    <p:sldId id="289" r:id="rId45"/>
    <p:sldId id="290" r:id="rId46"/>
    <p:sldId id="291" r:id="rId47"/>
    <p:sldId id="292" r:id="rId48"/>
    <p:sldId id="293" r:id="rId49"/>
    <p:sldId id="294" r:id="rId50"/>
    <p:sldId id="295" r:id="rId51"/>
    <p:sldId id="296"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10" r:id="rId6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88" d="100"/>
          <a:sy n="188" d="100"/>
        </p:scale>
        <p:origin x="514" y="139"/>
      </p:cViewPr>
      <p:guideLst>
        <p:guide orient="horz" pos="2160"/>
        <p:guide pos="3840"/>
      </p:guideLst>
    </p:cSldViewPr>
  </p:slideViewPr>
  <p:notesTextViewPr>
    <p:cViewPr>
      <p:scale>
        <a:sx n="1" d="1"/>
        <a:sy n="1" d="1"/>
      </p:scale>
      <p:origin x="0" y="0"/>
    </p:cViewPr>
  </p:notesTextViewPr>
  <p:notesViewPr>
    <p:cSldViewPr snapToGrid="0">
      <p:cViewPr varScale="1">
        <p:scale>
          <a:sx n="151" d="100"/>
          <a:sy n="151" d="100"/>
        </p:scale>
        <p:origin x="5909"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6/11/relationships/changesInfo" Target="changesInfos/changesInfo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Tur" userId="0c147167-24ab-41cc-821f-e304fffd7c74" providerId="ADAL" clId="{96FACA42-3611-4883-8B93-19C4F783C7AC}"/>
    <pc:docChg chg="undo redo custSel addSld delSld modSld sldOrd">
      <pc:chgData name="Jaime Tur" userId="0c147167-24ab-41cc-821f-e304fffd7c74" providerId="ADAL" clId="{96FACA42-3611-4883-8B93-19C4F783C7AC}" dt="2025-11-14T18:07:26.228" v="109" actId="47"/>
      <pc:docMkLst>
        <pc:docMk/>
      </pc:docMkLst>
      <pc:sldChg chg="modSp mod">
        <pc:chgData name="Jaime Tur" userId="0c147167-24ab-41cc-821f-e304fffd7c74" providerId="ADAL" clId="{96FACA42-3611-4883-8B93-19C4F783C7AC}" dt="2025-11-14T13:39:49.344" v="7" actId="20577"/>
        <pc:sldMkLst>
          <pc:docMk/>
          <pc:sldMk cId="0" sldId="256"/>
        </pc:sldMkLst>
        <pc:spChg chg="mod">
          <ac:chgData name="Jaime Tur" userId="0c147167-24ab-41cc-821f-e304fffd7c74" providerId="ADAL" clId="{96FACA42-3611-4883-8B93-19C4F783C7AC}" dt="2025-11-14T13:39:49.344" v="7" actId="20577"/>
          <ac:spMkLst>
            <pc:docMk/>
            <pc:sldMk cId="0" sldId="256"/>
            <ac:spMk id="3" creationId="{00000000-0000-0000-0000-000000000000}"/>
          </ac:spMkLst>
        </pc:spChg>
      </pc:sldChg>
      <pc:sldChg chg="addSp delSp modSp del mod setBg setClrOvrMap">
        <pc:chgData name="Jaime Tur" userId="0c147167-24ab-41cc-821f-e304fffd7c74" providerId="ADAL" clId="{96FACA42-3611-4883-8B93-19C4F783C7AC}" dt="2025-11-14T18:03:35.578" v="61" actId="47"/>
        <pc:sldMkLst>
          <pc:docMk/>
          <pc:sldMk cId="0" sldId="257"/>
        </pc:sldMkLst>
        <pc:spChg chg="mod">
          <ac:chgData name="Jaime Tur" userId="0c147167-24ab-41cc-821f-e304fffd7c74" providerId="ADAL" clId="{96FACA42-3611-4883-8B93-19C4F783C7AC}" dt="2025-11-14T17:55:27.919" v="10" actId="26606"/>
          <ac:spMkLst>
            <pc:docMk/>
            <pc:sldMk cId="0" sldId="257"/>
            <ac:spMk id="2" creationId="{00000000-0000-0000-0000-000000000000}"/>
          </ac:spMkLst>
        </pc:spChg>
        <pc:spChg chg="del mod">
          <ac:chgData name="Jaime Tur" userId="0c147167-24ab-41cc-821f-e304fffd7c74" providerId="ADAL" clId="{96FACA42-3611-4883-8B93-19C4F783C7AC}" dt="2025-11-14T17:55:27.919" v="10" actId="26606"/>
          <ac:spMkLst>
            <pc:docMk/>
            <pc:sldMk cId="0" sldId="257"/>
            <ac:spMk id="3" creationId="{00000000-0000-0000-0000-000000000000}"/>
          </ac:spMkLst>
        </pc:spChg>
        <pc:spChg chg="add del">
          <ac:chgData name="Jaime Tur" userId="0c147167-24ab-41cc-821f-e304fffd7c74" providerId="ADAL" clId="{96FACA42-3611-4883-8B93-19C4F783C7AC}" dt="2025-11-14T18:00:11.510" v="34" actId="26606"/>
          <ac:spMkLst>
            <pc:docMk/>
            <pc:sldMk cId="0" sldId="257"/>
            <ac:spMk id="10" creationId="{B50AB553-2A96-4A92-96F2-93548E096954}"/>
          </ac:spMkLst>
        </pc:spChg>
        <pc:spChg chg="add del">
          <ac:chgData name="Jaime Tur" userId="0c147167-24ab-41cc-821f-e304fffd7c74" providerId="ADAL" clId="{96FACA42-3611-4883-8B93-19C4F783C7AC}" dt="2025-11-14T17:58:39.945" v="27" actId="26606"/>
          <ac:spMkLst>
            <pc:docMk/>
            <pc:sldMk cId="0" sldId="257"/>
            <ac:spMk id="12" creationId="{B50AB553-2A96-4A92-96F2-93548E096954}"/>
          </ac:spMkLst>
        </pc:spChg>
        <pc:spChg chg="add del">
          <ac:chgData name="Jaime Tur" userId="0c147167-24ab-41cc-821f-e304fffd7c74" providerId="ADAL" clId="{96FACA42-3611-4883-8B93-19C4F783C7AC}" dt="2025-11-14T18:01:52.135" v="40" actId="26606"/>
          <ac:spMkLst>
            <pc:docMk/>
            <pc:sldMk cId="0" sldId="257"/>
            <ac:spMk id="13" creationId="{B50AB553-2A96-4A92-96F2-93548E096954}"/>
          </ac:spMkLst>
        </pc:spChg>
        <pc:spChg chg="add del">
          <ac:chgData name="Jaime Tur" userId="0c147167-24ab-41cc-821f-e304fffd7c74" providerId="ADAL" clId="{96FACA42-3611-4883-8B93-19C4F783C7AC}" dt="2025-11-14T18:00:00.210" v="29" actId="26606"/>
          <ac:spMkLst>
            <pc:docMk/>
            <pc:sldMk cId="0" sldId="257"/>
            <ac:spMk id="14" creationId="{B50AB553-2A96-4A92-96F2-93548E096954}"/>
          </ac:spMkLst>
        </pc:spChg>
        <pc:spChg chg="add del">
          <ac:chgData name="Jaime Tur" userId="0c147167-24ab-41cc-821f-e304fffd7c74" providerId="ADAL" clId="{96FACA42-3611-4883-8B93-19C4F783C7AC}" dt="2025-11-14T17:56:59.071" v="20" actId="26606"/>
          <ac:spMkLst>
            <pc:docMk/>
            <pc:sldMk cId="0" sldId="257"/>
            <ac:spMk id="15" creationId="{B50AB553-2A96-4A92-96F2-93548E096954}"/>
          </ac:spMkLst>
        </pc:spChg>
        <pc:spChg chg="add del">
          <ac:chgData name="Jaime Tur" userId="0c147167-24ab-41cc-821f-e304fffd7c74" providerId="ADAL" clId="{96FACA42-3611-4883-8B93-19C4F783C7AC}" dt="2025-11-14T18:00:06.056" v="31" actId="26606"/>
          <ac:spMkLst>
            <pc:docMk/>
            <pc:sldMk cId="0" sldId="257"/>
            <ac:spMk id="16" creationId="{B50AB553-2A96-4A92-96F2-93548E096954}"/>
          </ac:spMkLst>
        </pc:spChg>
        <pc:spChg chg="add del">
          <ac:chgData name="Jaime Tur" userId="0c147167-24ab-41cc-821f-e304fffd7c74" providerId="ADAL" clId="{96FACA42-3611-4883-8B93-19C4F783C7AC}" dt="2025-11-14T18:02:26.976" v="45" actId="26606"/>
          <ac:spMkLst>
            <pc:docMk/>
            <pc:sldMk cId="0" sldId="257"/>
            <ac:spMk id="18" creationId="{B50AB553-2A96-4A92-96F2-93548E096954}"/>
          </ac:spMkLst>
        </pc:spChg>
        <pc:spChg chg="add">
          <ac:chgData name="Jaime Tur" userId="0c147167-24ab-41cc-821f-e304fffd7c74" providerId="ADAL" clId="{96FACA42-3611-4883-8B93-19C4F783C7AC}" dt="2025-11-14T18:02:26.976" v="45" actId="26606"/>
          <ac:spMkLst>
            <pc:docMk/>
            <pc:sldMk cId="0" sldId="257"/>
            <ac:spMk id="23" creationId="{B50AB553-2A96-4A92-96F2-93548E096954}"/>
          </ac:spMkLst>
        </pc:spChg>
        <pc:graphicFrameChg chg="add mod modGraphic">
          <ac:chgData name="Jaime Tur" userId="0c147167-24ab-41cc-821f-e304fffd7c74" providerId="ADAL" clId="{96FACA42-3611-4883-8B93-19C4F783C7AC}" dt="2025-11-14T18:02:41.801" v="46" actId="404"/>
          <ac:graphicFrameMkLst>
            <pc:docMk/>
            <pc:sldMk cId="0" sldId="257"/>
            <ac:graphicFrameMk id="5" creationId="{0120DC20-DF02-0DDE-F000-746C7BCFEA13}"/>
          </ac:graphicFrameMkLst>
        </pc:graphicFrameChg>
        <pc:picChg chg="add mod">
          <ac:chgData name="Jaime Tur" userId="0c147167-24ab-41cc-821f-e304fffd7c74" providerId="ADAL" clId="{96FACA42-3611-4883-8B93-19C4F783C7AC}" dt="2025-11-14T18:00:11.510" v="34" actId="26606"/>
          <ac:picMkLst>
            <pc:docMk/>
            <pc:sldMk cId="0" sldId="257"/>
            <ac:picMk id="6" creationId="{0FF492E2-580F-609C-6AE6-BE9CFDB78534}"/>
          </ac:picMkLst>
        </pc:picChg>
      </pc:sldChg>
      <pc:sldChg chg="addSp delSp modSp del mod setBg">
        <pc:chgData name="Jaime Tur" userId="0c147167-24ab-41cc-821f-e304fffd7c74" providerId="ADAL" clId="{96FACA42-3611-4883-8B93-19C4F783C7AC}" dt="2025-11-14T18:04:24.677" v="69" actId="47"/>
        <pc:sldMkLst>
          <pc:docMk/>
          <pc:sldMk cId="0" sldId="258"/>
        </pc:sldMkLst>
        <pc:spChg chg="mod">
          <ac:chgData name="Jaime Tur" userId="0c147167-24ab-41cc-821f-e304fffd7c74" providerId="ADAL" clId="{96FACA42-3611-4883-8B93-19C4F783C7AC}" dt="2025-11-14T17:55:47.305" v="11" actId="26606"/>
          <ac:spMkLst>
            <pc:docMk/>
            <pc:sldMk cId="0" sldId="258"/>
            <ac:spMk id="2" creationId="{00000000-0000-0000-0000-000000000000}"/>
          </ac:spMkLst>
        </pc:spChg>
        <pc:spChg chg="del mod">
          <ac:chgData name="Jaime Tur" userId="0c147167-24ab-41cc-821f-e304fffd7c74" providerId="ADAL" clId="{96FACA42-3611-4883-8B93-19C4F783C7AC}" dt="2025-11-14T17:55:47.305" v="11" actId="26606"/>
          <ac:spMkLst>
            <pc:docMk/>
            <pc:sldMk cId="0" sldId="258"/>
            <ac:spMk id="3" creationId="{00000000-0000-0000-0000-000000000000}"/>
          </ac:spMkLst>
        </pc:spChg>
        <pc:spChg chg="add del">
          <ac:chgData name="Jaime Tur" userId="0c147167-24ab-41cc-821f-e304fffd7c74" providerId="ADAL" clId="{96FACA42-3611-4883-8B93-19C4F783C7AC}" dt="2025-11-14T17:58:13.848" v="25" actId="26606"/>
          <ac:spMkLst>
            <pc:docMk/>
            <pc:sldMk cId="0" sldId="258"/>
            <ac:spMk id="10" creationId="{B50AB553-2A96-4A92-96F2-93548E096954}"/>
          </ac:spMkLst>
        </pc:spChg>
        <pc:spChg chg="add del">
          <ac:chgData name="Jaime Tur" userId="0c147167-24ab-41cc-821f-e304fffd7c74" providerId="ADAL" clId="{96FACA42-3611-4883-8B93-19C4F783C7AC}" dt="2025-11-14T17:58:13.848" v="25" actId="26606"/>
          <ac:spMkLst>
            <pc:docMk/>
            <pc:sldMk cId="0" sldId="258"/>
            <ac:spMk id="15" creationId="{B50AB553-2A96-4A92-96F2-93548E096954}"/>
          </ac:spMkLst>
        </pc:spChg>
        <pc:graphicFrameChg chg="add mod modGraphic">
          <ac:chgData name="Jaime Tur" userId="0c147167-24ab-41cc-821f-e304fffd7c74" providerId="ADAL" clId="{96FACA42-3611-4883-8B93-19C4F783C7AC}" dt="2025-11-14T17:58:13.848" v="25" actId="26606"/>
          <ac:graphicFrameMkLst>
            <pc:docMk/>
            <pc:sldMk cId="0" sldId="258"/>
            <ac:graphicFrameMk id="5" creationId="{5C4B6F90-19D3-CB19-5293-046AF8A0F9DA}"/>
          </ac:graphicFrameMkLst>
        </pc:graphicFrameChg>
        <pc:picChg chg="add mod">
          <ac:chgData name="Jaime Tur" userId="0c147167-24ab-41cc-821f-e304fffd7c74" providerId="ADAL" clId="{96FACA42-3611-4883-8B93-19C4F783C7AC}" dt="2025-11-14T17:58:13.848" v="25" actId="26606"/>
          <ac:picMkLst>
            <pc:docMk/>
            <pc:sldMk cId="0" sldId="258"/>
            <ac:picMk id="6" creationId="{42346672-8335-584F-26D2-08A72AE21F55}"/>
          </ac:picMkLst>
        </pc:picChg>
      </pc:sldChg>
      <pc:sldChg chg="addSp delSp modSp mod ord setBg addAnim">
        <pc:chgData name="Jaime Tur" userId="0c147167-24ab-41cc-821f-e304fffd7c74" providerId="ADAL" clId="{96FACA42-3611-4883-8B93-19C4F783C7AC}" dt="2025-11-14T18:07:15.369" v="107"/>
        <pc:sldMkLst>
          <pc:docMk/>
          <pc:sldMk cId="0" sldId="259"/>
        </pc:sldMkLst>
        <pc:spChg chg="mod">
          <ac:chgData name="Jaime Tur" userId="0c147167-24ab-41cc-821f-e304fffd7c74" providerId="ADAL" clId="{96FACA42-3611-4883-8B93-19C4F783C7AC}" dt="2025-11-14T18:03:18.132" v="58" actId="20577"/>
          <ac:spMkLst>
            <pc:docMk/>
            <pc:sldMk cId="0" sldId="259"/>
            <ac:spMk id="2" creationId="{00000000-0000-0000-0000-000000000000}"/>
          </ac:spMkLst>
        </pc:spChg>
        <pc:spChg chg="del mod">
          <ac:chgData name="Jaime Tur" userId="0c147167-24ab-41cc-821f-e304fffd7c74" providerId="ADAL" clId="{96FACA42-3611-4883-8B93-19C4F783C7AC}" dt="2025-11-14T18:03:30.572" v="60"/>
          <ac:spMkLst>
            <pc:docMk/>
            <pc:sldMk cId="0" sldId="259"/>
            <ac:spMk id="3" creationId="{00000000-0000-0000-0000-000000000000}"/>
          </ac:spMkLst>
        </pc:spChg>
        <pc:spChg chg="add del">
          <ac:chgData name="Jaime Tur" userId="0c147167-24ab-41cc-821f-e304fffd7c74" providerId="ADAL" clId="{96FACA42-3611-4883-8B93-19C4F783C7AC}" dt="2025-11-14T18:01:31.117" v="39" actId="26606"/>
          <ac:spMkLst>
            <pc:docMk/>
            <pc:sldMk cId="0" sldId="259"/>
            <ac:spMk id="8" creationId="{1BB867FF-FC45-48F7-8104-F89BE54909F1}"/>
          </ac:spMkLst>
        </pc:spChg>
        <pc:spChg chg="add del">
          <ac:chgData name="Jaime Tur" userId="0c147167-24ab-41cc-821f-e304fffd7c74" providerId="ADAL" clId="{96FACA42-3611-4883-8B93-19C4F783C7AC}" dt="2025-11-14T18:01:31.117" v="39" actId="26606"/>
          <ac:spMkLst>
            <pc:docMk/>
            <pc:sldMk cId="0" sldId="259"/>
            <ac:spMk id="10" creationId="{8BB56887-D0D5-4F0C-9E19-7247EB83C8B7}"/>
          </ac:spMkLst>
        </pc:spChg>
        <pc:spChg chg="add del">
          <ac:chgData name="Jaime Tur" userId="0c147167-24ab-41cc-821f-e304fffd7c74" providerId="ADAL" clId="{96FACA42-3611-4883-8B93-19C4F783C7AC}" dt="2025-11-14T18:01:31.117" v="39" actId="26606"/>
          <ac:spMkLst>
            <pc:docMk/>
            <pc:sldMk cId="0" sldId="259"/>
            <ac:spMk id="12" creationId="{081E4A58-353D-44AE-B2FC-2A74E2E400F7}"/>
          </ac:spMkLst>
        </pc:spChg>
        <pc:spChg chg="add">
          <ac:chgData name="Jaime Tur" userId="0c147167-24ab-41cc-821f-e304fffd7c74" providerId="ADAL" clId="{96FACA42-3611-4883-8B93-19C4F783C7AC}" dt="2025-11-14T18:01:31.117" v="39" actId="26606"/>
          <ac:spMkLst>
            <pc:docMk/>
            <pc:sldMk cId="0" sldId="259"/>
            <ac:spMk id="17" creationId="{100EDD19-6802-4EC3-95CE-CFFAB042CFD6}"/>
          </ac:spMkLst>
        </pc:spChg>
        <pc:spChg chg="add">
          <ac:chgData name="Jaime Tur" userId="0c147167-24ab-41cc-821f-e304fffd7c74" providerId="ADAL" clId="{96FACA42-3611-4883-8B93-19C4F783C7AC}" dt="2025-11-14T18:01:31.117" v="39" actId="26606"/>
          <ac:spMkLst>
            <pc:docMk/>
            <pc:sldMk cId="0" sldId="259"/>
            <ac:spMk id="19" creationId="{DB17E863-922E-4C26-BD64-E8FD41D28661}"/>
          </ac:spMkLst>
        </pc:spChg>
        <pc:graphicFrameChg chg="add mod">
          <ac:chgData name="Jaime Tur" userId="0c147167-24ab-41cc-821f-e304fffd7c74" providerId="ADAL" clId="{96FACA42-3611-4883-8B93-19C4F783C7AC}" dt="2025-11-14T18:07:15.369" v="107"/>
          <ac:graphicFrameMkLst>
            <pc:docMk/>
            <pc:sldMk cId="0" sldId="259"/>
            <ac:graphicFrameMk id="4" creationId="{9B56F6FC-05EB-E069-9007-8843E01A0B22}"/>
          </ac:graphicFrameMkLst>
        </pc:graphicFrameChg>
      </pc:sldChg>
      <pc:sldChg chg="addSp delSp modSp del mod setBg delDesignElem">
        <pc:chgData name="Jaime Tur" userId="0c147167-24ab-41cc-821f-e304fffd7c74" providerId="ADAL" clId="{96FACA42-3611-4883-8B93-19C4F783C7AC}" dt="2025-11-14T18:05:50.019" v="90" actId="47"/>
        <pc:sldMkLst>
          <pc:docMk/>
          <pc:sldMk cId="0" sldId="260"/>
        </pc:sldMkLst>
        <pc:spChg chg="mod">
          <ac:chgData name="Jaime Tur" userId="0c147167-24ab-41cc-821f-e304fffd7c74" providerId="ADAL" clId="{96FACA42-3611-4883-8B93-19C4F783C7AC}" dt="2025-11-14T17:55:53.481" v="12" actId="26606"/>
          <ac:spMkLst>
            <pc:docMk/>
            <pc:sldMk cId="0" sldId="260"/>
            <ac:spMk id="2" creationId="{00000000-0000-0000-0000-000000000000}"/>
          </ac:spMkLst>
        </pc:spChg>
        <pc:spChg chg="del">
          <ac:chgData name="Jaime Tur" userId="0c147167-24ab-41cc-821f-e304fffd7c74" providerId="ADAL" clId="{96FACA42-3611-4883-8B93-19C4F783C7AC}" dt="2025-11-14T17:55:53.481" v="12" actId="26606"/>
          <ac:spMkLst>
            <pc:docMk/>
            <pc:sldMk cId="0" sldId="260"/>
            <ac:spMk id="3" creationId="{00000000-0000-0000-0000-000000000000}"/>
          </ac:spMkLst>
        </pc:spChg>
        <pc:spChg chg="add del">
          <ac:chgData name="Jaime Tur" userId="0c147167-24ab-41cc-821f-e304fffd7c74" providerId="ADAL" clId="{96FACA42-3611-4883-8B93-19C4F783C7AC}" dt="2025-11-14T17:58:00.486" v="24"/>
          <ac:spMkLst>
            <pc:docMk/>
            <pc:sldMk cId="0" sldId="260"/>
            <ac:spMk id="10" creationId="{B50AB553-2A96-4A92-96F2-93548E096954}"/>
          </ac:spMkLst>
        </pc:spChg>
        <pc:graphicFrameChg chg="add">
          <ac:chgData name="Jaime Tur" userId="0c147167-24ab-41cc-821f-e304fffd7c74" providerId="ADAL" clId="{96FACA42-3611-4883-8B93-19C4F783C7AC}" dt="2025-11-14T17:55:53.481" v="12" actId="26606"/>
          <ac:graphicFrameMkLst>
            <pc:docMk/>
            <pc:sldMk cId="0" sldId="260"/>
            <ac:graphicFrameMk id="5" creationId="{D6FBAF62-2E68-5AA6-3611-2B6B35E8AAFC}"/>
          </ac:graphicFrameMkLst>
        </pc:graphicFrameChg>
        <pc:picChg chg="add">
          <ac:chgData name="Jaime Tur" userId="0c147167-24ab-41cc-821f-e304fffd7c74" providerId="ADAL" clId="{96FACA42-3611-4883-8B93-19C4F783C7AC}" dt="2025-11-14T17:55:53.481" v="12" actId="26606"/>
          <ac:picMkLst>
            <pc:docMk/>
            <pc:sldMk cId="0" sldId="260"/>
            <ac:picMk id="6" creationId="{13E47EFC-D452-71A4-8F1B-26D8A2984F1A}"/>
          </ac:picMkLst>
        </pc:picChg>
      </pc:sldChg>
      <pc:sldChg chg="addSp delSp modSp mod setBg addAnim">
        <pc:chgData name="Jaime Tur" userId="0c147167-24ab-41cc-821f-e304fffd7c74" providerId="ADAL" clId="{96FACA42-3611-4883-8B93-19C4F783C7AC}" dt="2025-11-14T18:01:25.854" v="38" actId="26606"/>
        <pc:sldMkLst>
          <pc:docMk/>
          <pc:sldMk cId="0" sldId="261"/>
        </pc:sldMkLst>
        <pc:spChg chg="mod">
          <ac:chgData name="Jaime Tur" userId="0c147167-24ab-41cc-821f-e304fffd7c74" providerId="ADAL" clId="{96FACA42-3611-4883-8B93-19C4F783C7AC}" dt="2025-11-14T18:01:25.854" v="38" actId="26606"/>
          <ac:spMkLst>
            <pc:docMk/>
            <pc:sldMk cId="0" sldId="261"/>
            <ac:spMk id="2" creationId="{00000000-0000-0000-0000-000000000000}"/>
          </ac:spMkLst>
        </pc:spChg>
        <pc:spChg chg="mod">
          <ac:chgData name="Jaime Tur" userId="0c147167-24ab-41cc-821f-e304fffd7c74" providerId="ADAL" clId="{96FACA42-3611-4883-8B93-19C4F783C7AC}" dt="2025-11-14T18:01:25.854" v="38" actId="26606"/>
          <ac:spMkLst>
            <pc:docMk/>
            <pc:sldMk cId="0" sldId="261"/>
            <ac:spMk id="3" creationId="{00000000-0000-0000-0000-000000000000}"/>
          </ac:spMkLst>
        </pc:spChg>
        <pc:spChg chg="add del">
          <ac:chgData name="Jaime Tur" userId="0c147167-24ab-41cc-821f-e304fffd7c74" providerId="ADAL" clId="{96FACA42-3611-4883-8B93-19C4F783C7AC}" dt="2025-11-14T18:01:25.854" v="38" actId="26606"/>
          <ac:spMkLst>
            <pc:docMk/>
            <pc:sldMk cId="0" sldId="261"/>
            <ac:spMk id="8" creationId="{1BB867FF-FC45-48F7-8104-F89BE54909F1}"/>
          </ac:spMkLst>
        </pc:spChg>
        <pc:spChg chg="add del">
          <ac:chgData name="Jaime Tur" userId="0c147167-24ab-41cc-821f-e304fffd7c74" providerId="ADAL" clId="{96FACA42-3611-4883-8B93-19C4F783C7AC}" dt="2025-11-14T18:01:25.854" v="38" actId="26606"/>
          <ac:spMkLst>
            <pc:docMk/>
            <pc:sldMk cId="0" sldId="261"/>
            <ac:spMk id="10" creationId="{8BB56887-D0D5-4F0C-9E19-7247EB83C8B7}"/>
          </ac:spMkLst>
        </pc:spChg>
        <pc:spChg chg="add del">
          <ac:chgData name="Jaime Tur" userId="0c147167-24ab-41cc-821f-e304fffd7c74" providerId="ADAL" clId="{96FACA42-3611-4883-8B93-19C4F783C7AC}" dt="2025-11-14T18:01:25.854" v="38" actId="26606"/>
          <ac:spMkLst>
            <pc:docMk/>
            <pc:sldMk cId="0" sldId="261"/>
            <ac:spMk id="12" creationId="{081E4A58-353D-44AE-B2FC-2A74E2E400F7}"/>
          </ac:spMkLst>
        </pc:spChg>
        <pc:spChg chg="add del">
          <ac:chgData name="Jaime Tur" userId="0c147167-24ab-41cc-821f-e304fffd7c74" providerId="ADAL" clId="{96FACA42-3611-4883-8B93-19C4F783C7AC}" dt="2025-11-14T18:01:25.843" v="37" actId="26606"/>
          <ac:spMkLst>
            <pc:docMk/>
            <pc:sldMk cId="0" sldId="261"/>
            <ac:spMk id="17" creationId="{943CAA20-3569-4189-9E48-239A229A86CA}"/>
          </ac:spMkLst>
        </pc:spChg>
        <pc:spChg chg="add del">
          <ac:chgData name="Jaime Tur" userId="0c147167-24ab-41cc-821f-e304fffd7c74" providerId="ADAL" clId="{96FACA42-3611-4883-8B93-19C4F783C7AC}" dt="2025-11-14T18:01:25.843" v="37" actId="26606"/>
          <ac:spMkLst>
            <pc:docMk/>
            <pc:sldMk cId="0" sldId="261"/>
            <ac:spMk id="19" creationId="{DA542B6D-E775-4832-91DC-2D20F857813A}"/>
          </ac:spMkLst>
        </pc:spChg>
        <pc:spChg chg="add">
          <ac:chgData name="Jaime Tur" userId="0c147167-24ab-41cc-821f-e304fffd7c74" providerId="ADAL" clId="{96FACA42-3611-4883-8B93-19C4F783C7AC}" dt="2025-11-14T18:01:25.854" v="38" actId="26606"/>
          <ac:spMkLst>
            <pc:docMk/>
            <pc:sldMk cId="0" sldId="261"/>
            <ac:spMk id="21" creationId="{100EDD19-6802-4EC3-95CE-CFFAB042CFD6}"/>
          </ac:spMkLst>
        </pc:spChg>
        <pc:spChg chg="add">
          <ac:chgData name="Jaime Tur" userId="0c147167-24ab-41cc-821f-e304fffd7c74" providerId="ADAL" clId="{96FACA42-3611-4883-8B93-19C4F783C7AC}" dt="2025-11-14T18:01:25.854" v="38" actId="26606"/>
          <ac:spMkLst>
            <pc:docMk/>
            <pc:sldMk cId="0" sldId="261"/>
            <ac:spMk id="22" creationId="{DB17E863-922E-4C26-BD64-E8FD41D28661}"/>
          </ac:spMkLst>
        </pc:spChg>
      </pc:sldChg>
      <pc:sldChg chg="addSp delSp modSp add del mod setBg">
        <pc:chgData name="Jaime Tur" userId="0c147167-24ab-41cc-821f-e304fffd7c74" providerId="ADAL" clId="{96FACA42-3611-4883-8B93-19C4F783C7AC}" dt="2025-11-14T18:07:26.228" v="109" actId="47"/>
        <pc:sldMkLst>
          <pc:docMk/>
          <pc:sldMk cId="0" sldId="262"/>
        </pc:sldMkLst>
        <pc:spChg chg="mod">
          <ac:chgData name="Jaime Tur" userId="0c147167-24ab-41cc-821f-e304fffd7c74" providerId="ADAL" clId="{96FACA42-3611-4883-8B93-19C4F783C7AC}" dt="2025-11-14T17:55:58.851" v="13" actId="26606"/>
          <ac:spMkLst>
            <pc:docMk/>
            <pc:sldMk cId="0" sldId="262"/>
            <ac:spMk id="2" creationId="{00000000-0000-0000-0000-000000000000}"/>
          </ac:spMkLst>
        </pc:spChg>
        <pc:spChg chg="del">
          <ac:chgData name="Jaime Tur" userId="0c147167-24ab-41cc-821f-e304fffd7c74" providerId="ADAL" clId="{96FACA42-3611-4883-8B93-19C4F783C7AC}" dt="2025-11-14T17:55:58.851" v="13" actId="26606"/>
          <ac:spMkLst>
            <pc:docMk/>
            <pc:sldMk cId="0" sldId="262"/>
            <ac:spMk id="3" creationId="{00000000-0000-0000-0000-000000000000}"/>
          </ac:spMkLst>
        </pc:spChg>
        <pc:spChg chg="add">
          <ac:chgData name="Jaime Tur" userId="0c147167-24ab-41cc-821f-e304fffd7c74" providerId="ADAL" clId="{96FACA42-3611-4883-8B93-19C4F783C7AC}" dt="2025-11-14T17:55:58.851" v="13" actId="26606"/>
          <ac:spMkLst>
            <pc:docMk/>
            <pc:sldMk cId="0" sldId="262"/>
            <ac:spMk id="10" creationId="{B50AB553-2A96-4A92-96F2-93548E096954}"/>
          </ac:spMkLst>
        </pc:spChg>
        <pc:graphicFrameChg chg="add">
          <ac:chgData name="Jaime Tur" userId="0c147167-24ab-41cc-821f-e304fffd7c74" providerId="ADAL" clId="{96FACA42-3611-4883-8B93-19C4F783C7AC}" dt="2025-11-14T17:55:58.851" v="13" actId="26606"/>
          <ac:graphicFrameMkLst>
            <pc:docMk/>
            <pc:sldMk cId="0" sldId="262"/>
            <ac:graphicFrameMk id="5" creationId="{5B27CA4B-77CB-B70F-97B4-B8F65A097F95}"/>
          </ac:graphicFrameMkLst>
        </pc:graphicFrameChg>
        <pc:picChg chg="add">
          <ac:chgData name="Jaime Tur" userId="0c147167-24ab-41cc-821f-e304fffd7c74" providerId="ADAL" clId="{96FACA42-3611-4883-8B93-19C4F783C7AC}" dt="2025-11-14T17:55:58.851" v="13" actId="26606"/>
          <ac:picMkLst>
            <pc:docMk/>
            <pc:sldMk cId="0" sldId="262"/>
            <ac:picMk id="6" creationId="{8003957F-A030-8845-B8FE-76EC1661EBA0}"/>
          </ac:picMkLst>
        </pc:picChg>
      </pc:sldChg>
      <pc:sldChg chg="addSp delSp modSp mod setBg">
        <pc:chgData name="Jaime Tur" userId="0c147167-24ab-41cc-821f-e304fffd7c74" providerId="ADAL" clId="{96FACA42-3611-4883-8B93-19C4F783C7AC}" dt="2025-11-14T18:01:05.897" v="35" actId="26606"/>
        <pc:sldMkLst>
          <pc:docMk/>
          <pc:sldMk cId="0" sldId="263"/>
        </pc:sldMkLst>
        <pc:spChg chg="mod">
          <ac:chgData name="Jaime Tur" userId="0c147167-24ab-41cc-821f-e304fffd7c74" providerId="ADAL" clId="{96FACA42-3611-4883-8B93-19C4F783C7AC}" dt="2025-11-14T18:01:05.897" v="35" actId="26606"/>
          <ac:spMkLst>
            <pc:docMk/>
            <pc:sldMk cId="0" sldId="263"/>
            <ac:spMk id="2" creationId="{00000000-0000-0000-0000-000000000000}"/>
          </ac:spMkLst>
        </pc:spChg>
        <pc:spChg chg="mod">
          <ac:chgData name="Jaime Tur" userId="0c147167-24ab-41cc-821f-e304fffd7c74" providerId="ADAL" clId="{96FACA42-3611-4883-8B93-19C4F783C7AC}" dt="2025-11-14T18:01:05.897" v="35" actId="26606"/>
          <ac:spMkLst>
            <pc:docMk/>
            <pc:sldMk cId="0" sldId="263"/>
            <ac:spMk id="3" creationId="{00000000-0000-0000-0000-000000000000}"/>
          </ac:spMkLst>
        </pc:spChg>
        <pc:spChg chg="add del">
          <ac:chgData name="Jaime Tur" userId="0c147167-24ab-41cc-821f-e304fffd7c74" providerId="ADAL" clId="{96FACA42-3611-4883-8B93-19C4F783C7AC}" dt="2025-11-14T18:01:05.897" v="35" actId="26606"/>
          <ac:spMkLst>
            <pc:docMk/>
            <pc:sldMk cId="0" sldId="263"/>
            <ac:spMk id="8" creationId="{1BB867FF-FC45-48F7-8104-F89BE54909F1}"/>
          </ac:spMkLst>
        </pc:spChg>
        <pc:spChg chg="add del">
          <ac:chgData name="Jaime Tur" userId="0c147167-24ab-41cc-821f-e304fffd7c74" providerId="ADAL" clId="{96FACA42-3611-4883-8B93-19C4F783C7AC}" dt="2025-11-14T18:01:05.897" v="35" actId="26606"/>
          <ac:spMkLst>
            <pc:docMk/>
            <pc:sldMk cId="0" sldId="263"/>
            <ac:spMk id="10" creationId="{8BB56887-D0D5-4F0C-9E19-7247EB83C8B7}"/>
          </ac:spMkLst>
        </pc:spChg>
        <pc:spChg chg="add del">
          <ac:chgData name="Jaime Tur" userId="0c147167-24ab-41cc-821f-e304fffd7c74" providerId="ADAL" clId="{96FACA42-3611-4883-8B93-19C4F783C7AC}" dt="2025-11-14T18:01:05.897" v="35" actId="26606"/>
          <ac:spMkLst>
            <pc:docMk/>
            <pc:sldMk cId="0" sldId="263"/>
            <ac:spMk id="12" creationId="{081E4A58-353D-44AE-B2FC-2A74E2E400F7}"/>
          </ac:spMkLst>
        </pc:spChg>
        <pc:spChg chg="add">
          <ac:chgData name="Jaime Tur" userId="0c147167-24ab-41cc-821f-e304fffd7c74" providerId="ADAL" clId="{96FACA42-3611-4883-8B93-19C4F783C7AC}" dt="2025-11-14T18:01:05.897" v="35" actId="26606"/>
          <ac:spMkLst>
            <pc:docMk/>
            <pc:sldMk cId="0" sldId="263"/>
            <ac:spMk id="17" creationId="{100EDD19-6802-4EC3-95CE-CFFAB042CFD6}"/>
          </ac:spMkLst>
        </pc:spChg>
        <pc:spChg chg="add">
          <ac:chgData name="Jaime Tur" userId="0c147167-24ab-41cc-821f-e304fffd7c74" providerId="ADAL" clId="{96FACA42-3611-4883-8B93-19C4F783C7AC}" dt="2025-11-14T18:01:05.897" v="35" actId="26606"/>
          <ac:spMkLst>
            <pc:docMk/>
            <pc:sldMk cId="0" sldId="263"/>
            <ac:spMk id="19" creationId="{DB17E863-922E-4C26-BD64-E8FD41D28661}"/>
          </ac:spMkLst>
        </pc:spChg>
      </pc:sldChg>
      <pc:sldChg chg="addSp delSp modSp add mod">
        <pc:chgData name="Jaime Tur" userId="0c147167-24ab-41cc-821f-e304fffd7c74" providerId="ADAL" clId="{96FACA42-3611-4883-8B93-19C4F783C7AC}" dt="2025-11-14T18:04:14.203" v="68"/>
        <pc:sldMkLst>
          <pc:docMk/>
          <pc:sldMk cId="1233346370" sldId="264"/>
        </pc:sldMkLst>
        <pc:spChg chg="mod">
          <ac:chgData name="Jaime Tur" userId="0c147167-24ab-41cc-821f-e304fffd7c74" providerId="ADAL" clId="{96FACA42-3611-4883-8B93-19C4F783C7AC}" dt="2025-11-14T18:03:50.378" v="63"/>
          <ac:spMkLst>
            <pc:docMk/>
            <pc:sldMk cId="1233346370" sldId="264"/>
            <ac:spMk id="2" creationId="{71C92489-1615-4D57-43B5-5E08DF475047}"/>
          </ac:spMkLst>
        </pc:spChg>
        <pc:spChg chg="del">
          <ac:chgData name="Jaime Tur" userId="0c147167-24ab-41cc-821f-e304fffd7c74" providerId="ADAL" clId="{96FACA42-3611-4883-8B93-19C4F783C7AC}" dt="2025-11-14T18:04:01.600" v="64" actId="478"/>
          <ac:spMkLst>
            <pc:docMk/>
            <pc:sldMk cId="1233346370" sldId="264"/>
            <ac:spMk id="3" creationId="{3D5689A9-CFD7-4243-D490-5B60600161EB}"/>
          </ac:spMkLst>
        </pc:spChg>
        <pc:spChg chg="add del mod">
          <ac:chgData name="Jaime Tur" userId="0c147167-24ab-41cc-821f-e304fffd7c74" providerId="ADAL" clId="{96FACA42-3611-4883-8B93-19C4F783C7AC}" dt="2025-11-14T18:04:13.198" v="67" actId="478"/>
          <ac:spMkLst>
            <pc:docMk/>
            <pc:sldMk cId="1233346370" sldId="264"/>
            <ac:spMk id="5" creationId="{0EBA4DA5-2281-4E1D-75B0-CEF5A8B0D08B}"/>
          </ac:spMkLst>
        </pc:spChg>
        <pc:graphicFrameChg chg="add mod">
          <ac:chgData name="Jaime Tur" userId="0c147167-24ab-41cc-821f-e304fffd7c74" providerId="ADAL" clId="{96FACA42-3611-4883-8B93-19C4F783C7AC}" dt="2025-11-14T18:04:08.863" v="66"/>
          <ac:graphicFrameMkLst>
            <pc:docMk/>
            <pc:sldMk cId="1233346370" sldId="264"/>
            <ac:graphicFrameMk id="6" creationId="{BEEA9A67-963E-AE26-497E-B095D3DF647B}"/>
          </ac:graphicFrameMkLst>
        </pc:graphicFrameChg>
        <pc:graphicFrameChg chg="add mod">
          <ac:chgData name="Jaime Tur" userId="0c147167-24ab-41cc-821f-e304fffd7c74" providerId="ADAL" clId="{96FACA42-3611-4883-8B93-19C4F783C7AC}" dt="2025-11-14T18:04:14.203" v="68"/>
          <ac:graphicFrameMkLst>
            <pc:docMk/>
            <pc:sldMk cId="1233346370" sldId="264"/>
            <ac:graphicFrameMk id="7" creationId="{1A639F29-48DF-59A8-5899-535A4C880E2A}"/>
          </ac:graphicFrameMkLst>
        </pc:graphicFrameChg>
      </pc:sldChg>
      <pc:sldChg chg="add">
        <pc:chgData name="Jaime Tur" userId="0c147167-24ab-41cc-821f-e304fffd7c74" providerId="ADAL" clId="{96FACA42-3611-4883-8B93-19C4F783C7AC}" dt="2025-11-14T18:03:43.752" v="62" actId="2890"/>
        <pc:sldMkLst>
          <pc:docMk/>
          <pc:sldMk cId="2426699377" sldId="265"/>
        </pc:sldMkLst>
      </pc:sldChg>
      <pc:sldChg chg="addSp delSp modSp add del mod setBg delDesignElem">
        <pc:chgData name="Jaime Tur" userId="0c147167-24ab-41cc-821f-e304fffd7c74" providerId="ADAL" clId="{96FACA42-3611-4883-8B93-19C4F783C7AC}" dt="2025-11-14T18:05:21.513" v="83" actId="47"/>
        <pc:sldMkLst>
          <pc:docMk/>
          <pc:sldMk cId="1375192382" sldId="266"/>
        </pc:sldMkLst>
        <pc:spChg chg="mod">
          <ac:chgData name="Jaime Tur" userId="0c147167-24ab-41cc-821f-e304fffd7c74" providerId="ADAL" clId="{96FACA42-3611-4883-8B93-19C4F783C7AC}" dt="2025-11-14T18:04:40.151" v="72"/>
          <ac:spMkLst>
            <pc:docMk/>
            <pc:sldMk cId="1375192382" sldId="266"/>
            <ac:spMk id="2" creationId="{1BAA8637-8F4D-5329-1120-8C434F6D0C49}"/>
          </ac:spMkLst>
        </pc:spChg>
        <pc:spChg chg="add del mod">
          <ac:chgData name="Jaime Tur" userId="0c147167-24ab-41cc-821f-e304fffd7c74" providerId="ADAL" clId="{96FACA42-3611-4883-8B93-19C4F783C7AC}" dt="2025-11-14T18:05:01.023" v="77" actId="478"/>
          <ac:spMkLst>
            <pc:docMk/>
            <pc:sldMk cId="1375192382" sldId="266"/>
            <ac:spMk id="4" creationId="{EF0DE79A-C556-154F-A26B-EF53BBD8B119}"/>
          </ac:spMkLst>
        </pc:spChg>
        <pc:spChg chg="add del">
          <ac:chgData name="Jaime Tur" userId="0c147167-24ab-41cc-821f-e304fffd7c74" providerId="ADAL" clId="{96FACA42-3611-4883-8B93-19C4F783C7AC}" dt="2025-11-14T18:05:09.258" v="79"/>
          <ac:spMkLst>
            <pc:docMk/>
            <pc:sldMk cId="1375192382" sldId="266"/>
            <ac:spMk id="17" creationId="{8C2FE627-A056-7A73-517D-36881DA69BAC}"/>
          </ac:spMkLst>
        </pc:spChg>
        <pc:spChg chg="add del">
          <ac:chgData name="Jaime Tur" userId="0c147167-24ab-41cc-821f-e304fffd7c74" providerId="ADAL" clId="{96FACA42-3611-4883-8B93-19C4F783C7AC}" dt="2025-11-14T18:05:09.258" v="79"/>
          <ac:spMkLst>
            <pc:docMk/>
            <pc:sldMk cId="1375192382" sldId="266"/>
            <ac:spMk id="19" creationId="{EA8D81A2-F58D-73B1-2315-75D05FC96385}"/>
          </ac:spMkLst>
        </pc:spChg>
        <pc:graphicFrameChg chg="add mod">
          <ac:chgData name="Jaime Tur" userId="0c147167-24ab-41cc-821f-e304fffd7c74" providerId="ADAL" clId="{96FACA42-3611-4883-8B93-19C4F783C7AC}" dt="2025-11-14T18:04:53.689" v="75"/>
          <ac:graphicFrameMkLst>
            <pc:docMk/>
            <pc:sldMk cId="1375192382" sldId="266"/>
            <ac:graphicFrameMk id="5" creationId="{7D95ED28-F044-B542-FEBC-192E170DE61F}"/>
          </ac:graphicFrameMkLst>
        </pc:graphicFrameChg>
        <pc:graphicFrameChg chg="add del">
          <ac:chgData name="Jaime Tur" userId="0c147167-24ab-41cc-821f-e304fffd7c74" providerId="ADAL" clId="{96FACA42-3611-4883-8B93-19C4F783C7AC}" dt="2025-11-14T18:05:01.023" v="77" actId="478"/>
          <ac:graphicFrameMkLst>
            <pc:docMk/>
            <pc:sldMk cId="1375192382" sldId="266"/>
            <ac:graphicFrameMk id="7" creationId="{152D5676-3B30-632E-AD7F-7DEF057B2216}"/>
          </ac:graphicFrameMkLst>
        </pc:graphicFrameChg>
      </pc:sldChg>
      <pc:sldChg chg="addSp delSp modSp add mod ord">
        <pc:chgData name="Jaime Tur" userId="0c147167-24ab-41cc-821f-e304fffd7c74" providerId="ADAL" clId="{96FACA42-3611-4883-8B93-19C4F783C7AC}" dt="2025-11-14T18:05:47.469" v="89"/>
        <pc:sldMkLst>
          <pc:docMk/>
          <pc:sldMk cId="3924793611" sldId="267"/>
        </pc:sldMkLst>
        <pc:spChg chg="mod">
          <ac:chgData name="Jaime Tur" userId="0c147167-24ab-41cc-821f-e304fffd7c74" providerId="ADAL" clId="{96FACA42-3611-4883-8B93-19C4F783C7AC}" dt="2025-11-14T18:05:28.489" v="84"/>
          <ac:spMkLst>
            <pc:docMk/>
            <pc:sldMk cId="3924793611" sldId="267"/>
            <ac:spMk id="2" creationId="{0BCD6D37-2F8A-1DCD-D975-A8F18DA6B475}"/>
          </ac:spMkLst>
        </pc:spChg>
        <pc:spChg chg="add del mod">
          <ac:chgData name="Jaime Tur" userId="0c147167-24ab-41cc-821f-e304fffd7c74" providerId="ADAL" clId="{96FACA42-3611-4883-8B93-19C4F783C7AC}" dt="2025-11-14T18:05:39.479" v="88" actId="478"/>
          <ac:spMkLst>
            <pc:docMk/>
            <pc:sldMk cId="3924793611" sldId="267"/>
            <ac:spMk id="4" creationId="{A76ED774-EB2B-32E9-6EC6-2959C7D33FCE}"/>
          </ac:spMkLst>
        </pc:spChg>
        <pc:graphicFrameChg chg="add mod">
          <ac:chgData name="Jaime Tur" userId="0c147167-24ab-41cc-821f-e304fffd7c74" providerId="ADAL" clId="{96FACA42-3611-4883-8B93-19C4F783C7AC}" dt="2025-11-14T18:05:47.469" v="89"/>
          <ac:graphicFrameMkLst>
            <pc:docMk/>
            <pc:sldMk cId="3924793611" sldId="267"/>
            <ac:graphicFrameMk id="5" creationId="{632B939B-C724-1408-A078-66B491975A14}"/>
          </ac:graphicFrameMkLst>
        </pc:graphicFrameChg>
        <pc:graphicFrameChg chg="del mod">
          <ac:chgData name="Jaime Tur" userId="0c147167-24ab-41cc-821f-e304fffd7c74" providerId="ADAL" clId="{96FACA42-3611-4883-8B93-19C4F783C7AC}" dt="2025-11-14T18:05:37.496" v="87" actId="478"/>
          <ac:graphicFrameMkLst>
            <pc:docMk/>
            <pc:sldMk cId="3924793611" sldId="267"/>
            <ac:graphicFrameMk id="7" creationId="{D46A45F9-05FB-7A8E-D94A-3832CAFA2A2B}"/>
          </ac:graphicFrameMkLst>
        </pc:graphicFrameChg>
      </pc:sldChg>
      <pc:sldChg chg="addSp delSp modSp add mod">
        <pc:chgData name="Jaime Tur" userId="0c147167-24ab-41cc-821f-e304fffd7c74" providerId="ADAL" clId="{96FACA42-3611-4883-8B93-19C4F783C7AC}" dt="2025-11-14T18:06:33.822" v="105"/>
        <pc:sldMkLst>
          <pc:docMk/>
          <pc:sldMk cId="1501656052" sldId="268"/>
        </pc:sldMkLst>
        <pc:spChg chg="mod">
          <ac:chgData name="Jaime Tur" userId="0c147167-24ab-41cc-821f-e304fffd7c74" providerId="ADAL" clId="{96FACA42-3611-4883-8B93-19C4F783C7AC}" dt="2025-11-14T18:06:20.727" v="102" actId="20577"/>
          <ac:spMkLst>
            <pc:docMk/>
            <pc:sldMk cId="1501656052" sldId="268"/>
            <ac:spMk id="2" creationId="{3E632FE8-EB33-68CF-B802-D334200120B4}"/>
          </ac:spMkLst>
        </pc:spChg>
        <pc:spChg chg="del">
          <ac:chgData name="Jaime Tur" userId="0c147167-24ab-41cc-821f-e304fffd7c74" providerId="ADAL" clId="{96FACA42-3611-4883-8B93-19C4F783C7AC}" dt="2025-11-14T18:06:30.665" v="103" actId="478"/>
          <ac:spMkLst>
            <pc:docMk/>
            <pc:sldMk cId="1501656052" sldId="268"/>
            <ac:spMk id="3" creationId="{C37390BC-8BCA-EDBF-5F7D-F9E001250E80}"/>
          </ac:spMkLst>
        </pc:spChg>
        <pc:spChg chg="add del mod">
          <ac:chgData name="Jaime Tur" userId="0c147167-24ab-41cc-821f-e304fffd7c74" providerId="ADAL" clId="{96FACA42-3611-4883-8B93-19C4F783C7AC}" dt="2025-11-14T18:06:33.283" v="104" actId="478"/>
          <ac:spMkLst>
            <pc:docMk/>
            <pc:sldMk cId="1501656052" sldId="268"/>
            <ac:spMk id="5" creationId="{27510E8C-EEBE-592E-CD40-27D1510EF792}"/>
          </ac:spMkLst>
        </pc:spChg>
        <pc:graphicFrameChg chg="add mod">
          <ac:chgData name="Jaime Tur" userId="0c147167-24ab-41cc-821f-e304fffd7c74" providerId="ADAL" clId="{96FACA42-3611-4883-8B93-19C4F783C7AC}" dt="2025-11-14T18:06:33.822" v="105"/>
          <ac:graphicFrameMkLst>
            <pc:docMk/>
            <pc:sldMk cId="1501656052" sldId="268"/>
            <ac:graphicFrameMk id="6" creationId="{F387B9CB-8919-DB69-5D6E-F0F99125FF2B}"/>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16BAD9D-90E1-9FA0-6899-E1720D48885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758A9D6-719C-2946-560D-6D1F6701BC5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4512AF-DD4E-4B73-98EF-EA3A4CA19885}" type="datetimeFigureOut">
              <a:rPr lang="en-US" smtClean="0"/>
              <a:t>2/19/2026</a:t>
            </a:fld>
            <a:endParaRPr lang="en-US"/>
          </a:p>
        </p:txBody>
      </p:sp>
      <p:sp>
        <p:nvSpPr>
          <p:cNvPr id="4" name="Footer Placeholder 3">
            <a:extLst>
              <a:ext uri="{FF2B5EF4-FFF2-40B4-BE49-F238E27FC236}">
                <a16:creationId xmlns:a16="http://schemas.microsoft.com/office/drawing/2014/main" id="{5FE790A1-21F7-2AD1-1F2A-3213DDDAB9D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DAA72B4-45D1-60AC-4544-0EA77E3442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12F1160-B729-4FCC-8C17-92C9301270E1}" type="slidenum">
              <a:rPr lang="en-US" smtClean="0"/>
              <a:t>‹#›</a:t>
            </a:fld>
            <a:endParaRPr lang="en-US"/>
          </a:p>
        </p:txBody>
      </p:sp>
    </p:spTree>
    <p:extLst>
      <p:ext uri="{BB962C8B-B14F-4D97-AF65-F5344CB8AC3E}">
        <p14:creationId xmlns:p14="http://schemas.microsoft.com/office/powerpoint/2010/main" val="426249031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3D8C08C-CAA2-0BE1-C083-696B5B7BDA70}"/>
              </a:ext>
            </a:extLst>
          </p:cNvPr>
          <p:cNvSpPr/>
          <p:nvPr userDrawn="1"/>
        </p:nvSpPr>
        <p:spPr bwMode="auto">
          <a:xfrm>
            <a:off x="0" y="0"/>
            <a:ext cx="5501640" cy="6858000"/>
          </a:xfrm>
          <a:prstGeom prst="rect">
            <a:avLst/>
          </a:prstGeom>
          <a:solidFill>
            <a:srgbClr val="85CCFF"/>
          </a:solidFill>
          <a:ln w="12700" cap="flat" cmpd="sng" algn="ctr">
            <a:noFill/>
            <a:prstDash val="solid"/>
            <a:round/>
            <a:headEnd type="none" w="med" len="med"/>
            <a:tailEnd type="none" w="med" len="med"/>
          </a:ln>
          <a:effectLst/>
        </p:spPr>
        <p:txBody>
          <a:bodyPr rot="0" spcFirstLastPara="0" vertOverflow="overflow" horzOverflow="overflow" vert="horz" wrap="square" lIns="72000" tIns="36000" rIns="73152" bIns="36576" numCol="1" spcCol="0" rtlCol="0" fromWordArt="0" anchor="t" anchorCtr="0" forceAA="0" compatLnSpc="1">
            <a:prstTxWarp prst="textNoShape">
              <a:avLst/>
            </a:prstTxWarp>
            <a:noAutofit/>
          </a:bodyPr>
          <a:lstStyle/>
          <a:p>
            <a:pPr marL="180000" indent="-180000" algn="l">
              <a:spcBef>
                <a:spcPts val="800"/>
              </a:spcBef>
              <a:buFont typeface="Ericsson Hilda" panose="00000500000000000000" pitchFamily="2" charset="0"/>
              <a:buChar char="●"/>
            </a:pPr>
            <a:endParaRPr lang="en-US" sz="1800" err="1">
              <a:solidFill>
                <a:srgbClr val="FFFFFF"/>
              </a:solidFill>
              <a:latin typeface="+mn-lt"/>
            </a:endParaRPr>
          </a:p>
        </p:txBody>
      </p:sp>
      <p:pic>
        <p:nvPicPr>
          <p:cNvPr id="8" name="Picture 7" descr="A colorful logo with text&#10;&#10;AI-generated content may be incorrect.">
            <a:extLst>
              <a:ext uri="{FF2B5EF4-FFF2-40B4-BE49-F238E27FC236}">
                <a16:creationId xmlns:a16="http://schemas.microsoft.com/office/drawing/2014/main" id="{4CD53B24-4BDC-974B-673B-F94258AFBEE4}"/>
              </a:ext>
            </a:extLst>
          </p:cNvPr>
          <p:cNvPicPr>
            <a:picLocks/>
          </p:cNvPicPr>
          <p:nvPr userDrawn="1"/>
        </p:nvPicPr>
        <p:blipFill>
          <a:blip r:embed="rId2"/>
          <a:stretch>
            <a:fillRect/>
          </a:stretch>
        </p:blipFill>
        <p:spPr>
          <a:xfrm>
            <a:off x="5501641" y="0"/>
            <a:ext cx="6690361" cy="6858000"/>
          </a:xfrm>
          <a:prstGeom prst="rect">
            <a:avLst/>
          </a:prstGeom>
          <a:noFill/>
        </p:spPr>
      </p:pic>
      <p:sp>
        <p:nvSpPr>
          <p:cNvPr id="2" name="Title 1"/>
          <p:cNvSpPr>
            <a:spLocks noGrp="1"/>
          </p:cNvSpPr>
          <p:nvPr>
            <p:ph type="ctrTitle" hasCustomPrompt="1"/>
          </p:nvPr>
        </p:nvSpPr>
        <p:spPr>
          <a:xfrm>
            <a:off x="233680" y="2130426"/>
            <a:ext cx="5115560" cy="1470025"/>
          </a:xfrm>
        </p:spPr>
        <p:txBody>
          <a:bodyPr>
            <a:noAutofit/>
          </a:bodyPr>
          <a:lstStyle>
            <a:lvl1pPr algn="ctr">
              <a:defRPr sz="4800">
                <a:solidFill>
                  <a:srgbClr val="002060"/>
                </a:solidFill>
              </a:defRPr>
            </a:lvl1pPr>
          </a:lstStyle>
          <a:p>
            <a:r>
              <a:rPr lang="en-US" dirty="0"/>
              <a:t>Click To Edit Master Title Style</a:t>
            </a:r>
          </a:p>
        </p:txBody>
      </p:sp>
      <p:sp>
        <p:nvSpPr>
          <p:cNvPr id="3" name="Subtitle 2"/>
          <p:cNvSpPr>
            <a:spLocks noGrp="1"/>
          </p:cNvSpPr>
          <p:nvPr>
            <p:ph type="subTitle" idx="1"/>
          </p:nvPr>
        </p:nvSpPr>
        <p:spPr>
          <a:xfrm>
            <a:off x="233680" y="3886200"/>
            <a:ext cx="5166360" cy="1752600"/>
          </a:xfrm>
        </p:spPr>
        <p:txBody>
          <a:bodyPr>
            <a:normAutofit/>
          </a:bodyPr>
          <a:lstStyle>
            <a:lvl1pPr marL="0" indent="0" algn="ctr">
              <a:buNone/>
              <a:defRPr sz="3200">
                <a:solidFill>
                  <a:srgbClr val="0070C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2/19/2026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37244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921702"/>
          </a:xfrm>
        </p:spPr>
        <p:txBody>
          <a:bodyPr>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a:xfrm>
            <a:off x="609600" y="1437111"/>
            <a:ext cx="10972800" cy="5239955"/>
          </a:xfrm>
        </p:spPr>
        <p:txBody>
          <a:bodyPr>
            <a:normAutofit/>
          </a:bodyPr>
          <a:lstStyle>
            <a:lvl1pPr marL="0">
              <a:buNone/>
              <a:defRPr sz="2000"/>
            </a:lvl1pPr>
            <a:lvl2pPr marL="540000">
              <a:buNone/>
              <a:defRPr sz="1800"/>
            </a:lvl2pPr>
            <a:lvl3pPr marL="720000">
              <a:buNone/>
              <a:defRPr sz="1600"/>
            </a:lvl3pPr>
            <a:lvl4pPr marL="900000">
              <a:buNone/>
              <a:defRPr sz="1400"/>
            </a:lvl4pPr>
            <a:lvl5pPr marL="108000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D83E45CF-487E-D805-AC82-E9F89743BFD2}"/>
              </a:ext>
            </a:extLst>
          </p:cNvPr>
          <p:cNvPicPr>
            <a:picLocks noChangeAspect="1"/>
          </p:cNvPicPr>
          <p:nvPr userDrawn="1"/>
        </p:nvPicPr>
        <p:blipFill>
          <a:blip r:embed="rId3"/>
          <a:stretch>
            <a:fillRect/>
          </a:stretch>
        </p:blipFill>
        <p:spPr>
          <a:xfrm>
            <a:off x="519289" y="1216977"/>
            <a:ext cx="11164711" cy="199496"/>
          </a:xfrm>
          <a:prstGeom prst="rect">
            <a:avLst/>
          </a:prstGeom>
        </p:spPr>
      </p:pic>
    </p:spTree>
    <p:extLst>
      <p:ext uri="{BB962C8B-B14F-4D97-AF65-F5344CB8AC3E}">
        <p14:creationId xmlns:p14="http://schemas.microsoft.com/office/powerpoint/2010/main" val="3747716504"/>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925512"/>
          </a:xfrm>
        </p:spPr>
        <p:txBody>
          <a:bodyPr>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a:xfrm>
            <a:off x="609600" y="1440920"/>
            <a:ext cx="5430520" cy="5236145"/>
          </a:xfrm>
        </p:spPr>
        <p:txBody>
          <a:bodyPr>
            <a:normAutofit/>
          </a:bodyPr>
          <a:lstStyle>
            <a:lvl1pPr marL="0">
              <a:buNone/>
              <a:defRPr sz="2000"/>
            </a:lvl1pPr>
            <a:lvl2pPr marL="540000">
              <a:buNone/>
              <a:defRPr sz="1800"/>
            </a:lvl2pPr>
            <a:lvl3pPr marL="720000">
              <a:buNone/>
              <a:defRPr sz="1600"/>
            </a:lvl3pPr>
            <a:lvl4pPr marL="900000">
              <a:buNone/>
              <a:defRPr sz="1400"/>
            </a:lvl4pPr>
            <a:lvl5pPr marL="108000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D83E45CF-487E-D805-AC82-E9F89743BFD2}"/>
              </a:ext>
            </a:extLst>
          </p:cNvPr>
          <p:cNvPicPr>
            <a:picLocks noChangeAspect="1"/>
          </p:cNvPicPr>
          <p:nvPr userDrawn="1"/>
        </p:nvPicPr>
        <p:blipFill>
          <a:blip r:embed="rId3"/>
          <a:stretch>
            <a:fillRect/>
          </a:stretch>
        </p:blipFill>
        <p:spPr>
          <a:xfrm>
            <a:off x="519289" y="1220787"/>
            <a:ext cx="11164711" cy="199496"/>
          </a:xfrm>
          <a:prstGeom prst="rect">
            <a:avLst/>
          </a:prstGeom>
        </p:spPr>
      </p:pic>
      <p:sp>
        <p:nvSpPr>
          <p:cNvPr id="4" name="Content Placeholder 2">
            <a:extLst>
              <a:ext uri="{FF2B5EF4-FFF2-40B4-BE49-F238E27FC236}">
                <a16:creationId xmlns:a16="http://schemas.microsoft.com/office/drawing/2014/main" id="{69B6F073-8B61-3C41-D9B9-6B5B7D42B3C4}"/>
              </a:ext>
            </a:extLst>
          </p:cNvPr>
          <p:cNvSpPr>
            <a:spLocks noGrp="1"/>
          </p:cNvSpPr>
          <p:nvPr>
            <p:ph idx="10"/>
          </p:nvPr>
        </p:nvSpPr>
        <p:spPr>
          <a:xfrm>
            <a:off x="6096000" y="1440920"/>
            <a:ext cx="5486400" cy="5236145"/>
          </a:xfrm>
        </p:spPr>
        <p:txBody>
          <a:bodyPr>
            <a:normAutofit/>
          </a:bodyPr>
          <a:lstStyle>
            <a:lvl1pPr marL="0">
              <a:buNone/>
              <a:defRPr sz="1800"/>
            </a:lvl1pPr>
            <a:lvl2pPr marL="540000">
              <a:buNone/>
              <a:defRPr sz="1600"/>
            </a:lvl2pPr>
            <a:lvl3pPr marL="720000">
              <a:buNone/>
              <a:defRPr sz="1400"/>
            </a:lvl3pPr>
            <a:lvl4pPr marL="900000">
              <a:buNone/>
              <a:defRPr sz="1200"/>
            </a:lvl4pPr>
            <a:lvl5pPr marL="1080000">
              <a:buNone/>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8437895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925512"/>
          </a:xfrm>
        </p:spPr>
        <p:txBody>
          <a:bodyPr>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a:xfrm>
            <a:off x="609600" y="1440921"/>
            <a:ext cx="5435600" cy="2612920"/>
          </a:xfrm>
        </p:spPr>
        <p:txBody>
          <a:bodyPr>
            <a:normAutofit/>
          </a:bodyPr>
          <a:lstStyle>
            <a:lvl1pPr marL="0">
              <a:buNone/>
              <a:defRPr sz="2000"/>
            </a:lvl1pPr>
            <a:lvl2pPr marL="540000">
              <a:buNone/>
              <a:defRPr sz="1800"/>
            </a:lvl2pPr>
            <a:lvl3pPr marL="720000">
              <a:buNone/>
              <a:defRPr sz="1600"/>
            </a:lvl3pPr>
            <a:lvl4pPr marL="900000">
              <a:buNone/>
              <a:defRPr sz="1400"/>
            </a:lvl4pPr>
            <a:lvl5pPr marL="1080000">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D83E45CF-487E-D805-AC82-E9F89743BFD2}"/>
              </a:ext>
            </a:extLst>
          </p:cNvPr>
          <p:cNvPicPr>
            <a:picLocks noChangeAspect="1"/>
          </p:cNvPicPr>
          <p:nvPr userDrawn="1"/>
        </p:nvPicPr>
        <p:blipFill>
          <a:blip r:embed="rId3"/>
          <a:stretch>
            <a:fillRect/>
          </a:stretch>
        </p:blipFill>
        <p:spPr>
          <a:xfrm>
            <a:off x="519289" y="1220787"/>
            <a:ext cx="11164711" cy="199496"/>
          </a:xfrm>
          <a:prstGeom prst="rect">
            <a:avLst/>
          </a:prstGeom>
        </p:spPr>
      </p:pic>
      <p:sp>
        <p:nvSpPr>
          <p:cNvPr id="4" name="Content Placeholder 2">
            <a:extLst>
              <a:ext uri="{FF2B5EF4-FFF2-40B4-BE49-F238E27FC236}">
                <a16:creationId xmlns:a16="http://schemas.microsoft.com/office/drawing/2014/main" id="{69B6F073-8B61-3C41-D9B9-6B5B7D42B3C4}"/>
              </a:ext>
            </a:extLst>
          </p:cNvPr>
          <p:cNvSpPr>
            <a:spLocks noGrp="1"/>
          </p:cNvSpPr>
          <p:nvPr>
            <p:ph idx="10"/>
          </p:nvPr>
        </p:nvSpPr>
        <p:spPr>
          <a:xfrm>
            <a:off x="609601" y="4130041"/>
            <a:ext cx="5435597" cy="2547025"/>
          </a:xfrm>
        </p:spPr>
        <p:txBody>
          <a:bodyPr>
            <a:normAutofit/>
          </a:bodyPr>
          <a:lstStyle>
            <a:lvl1pPr marL="0">
              <a:buNone/>
              <a:defRPr sz="1800"/>
            </a:lvl1pPr>
            <a:lvl2pPr marL="540000">
              <a:buNone/>
              <a:defRPr sz="1600"/>
            </a:lvl2pPr>
            <a:lvl3pPr marL="720000">
              <a:buNone/>
              <a:defRPr sz="1400"/>
            </a:lvl3pPr>
            <a:lvl4pPr marL="900000">
              <a:buNone/>
              <a:defRPr sz="1200"/>
            </a:lvl4pPr>
            <a:lvl5pPr marL="1080000">
              <a:buNone/>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1373BBEB-A4CB-84AC-BA26-0B6CA5A17919}"/>
              </a:ext>
            </a:extLst>
          </p:cNvPr>
          <p:cNvSpPr>
            <a:spLocks noGrp="1"/>
          </p:cNvSpPr>
          <p:nvPr>
            <p:ph idx="11"/>
          </p:nvPr>
        </p:nvSpPr>
        <p:spPr>
          <a:xfrm>
            <a:off x="6096000" y="1440920"/>
            <a:ext cx="5486400" cy="5236145"/>
          </a:xfrm>
        </p:spPr>
        <p:txBody>
          <a:bodyPr>
            <a:normAutofit/>
          </a:bodyPr>
          <a:lstStyle>
            <a:lvl1pPr marL="0">
              <a:buNone/>
              <a:defRPr sz="1800"/>
            </a:lvl1pPr>
            <a:lvl2pPr marL="540000">
              <a:buNone/>
              <a:defRPr sz="1600"/>
            </a:lvl2pPr>
            <a:lvl3pPr marL="720000">
              <a:buNone/>
              <a:defRPr sz="1400"/>
            </a:lvl3pPr>
            <a:lvl4pPr marL="900000">
              <a:buNone/>
              <a:defRPr sz="1200"/>
            </a:lvl4pPr>
            <a:lvl5pPr marL="1080000">
              <a:buNone/>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5692664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130426"/>
            <a:ext cx="10363200" cy="1470025"/>
          </a:xfrm>
        </p:spPr>
        <p:txBody>
          <a:bodyPr>
            <a:normAutofit/>
          </a:bodyPr>
          <a:lstStyle>
            <a:lvl1pPr algn="ctr">
              <a:defRPr sz="4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2/19/2026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64015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7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a:xfrm>
            <a:off x="609600" y="1600200"/>
            <a:ext cx="10972800" cy="5089566"/>
          </a:xfrm>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32010653"/>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4_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0699270"/>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2/19/2026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65" r:id="rId1"/>
    <p:sldLayoutId id="2147483660" r:id="rId2"/>
    <p:sldLayoutId id="2147483669" r:id="rId3"/>
    <p:sldLayoutId id="2147483671" r:id="rId4"/>
    <p:sldLayoutId id="2147483672" r:id="rId5"/>
    <p:sldLayoutId id="2147483668" r:id="rId6"/>
    <p:sldLayoutId id="2147483663"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Lst>
  <p:txStyles>
    <p:titleStyle>
      <a:lvl1pPr algn="l" defTabSz="457200" rtl="0" eaLnBrk="1" latinLnBrk="0" hangingPunct="1">
        <a:spcBef>
          <a:spcPct val="0"/>
        </a:spcBef>
        <a:buNone/>
        <a:defRPr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Technical User Guide</a:t>
            </a:r>
          </a:p>
        </p:txBody>
      </p:sp>
      <p:sp>
        <p:nvSpPr>
          <p:cNvPr id="3" name="Subtitle 2"/>
          <p:cNvSpPr>
            <a:spLocks noGrp="1"/>
          </p:cNvSpPr>
          <p:nvPr>
            <p:ph type="subTitle" idx="1"/>
          </p:nvPr>
        </p:nvSpPr>
        <p:spPr/>
        <p:txBody>
          <a:bodyPr/>
          <a:lstStyle/>
          <a:p>
            <a:r>
              <a:t>SSB Retuning Automations v0.7.6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p:txBody>
      </p:sp>
      <p:sp>
        <p:nvSpPr>
          <p:cNvPr id="3" name="Content Placeholder 2"/>
          <p:cNvSpPr>
            <a:spLocks noGrp="1"/>
          </p:cNvSpPr>
          <p:nvPr>
            <p:ph idx="1"/>
          </p:nvPr>
        </p:nvSpPr>
        <p:spPr/>
        <p:txBody>
          <a:bodyPr/>
          <a:lstStyle/>
          <a:p>
            <a:pPr>
              <a:buNone/>
              <a:defRPr sz="1200"/>
            </a:pPr>
            <a:r>
              <a:t>SSB Retuning Automations parses network logs, performs ConfigurationAudit checks, optionally compares PRE/POST states with ConsistencyChecks, and generates Excel deliverables and correction command exports.</a:t>
            </a:r>
          </a:p>
          <a:p>
            <a:pPr>
              <a:buNone/>
              <a:defRPr sz="1200"/>
            </a:pPr>
            <a:r>
              <a:t>This document provides the official user-facing documentation for the SSB Retuning Automations tool. It explains how to prepare inputs, how each module behaves, which execution modes are available, and how to interpret all generated outputs.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a:p>
            <a:pPr>
              <a:defRPr b="0" sz="2000">
                <a:solidFill>
                  <a:schemeClr val="accent2"/>
                </a:solidFill>
              </a:defRPr>
            </a:pPr>
            <a:r>
              <a:t>Coexistence of old &amp; new SSB:</a:t>
            </a:r>
          </a:p>
        </p:txBody>
      </p:sp>
      <p:sp>
        <p:nvSpPr>
          <p:cNvPr id="3" name="Content Placeholder 2"/>
          <p:cNvSpPr>
            <a:spLocks noGrp="1"/>
          </p:cNvSpPr>
          <p:nvPr>
            <p:ph idx="1"/>
          </p:nvPr>
        </p:nvSpPr>
        <p:spPr/>
        <p:txBody>
          <a:bodyPr/>
          <a:lstStyle/>
          <a:p>
            <a:pPr>
              <a:buNone/>
              <a:defRPr sz="1200"/>
            </a:pPr>
            <a:r>
              <a:t>Coexistence of old/new SSB will split UE measurements in 2 frequencies. A cell ranked 3rd might become 1st after the split, increasing the risk of connecting to overshooting cells.</a:t>
            </a:r>
          </a:p>
          <a:p>
            <a:pPr lvl="1">
              <a:buChar char="•"/>
              <a:defRPr sz="1200"/>
            </a:pPr>
            <a:r>
              <a:t>To handle this, suggest setting lower priority for the SSB not collocated to minimize potential issues due to overshooting</a:t>
            </a:r>
          </a:p>
          <a:p>
            <a:pPr lvl="1">
              <a:buChar char="•"/>
              <a:defRPr sz="1200"/>
            </a:pPr>
            <a:r>
              <a:t>Retune cluster sites with low priority to old SSB (priority change on Step2)</a:t>
            </a:r>
          </a:p>
          <a:p>
            <a:pPr lvl="1">
              <a:buChar char="•"/>
              <a:defRPr sz="1200"/>
            </a:pPr>
            <a:r>
              <a:t>Neighboring sites with low priority to new SSB</a:t>
            </a:r>
          </a:p>
          <a:p>
            <a:pPr lvl="1">
              <a:buChar char="•"/>
              <a:defRPr sz="1200"/>
            </a:pPr>
            <a:r>
              <a:t>UEs camping on neighboring sites to retune cluster will not try to reselect or add ENDC on new SSB (lower priority)</a:t>
            </a:r>
          </a:p>
          <a:p>
            <a:pPr lvl="1">
              <a:buChar char="•"/>
              <a:defRPr sz="1200"/>
            </a:pPr>
            <a:r>
              <a:t>UEs camping on border sites in retune cluster will not try to reselect or add ENDC on old SSB (lower priority)</a:t>
            </a:r>
          </a:p>
          <a:p>
            <a:pPr lvl="1">
              <a:buChar char="•"/>
              <a:defRPr sz="1200"/>
            </a:pPr>
            <a:r>
              <a:t>Step1 will add FreqRelation to new SSB in retune + neighboring clusters</a:t>
            </a:r>
          </a:p>
          <a:p>
            <a:pPr lvl="1">
              <a:buChar char="•"/>
              <a:defRPr sz="1200"/>
            </a:pPr>
            <a:r>
              <a:t>Step2 will not remove FreqRelation to old SSB</a:t>
            </a:r>
          </a:p>
          <a:p>
            <a:pPr lvl="1">
              <a:buChar char="•"/>
              <a:defRPr sz="1200"/>
            </a:pPr>
            <a:r>
              <a:t>ENDC and Mobility allowed in border and neighboring sites with existing CellRelations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a:p>
            <a:pPr>
              <a:defRPr b="0" sz="2000">
                <a:solidFill>
                  <a:schemeClr val="accent2"/>
                </a:solidFill>
              </a:defRPr>
            </a:pPr>
            <a:r>
              <a:t>Clusters definition and pre-checks</a:t>
            </a:r>
          </a:p>
        </p:txBody>
      </p:sp>
      <p:sp>
        <p:nvSpPr>
          <p:cNvPr id="3" name="Content Placeholder 2"/>
          <p:cNvSpPr>
            <a:spLocks noGrp="1"/>
          </p:cNvSpPr>
          <p:nvPr>
            <p:ph idx="1"/>
          </p:nvPr>
        </p:nvSpPr>
        <p:spPr/>
        <p:txBody>
          <a:bodyPr/>
          <a:lstStyle/>
          <a:p/>
        </p:txBody>
      </p:sp>
      <p:sp>
        <p:nvSpPr>
          <p:cNvPr id="4" name="Content Placeholder 3"/>
          <p:cNvSpPr>
            <a:spLocks noGrp="1"/>
          </p:cNvSpPr>
          <p:nvPr>
            <p:ph idx="10"/>
          </p:nvPr>
        </p:nvSpPr>
        <p:spPr/>
        <p:txBody>
          <a:bodyPr/>
          <a:lstStyle/>
          <a:p>
            <a:pPr lvl="1">
              <a:buChar char="•"/>
              <a:defRPr sz="1200"/>
            </a:pPr>
            <a:r>
              <a:t>Relations with old and new SSB will coexist in some nodes for a certain period, in some cases making intra-frequency relations become inter-frequency relations with impact on NR and ENDC mobility. Inter-frequency mobility will not be started until serving cell will go below a certain level entering the search zone, that might not be reached in locations that used to trigger intra-frequency mobility towards a best server. In addition, once the UE starts to measure either in idle or connected mode, the old and new SSBs will be reported in 2 separate frequencies and a cell ranked 3rd might become 1st after the split, creating the risk of connecting to cells suffering high interference.</a:t>
            </a:r>
          </a:p>
          <a:p>
            <a:pPr lvl="1">
              <a:buChar char="•"/>
              <a:defRPr sz="1200"/>
            </a:pPr>
            <a:r>
              <a:t>The amount and duration of such situations will depend on the retune clusterization and planning that should be aimed at minimizing the old and new SSB borders.</a:t>
            </a:r>
          </a:p>
          <a:p>
            <a:pPr lvl="1">
              <a:buChar char="•"/>
              <a:defRPr sz="1200"/>
            </a:pPr>
            <a:r>
              <a:t>Mobility optimizations might be recommended to mitigate the impact on KPIs such as drop rate.</a:t>
            </a:r>
          </a:p>
          <a:p>
            <a:pPr lvl="1">
              <a:buChar char="•"/>
              <a:defRPr sz="1200"/>
            </a:pPr>
            <a:r>
              <a:t>Full audit needed to evaluate the number of MOs and anticipate any additions that might be needed to the scripts for different markets.</a:t>
            </a:r>
          </a:p>
          <a:p>
            <a:pPr lvl="1">
              <a:buChar char="•"/>
              <a:defRPr sz="1200"/>
            </a:pPr>
            <a:r>
              <a:t>Detect if any MOs exceeding the allowed cardinality adding the new SSB definitions:</a:t>
            </a:r>
          </a:p>
          <a:p>
            <a:pPr lvl="2">
              <a:buChar char="•"/>
              <a:defRPr sz="1200"/>
            </a:pPr>
            <a:r>
              <a:t>Max NRFrequency definitions per node (limit 64)</a:t>
            </a:r>
          </a:p>
          <a:p>
            <a:pPr lvl="2">
              <a:buChar char="•"/>
              <a:defRPr sz="1200"/>
            </a:pPr>
            <a:r>
              <a:t>Max NRFreqRelation per NR cell (limit 16)</a:t>
            </a:r>
          </a:p>
          <a:p>
            <a:pPr lvl="2">
              <a:buChar char="•"/>
              <a:defRPr sz="1200"/>
            </a:pPr>
            <a:r>
              <a:t>Max GUtranSyncSignalFrequency definitions per node (limit 24)</a:t>
            </a:r>
          </a:p>
          <a:p>
            <a:pPr lvl="2">
              <a:buChar char="•"/>
              <a:defRPr sz="1200"/>
            </a:pPr>
            <a:r>
              <a:t>Max GUtranFreqRelation per LTE cell (limit 16)</a:t>
            </a:r>
          </a:p>
          <a:p>
            <a:pPr lvl="1">
              <a:buChar char="•"/>
              <a:defRPr sz="1200"/>
            </a:pPr>
            <a:r>
              <a:t>Identify retune+border clusters with markets being planned on different nights</a:t>
            </a:r>
          </a:p>
        </p:txBody>
      </p:sp>
      <p:pic>
        <p:nvPicPr>
          <p:cNvPr id="5" name="Picture 4" descr="clusters_definition.png"/>
          <p:cNvPicPr>
            <a:picLocks noChangeAspect="1"/>
          </p:cNvPicPr>
          <p:nvPr/>
        </p:nvPicPr>
        <p:blipFill>
          <a:blip r:embed="rId2"/>
          <a:stretch>
            <a:fillRect/>
          </a:stretch>
        </p:blipFill>
        <p:spPr>
          <a:xfrm>
            <a:off x="609600" y="1440920"/>
            <a:ext cx="5430520" cy="523614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a:p>
            <a:pPr>
              <a:defRPr b="0" sz="2000">
                <a:solidFill>
                  <a:schemeClr val="accent2"/>
                </a:solidFill>
              </a:defRPr>
            </a:pPr>
            <a:r>
              <a:t>Process: Initial network audit + Two Steps approach + Final Clean-Up</a:t>
            </a:r>
          </a:p>
        </p:txBody>
      </p:sp>
      <p:sp>
        <p:nvSpPr>
          <p:cNvPr id="3" name="Content Placeholder 2"/>
          <p:cNvSpPr>
            <a:spLocks noGrp="1"/>
          </p:cNvSpPr>
          <p:nvPr>
            <p:ph idx="1"/>
          </p:nvPr>
        </p:nvSpPr>
        <p:spPr/>
        <p:txBody>
          <a:bodyPr/>
          <a:lstStyle/>
          <a:p>
            <a:pPr>
              <a:buNone/>
              <a:defRPr b="1" sz="1400"/>
            </a:pPr>
            <a:r>
              <a:t>Step0, initial network audit</a:t>
            </a:r>
          </a:p>
          <a:p>
            <a:pPr lvl="1">
              <a:buChar char="•"/>
              <a:defRPr sz="1200"/>
            </a:pPr>
            <a:r>
              <a:t>Pre-checks export with all relevant MOs and params in retune+border clusters, including cellRelation. Evaluate the number of MOs and anticipate any additions that might be needed to the scripts for different markets</a:t>
            </a:r>
          </a:p>
          <a:p>
            <a:pPr>
              <a:buNone/>
              <a:defRPr b="1" sz="1400"/>
            </a:pPr>
            <a:r>
              <a:t>Step1, before SSB retune including neighboring sites</a:t>
            </a:r>
          </a:p>
          <a:p>
            <a:pPr lvl="1">
              <a:buChar char="•"/>
              <a:defRPr sz="1200"/>
            </a:pPr>
            <a:r>
              <a:t>Retune readiness in retune + neighboring clusters</a:t>
            </a:r>
          </a:p>
          <a:p>
            <a:pPr lvl="1">
              <a:buChar char="•"/>
              <a:defRPr sz="1200"/>
            </a:pPr>
            <a:r>
              <a:t>Following the clusterization and planning phase, there would be a first step preparing the network for the coexistence of old and new SSBs.</a:t>
            </a:r>
          </a:p>
          <a:p>
            <a:pPr lvl="1">
              <a:buChar char="•"/>
              <a:defRPr sz="1200"/>
            </a:pPr>
            <a:r>
              <a:t>New GUtranSyncSignalFrequency/GUtranFreqRelation and NRFrequency/NRFreqRelation instances following VZ naming convention added manually before SSB retune. Nodes of all NR and LTE bands with FreqRelations to the retuned frequency are considered</a:t>
            </a:r>
          </a:p>
          <a:p>
            <a:pPr lvl="1">
              <a:buChar char="•"/>
              <a:defRPr sz="1200"/>
            </a:pPr>
            <a:r>
              <a:t>NrFreqRel profiles containing new SSB names</a:t>
            </a:r>
          </a:p>
          <a:p>
            <a:pPr lvl="1">
              <a:buChar char="•"/>
              <a:defRPr sz="1200"/>
            </a:pPr>
            <a:r>
              <a:t>Low PRIO for new SSB: endcB1MeasPriority 2-&gt;1, to mitigate the impact in retune borders</a:t>
            </a:r>
          </a:p>
          <a:p>
            <a:pPr lvl="1">
              <a:buChar char="•"/>
              <a:defRPr sz="1200"/>
            </a:pPr>
            <a:r>
              <a:t>Add new SSB to FreqPrioNR</a:t>
            </a:r>
          </a:p>
          <a:p>
            <a:pPr>
              <a:buNone/>
              <a:defRPr b="1" sz="1400"/>
            </a:pPr>
            <a:r>
              <a:t>Step2, SSB retune cluster</a:t>
            </a:r>
          </a:p>
          <a:p>
            <a:pPr lvl="1">
              <a:buChar char="•"/>
              <a:defRPr sz="1200"/>
            </a:pPr>
            <a:r>
              <a:t>Finally, in the second step we will proceed with the SSB retune in the retune clusters.</a:t>
            </a:r>
          </a:p>
          <a:p>
            <a:pPr lvl="1">
              <a:buChar char="•"/>
              <a:defRPr sz="1200"/>
            </a:pPr>
            <a:r>
              <a:t>SSB retune NR N77 cells in a cluster</a:t>
            </a:r>
          </a:p>
          <a:p>
            <a:pPr lvl="1">
              <a:buChar char="•"/>
              <a:defRPr sz="1200"/>
            </a:pPr>
            <a:r>
              <a:t>NrCell, NrFreqRel and EUtranFreqRel profiles containing new SSB names</a:t>
            </a:r>
          </a:p>
          <a:p>
            <a:pPr lvl="1">
              <a:buChar char="•"/>
              <a:defRPr sz="1200"/>
            </a:pPr>
            <a:r>
              <a:t>Replace old SSB on EndcDistrProfile gUtranFreqRef and MandatoryGUtranFreqRef</a:t>
            </a:r>
          </a:p>
          <a:p>
            <a:pPr lvl="1">
              <a:buChar char="•"/>
              <a:defRPr sz="1200"/>
            </a:pPr>
            <a:r>
              <a:t>Normal PRIO for new SSB: endcB1MeasPriority 2</a:t>
            </a:r>
          </a:p>
          <a:p>
            <a:pPr lvl="1">
              <a:buChar char="•"/>
              <a:defRPr sz="1200"/>
            </a:pPr>
            <a:r>
              <a:t>Low PRIO for old SSB: endcB1MeasPriority 2-&gt;1, to mitigate the impact in retune borders</a:t>
            </a:r>
          </a:p>
          <a:p>
            <a:pPr lvl="1">
              <a:buChar char="•"/>
              <a:defRPr sz="1200"/>
            </a:pPr>
            <a:r>
              <a:t>Step2 Cleanup, Relations and ExternalCell that failed to update automatically</a:t>
            </a:r>
          </a:p>
          <a:p>
            <a:pPr lvl="2">
              <a:buChar char="•"/>
              <a:defRPr sz="1200"/>
            </a:pPr>
            <a:r>
              <a:t>Lock/unlock Termpoints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a:p>
            <a:pPr>
              <a:defRPr b="0" sz="2000">
                <a:solidFill>
                  <a:schemeClr val="accent2"/>
                </a:solidFill>
              </a:defRPr>
            </a:pPr>
            <a:r>
              <a:t>Process: Initial network audit + Two Steps approach + Final Clean-Up (cont.)</a:t>
            </a:r>
          </a:p>
        </p:txBody>
      </p:sp>
      <p:sp>
        <p:nvSpPr>
          <p:cNvPr id="3" name="Content Placeholder 2"/>
          <p:cNvSpPr>
            <a:spLocks noGrp="1"/>
          </p:cNvSpPr>
          <p:nvPr>
            <p:ph idx="1"/>
          </p:nvPr>
        </p:nvSpPr>
        <p:spPr/>
        <p:txBody>
          <a:bodyPr/>
          <a:lstStyle/>
          <a:p>
            <a:pPr lvl="2">
              <a:buChar char="•"/>
              <a:defRPr sz="1200"/>
            </a:pPr>
            <a:r>
              <a:t>Set ExternalCell Frequency</a:t>
            </a:r>
          </a:p>
          <a:p>
            <a:pPr lvl="2">
              <a:buChar char="•"/>
              <a:defRPr sz="1200"/>
            </a:pPr>
            <a:r>
              <a:t>Delete and re-create CellRelations</a:t>
            </a:r>
          </a:p>
          <a:p>
            <a:pPr lvl="2">
              <a:buChar char="•"/>
              <a:defRPr sz="1200"/>
            </a:pPr>
            <a:r>
              <a:t>Remove CellRelations that ANR might have added due to outage during SSB retune</a:t>
            </a:r>
          </a:p>
          <a:p>
            <a:pPr>
              <a:buNone/>
              <a:defRPr b="1" sz="1400"/>
            </a:pPr>
            <a:r>
              <a:t>Final Cleanup (after all clusters done in a region and no borders with old SSB)</a:t>
            </a:r>
          </a:p>
          <a:p>
            <a:pPr lvl="1">
              <a:buChar char="•"/>
              <a:defRPr sz="1200"/>
            </a:pPr>
            <a:r>
              <a:t>There should not be any CellRelation pointing to old SSB Freq</a:t>
            </a:r>
          </a:p>
          <a:p>
            <a:pPr lvl="1">
              <a:buChar char="•"/>
              <a:defRPr sz="1200"/>
            </a:pPr>
            <a:r>
              <a:t>Remove old SSB GUtranSyncSignalFrequency/GUtranFreqRelation and NRFrequency/NRFreqRelation</a:t>
            </a:r>
          </a:p>
          <a:p>
            <a:pPr lvl="1">
              <a:buChar char="•"/>
              <a:defRPr sz="1200"/>
            </a:pPr>
            <a:r>
              <a:t>Remove NrCell, NrFreqRel and EUtranFreqRel profiles containing old SSB names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Service Overview</a:t>
            </a:r>
          </a:p>
          <a:p>
            <a:pPr>
              <a:defRPr b="0" sz="2000">
                <a:solidFill>
                  <a:schemeClr val="accent2"/>
                </a:solidFill>
              </a:defRPr>
            </a:pPr>
            <a:r>
              <a:t>Retune process roadmap</a:t>
            </a:r>
          </a:p>
          <a:p>
            <a:pPr>
              <a:defRPr b="0" sz="1000"/>
            </a:pPr>
            <a:r>
              <a:t>Retune Process Roadmap</a:t>
            </a:r>
          </a:p>
        </p:txBody>
      </p:sp>
      <p:sp>
        <p:nvSpPr>
          <p:cNvPr id="3" name="Content Placeholder 2"/>
          <p:cNvSpPr>
            <a:spLocks noGrp="1"/>
          </p:cNvSpPr>
          <p:nvPr>
            <p:ph idx="1"/>
          </p:nvPr>
        </p:nvSpPr>
        <p:spPr/>
        <p:txBody>
          <a:bodyPr/>
          <a:lstStyle/>
          <a:p/>
        </p:txBody>
      </p:sp>
      <p:pic>
        <p:nvPicPr>
          <p:cNvPr id="4" name="Picture 3" descr="retune_process_roadmap.png"/>
          <p:cNvPicPr>
            <a:picLocks noChangeAspect="1"/>
          </p:cNvPicPr>
          <p:nvPr/>
        </p:nvPicPr>
        <p:blipFill>
          <a:blip r:embed="rId2"/>
          <a:stretch>
            <a:fillRect/>
          </a:stretch>
        </p:blipFill>
        <p:spPr>
          <a:xfrm>
            <a:off x="609600" y="1437111"/>
            <a:ext cx="10972800" cy="523995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Overview</a:t>
            </a:r>
          </a:p>
          <a:p>
            <a:pPr>
              <a:defRPr b="0" sz="2000">
                <a:solidFill>
                  <a:schemeClr val="accent2"/>
                </a:solidFill>
              </a:defRPr>
            </a:pPr>
            <a:r>
              <a:t>Structure and Inputs/Outputs</a:t>
            </a:r>
          </a:p>
        </p:txBody>
      </p:sp>
      <p:sp>
        <p:nvSpPr>
          <p:cNvPr id="3" name="Content Placeholder 2"/>
          <p:cNvSpPr>
            <a:spLocks noGrp="1"/>
          </p:cNvSpPr>
          <p:nvPr>
            <p:ph idx="1"/>
          </p:nvPr>
        </p:nvSpPr>
        <p:spPr/>
        <p:txBody>
          <a:bodyPr/>
          <a:lstStyle/>
          <a:p>
            <a:pPr>
              <a:buNone/>
              <a:defRPr b="1" sz="1400"/>
            </a:pPr>
            <a:r>
              <a:t>Structure</a:t>
            </a:r>
          </a:p>
          <a:p>
            <a:pPr lvl="1">
              <a:buChar char="•"/>
              <a:defRPr sz="1200"/>
            </a:pPr>
            <a:r>
              <a:t>SSB Retuning Automations is an automation platform for SSB retuning projects that can run in GUI or CLI mode or through a Web Interface (using a server/client infrastructure) and orchestrates five functional modules:</a:t>
            </a:r>
          </a:p>
          <a:p>
            <a:pPr lvl="2">
              <a:buChar char="•"/>
              <a:defRPr sz="1200"/>
            </a:pPr>
            <a:r>
              <a:t>Module 0: Update Network Frequencies.</a:t>
            </a:r>
          </a:p>
          <a:p>
            <a:pPr lvl="2">
              <a:buChar char="•"/>
              <a:defRPr sz="1200"/>
            </a:pPr>
            <a:r>
              <a:t>Module 1: Configuration Audit &amp; Logs Parser.</a:t>
            </a:r>
          </a:p>
          <a:p>
            <a:pPr lvl="2">
              <a:buChar char="•"/>
              <a:defRPr sz="1200"/>
            </a:pPr>
            <a:r>
              <a:t>Module 2: Consistency Check (manual Pre/Post).</a:t>
            </a:r>
          </a:p>
          <a:p>
            <a:pPr lvl="2">
              <a:buChar char="•"/>
              <a:defRPr sz="1200"/>
            </a:pPr>
            <a:r>
              <a:t>Module 3: Consistency Check Bulk (automatic Pre/Post detection by market).</a:t>
            </a:r>
          </a:p>
          <a:p>
            <a:pPr lvl="2">
              <a:buChar char="•"/>
              <a:defRPr sz="1200"/>
            </a:pPr>
            <a:r>
              <a:t>Module 4: Final Clean-Up.</a:t>
            </a:r>
          </a:p>
          <a:p>
            <a:pPr lvl="1">
              <a:buChar char="•"/>
              <a:defRPr sz="1200"/>
            </a:pPr>
            <a:r>
              <a:t>The main execution lives in "src/SSB_RetuningAutomations.py", where CLI arguments, GUI, configuration persistence, input resolution (folders/ZIP), per-module execution, and artifact versioning are managed.</a:t>
            </a:r>
          </a:p>
          <a:p>
            <a:pPr>
              <a:buNone/>
              <a:defRPr b="1" sz="1400"/>
            </a:pPr>
            <a:r>
              <a:t>Inputs</a:t>
            </a:r>
          </a:p>
          <a:p>
            <a:pPr>
              <a:buNone/>
              <a:defRPr sz="1200"/>
            </a:pPr>
            <a:r>
              <a:t>Inputs are folders (or ZIP archives) containing log files. The tool parses the logs into MO tables and runs checks on them. For ConsistencyChecks, provide either explicit PRE and POST folders or a single root folder where PRE/POST runs can be auto-detected.</a:t>
            </a:r>
          </a:p>
          <a:p>
            <a:pPr>
              <a:buNone/>
              <a:defRPr b="1" sz="1400"/>
            </a:pPr>
            <a:r>
              <a:t>Outputs</a:t>
            </a:r>
          </a:p>
          <a:p>
            <a:pPr>
              <a:buNone/>
              <a:defRPr sz="1200"/>
            </a:pPr>
            <a:r>
              <a:t>Each module generates a dedicated output folder containing Excel reports, logs, and optional correction command exports.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Overview</a:t>
            </a:r>
          </a:p>
          <a:p>
            <a:pPr>
              <a:defRPr b="0" sz="2000">
                <a:solidFill>
                  <a:schemeClr val="accent2"/>
                </a:solidFill>
              </a:defRPr>
            </a:pPr>
            <a:r>
              <a:t>Repository architecture, Execution modes and Versioning</a:t>
            </a:r>
          </a:p>
        </p:txBody>
      </p:sp>
      <p:sp>
        <p:nvSpPr>
          <p:cNvPr id="3" name="Content Placeholder 2"/>
          <p:cNvSpPr>
            <a:spLocks noGrp="1"/>
          </p:cNvSpPr>
          <p:nvPr>
            <p:ph idx="1"/>
          </p:nvPr>
        </p:nvSpPr>
        <p:spPr/>
        <p:txBody>
          <a:bodyPr/>
          <a:lstStyle/>
          <a:p>
            <a:pPr>
              <a:buNone/>
              <a:defRPr b="1" sz="1400"/>
            </a:pPr>
            <a:r>
              <a:t>Orchestration core</a:t>
            </a:r>
          </a:p>
          <a:p>
            <a:pPr lvl="1">
              <a:buChar char="•"/>
              <a:defRPr sz="1200"/>
            </a:pPr>
            <a:r>
              <a:t>"src/SSB_RetuningAutomations.py": entry point, CLI/GUI parsing, module routing, batch/bulk execution, and versioning.</a:t>
            </a:r>
          </a:p>
          <a:p>
            <a:pPr>
              <a:buNone/>
              <a:defRPr b="1" sz="1400"/>
            </a:pPr>
            <a:r>
              <a:t>Main modules files</a:t>
            </a:r>
          </a:p>
          <a:p>
            <a:pPr lvl="1">
              <a:buChar char="•"/>
              <a:defRPr sz="1200"/>
            </a:pPr>
            <a:r>
              <a:t>"src/modules/ConfigurationAudit/ConfigurationAudit.py": log parsing and audit workbook construction (Excel + PPT).</a:t>
            </a:r>
          </a:p>
          <a:p>
            <a:pPr lvl="1">
              <a:buChar char="•"/>
              <a:defRPr sz="1200"/>
            </a:pPr>
            <a:r>
              <a:t>"src/modules/ConfigurationAudit/ca_summary_excel.py": assembly of "SummaryAudit" and discrepancy dataframes.</a:t>
            </a:r>
          </a:p>
          <a:p>
            <a:pPr lvl="1">
              <a:buChar char="•"/>
              <a:defRPr sz="1200"/>
            </a:pPr>
            <a:r>
              <a:t>"src/modules/ConsistencyChecks/ConsistencyChecks.py": PRE/POST loading, relation comparison, discrepancies, and output export.</a:t>
            </a:r>
          </a:p>
          <a:p>
            <a:pPr lvl="1">
              <a:buChar char="•"/>
              <a:defRPr sz="1200"/>
            </a:pPr>
            <a:r>
              <a:t>"src/modules/ProfilesAudit/ProfilesAudit.py": profiles audit (integrated into module 1).</a:t>
            </a:r>
          </a:p>
          <a:p>
            <a:pPr lvl="1">
              <a:buChar char="•"/>
              <a:defRPr sz="1200"/>
            </a:pPr>
            <a:r>
              <a:t>"src/modules/CleanUp/FinalCleanUp.py": final clean-up (base implementation for extension).</a:t>
            </a:r>
          </a:p>
          <a:p>
            <a:pPr>
              <a:buNone/>
              <a:defRPr b="1" sz="1400"/>
            </a:pPr>
            <a:r>
              <a:t>Common layer and utilities</a:t>
            </a:r>
          </a:p>
          <a:p>
            <a:pPr lvl="1">
              <a:buChar char="•"/>
              <a:defRPr sz="1200"/>
            </a:pPr>
            <a:r>
              <a:t>"src/modules/Common/*.py": correction command logic and shared functions.</a:t>
            </a:r>
          </a:p>
          <a:p>
            <a:pPr lvl="1">
              <a:buChar char="•"/>
              <a:defRPr sz="1200"/>
            </a:pPr>
            <a:r>
              <a:t>"src/utils/*.py": IO, parsing, frequency handling, Excel, pivots, sorting, infrastructure, and timing.</a:t>
            </a:r>
          </a:p>
          <a:p>
            <a:pPr>
              <a:buNone/>
              <a:defRPr b="1" sz="1400"/>
            </a:pPr>
            <a:r>
              <a:t>Execution modes</a:t>
            </a:r>
          </a:p>
          <a:p>
            <a:pPr lvl="1">
              <a:buChar char="•"/>
              <a:defRPr sz="1200"/>
            </a:pPr>
            <a:r>
              <a:t>The tool can be run in three different modes:</a:t>
            </a:r>
          </a:p>
          <a:p>
            <a:pPr lvl="2">
              <a:buChar char="•"/>
              <a:defRPr sz="1200"/>
            </a:pPr>
            <a:r>
              <a:t>GUI mode: run without CLI arguments.</a:t>
            </a:r>
          </a:p>
          <a:p>
            <a:pPr lvl="2">
              <a:buChar char="•"/>
              <a:defRPr sz="1200"/>
            </a:pPr>
            <a:r>
              <a:t>CLI mode: run with explicit module and options.</a:t>
            </a:r>
          </a:p>
          <a:p>
            <a:pPr lvl="2">
              <a:buChar char="•"/>
              <a:defRPr sz="1200"/>
            </a:pPr>
            <a:r>
              <a:t>Web Interfacee: the tool can be run in a server/client infrastructure, accessing the server through a Web Interface where you can unpload your inputs, enqueue different tasks and  export the results when finish..</a:t>
            </a:r>
          </a:p>
          <a:p>
            <a:pPr>
              <a:buNone/>
              <a:defRPr b="1" sz="1400"/>
            </a:pPr>
            <a:r>
              <a:t>Versioning</a:t>
            </a:r>
          </a:p>
          <a:p>
            <a:pPr lvl="1">
              <a:buChar char="•"/>
              <a:defRPr sz="1200"/>
            </a:pPr>
            <a:r>
              <a:t>All Generated artifacts include a versioned suffix: "&lt;timestamp&gt;_v&lt;TOOL_VERSION&gt;". This guarantees traceability and avoids collisions between runs.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Interfaces</a:t>
            </a:r>
          </a:p>
          <a:p>
            <a:pPr>
              <a:defRPr b="0" sz="2000">
                <a:solidFill>
                  <a:schemeClr val="accent2"/>
                </a:solidFill>
              </a:defRPr>
            </a:pPr>
            <a:r>
              <a:t>Graphical User Interface - GUI Panel</a:t>
            </a:r>
          </a:p>
        </p:txBody>
      </p:sp>
      <p:sp>
        <p:nvSpPr>
          <p:cNvPr id="3" name="Content Placeholder 2"/>
          <p:cNvSpPr>
            <a:spLocks noGrp="1"/>
          </p:cNvSpPr>
          <p:nvPr>
            <p:ph idx="1"/>
          </p:nvPr>
        </p:nvSpPr>
        <p:spPr/>
        <p:txBody>
          <a:bodyPr/>
          <a:lstStyle/>
          <a:p/>
        </p:txBody>
      </p:sp>
      <p:sp>
        <p:nvSpPr>
          <p:cNvPr id="4" name="Content Placeholder 3"/>
          <p:cNvSpPr>
            <a:spLocks noGrp="1"/>
          </p:cNvSpPr>
          <p:nvPr>
            <p:ph idx="10"/>
          </p:nvPr>
        </p:nvSpPr>
        <p:spPr/>
        <p:txBody>
          <a:bodyPr/>
          <a:lstStyle/>
          <a:p>
            <a:pPr lvl="1">
              <a:buChar char="•"/>
              <a:defRPr sz="1200"/>
            </a:pPr>
            <a:r>
              <a:t>This is the main Graphical User Interface for SSB Retuning Automations.. From this panel you can select the modules you want to run and the inputs you want to provide.</a:t>
            </a:r>
          </a:p>
          <a:p>
            <a:pPr lvl="1">
              <a:buChar char="•"/>
              <a:defRPr sz="1200"/>
            </a:pPr>
            <a:r>
              <a:t>You can also configure some settings like the network frequencies to use or the Input folder to use.</a:t>
            </a:r>
          </a:p>
          <a:p>
            <a:pPr lvl="1">
              <a:buChar char="•"/>
              <a:defRPr sz="1200"/>
            </a:pPr>
            <a:r>
              <a:t>The tool will then run the selected modules and generate the outputs.</a:t>
            </a:r>
          </a:p>
        </p:txBody>
      </p:sp>
      <p:pic>
        <p:nvPicPr>
          <p:cNvPr id="5" name="Picture 4" descr="gui-interface.png"/>
          <p:cNvPicPr>
            <a:picLocks noChangeAspect="1"/>
          </p:cNvPicPr>
          <p:nvPr/>
        </p:nvPicPr>
        <p:blipFill>
          <a:blip r:embed="rId2"/>
          <a:stretch>
            <a:fillRect/>
          </a:stretch>
        </p:blipFill>
        <p:spPr>
          <a:xfrm>
            <a:off x="609600" y="1440920"/>
            <a:ext cx="5430520" cy="523614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Interfaces</a:t>
            </a:r>
          </a:p>
          <a:p>
            <a:pPr>
              <a:defRPr b="0" sz="2000">
                <a:solidFill>
                  <a:schemeClr val="accent2"/>
                </a:solidFill>
              </a:defRPr>
            </a:pPr>
            <a:r>
              <a:t>Web Interface - User Section</a:t>
            </a:r>
          </a:p>
        </p:txBody>
      </p:sp>
      <p:sp>
        <p:nvSpPr>
          <p:cNvPr id="3" name="Content Placeholder 2"/>
          <p:cNvSpPr>
            <a:spLocks noGrp="1"/>
          </p:cNvSpPr>
          <p:nvPr>
            <p:ph idx="1"/>
          </p:nvPr>
        </p:nvSpPr>
        <p:spPr/>
        <p:txBody>
          <a:bodyPr/>
          <a:lstStyle/>
          <a:p/>
        </p:txBody>
      </p:sp>
      <p:sp>
        <p:nvSpPr>
          <p:cNvPr id="4" name="Content Placeholder 3"/>
          <p:cNvSpPr>
            <a:spLocks noGrp="1"/>
          </p:cNvSpPr>
          <p:nvPr>
            <p:ph idx="10"/>
          </p:nvPr>
        </p:nvSpPr>
        <p:spPr/>
        <p:txBody>
          <a:bodyPr/>
          <a:lstStyle/>
          <a:p>
            <a:pPr lvl="1">
              <a:buChar char="•"/>
              <a:defRPr sz="1200"/>
            </a:pPr>
            <a:r>
              <a:t>This is the main Web Interface for SSB Retuning Automations. From this panel you can select the modules you want to run and the inputs you want to provide.</a:t>
            </a:r>
          </a:p>
          <a:p>
            <a:pPr lvl="1">
              <a:buChar char="•"/>
              <a:defRPr sz="1200"/>
            </a:pPr>
            <a:r>
              <a:t>You can also configure some settings like the network frequencies to use or the Input folder to use.</a:t>
            </a:r>
          </a:p>
          <a:p>
            <a:pPr lvl="1">
              <a:buChar char="•"/>
              <a:defRPr sz="1200"/>
            </a:pPr>
            <a:r>
              <a:t>The tool will then run the selected modules and generate the outputs.</a:t>
            </a:r>
          </a:p>
        </p:txBody>
      </p:sp>
      <p:pic>
        <p:nvPicPr>
          <p:cNvPr id="5" name="Picture 4" descr="web-interface-user-panel.png"/>
          <p:cNvPicPr>
            <a:picLocks noChangeAspect="1"/>
          </p:cNvPicPr>
          <p:nvPr/>
        </p:nvPicPr>
        <p:blipFill>
          <a:blip r:embed="rId2"/>
          <a:stretch>
            <a:fillRect/>
          </a:stretch>
        </p:blipFill>
        <p:spPr>
          <a:xfrm>
            <a:off x="609600" y="1440920"/>
            <a:ext cx="5430520" cy="523614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Interfaces</a:t>
            </a:r>
          </a:p>
          <a:p>
            <a:pPr>
              <a:defRPr b="0" sz="2000">
                <a:solidFill>
                  <a:schemeClr val="accent2"/>
                </a:solidFill>
              </a:defRPr>
            </a:pPr>
            <a:r>
              <a:t>Web Interface - Admin Section</a:t>
            </a:r>
          </a:p>
        </p:txBody>
      </p:sp>
      <p:sp>
        <p:nvSpPr>
          <p:cNvPr id="3" name="Content Placeholder 2"/>
          <p:cNvSpPr>
            <a:spLocks noGrp="1"/>
          </p:cNvSpPr>
          <p:nvPr>
            <p:ph idx="1"/>
          </p:nvPr>
        </p:nvSpPr>
        <p:spPr/>
        <p:txBody>
          <a:bodyPr/>
          <a:lstStyle/>
          <a:p/>
        </p:txBody>
      </p:sp>
      <p:sp>
        <p:nvSpPr>
          <p:cNvPr id="4" name="Content Placeholder 3"/>
          <p:cNvSpPr>
            <a:spLocks noGrp="1"/>
          </p:cNvSpPr>
          <p:nvPr>
            <p:ph idx="10"/>
          </p:nvPr>
        </p:nvSpPr>
        <p:spPr/>
        <p:txBody>
          <a:bodyPr/>
          <a:lstStyle/>
          <a:p>
            <a:pPr lvl="1">
              <a:buChar char="•"/>
              <a:defRPr sz="1200"/>
            </a:pPr>
            <a:r>
              <a:t>This is the main Administrator Panel for SSB Retuning Automations. From this panel you can manage the configuration of the tool, view logs and manage user access.</a:t>
            </a:r>
          </a:p>
        </p:txBody>
      </p:sp>
      <p:pic>
        <p:nvPicPr>
          <p:cNvPr id="5" name="Picture 4" descr="web-interface-admin-panel.png"/>
          <p:cNvPicPr>
            <a:picLocks noChangeAspect="1"/>
          </p:cNvPicPr>
          <p:nvPr/>
        </p:nvPicPr>
        <p:blipFill>
          <a:blip r:embed="rId2"/>
          <a:stretch>
            <a:fillRect/>
          </a:stretch>
        </p:blipFill>
        <p:spPr>
          <a:xfrm>
            <a:off x="609600" y="1440920"/>
            <a:ext cx="5430520" cy="523614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Interfaces</a:t>
            </a:r>
          </a:p>
          <a:p>
            <a:pPr>
              <a:defRPr b="0" sz="2000">
                <a:solidFill>
                  <a:schemeClr val="accent2"/>
                </a:solidFill>
              </a:defRPr>
            </a:pPr>
            <a:r>
              <a:t>Web Interface - Inputs Repository Panel</a:t>
            </a:r>
          </a:p>
        </p:txBody>
      </p:sp>
      <p:sp>
        <p:nvSpPr>
          <p:cNvPr id="3" name="Content Placeholder 2"/>
          <p:cNvSpPr>
            <a:spLocks noGrp="1"/>
          </p:cNvSpPr>
          <p:nvPr>
            <p:ph idx="1"/>
          </p:nvPr>
        </p:nvSpPr>
        <p:spPr/>
        <p:txBody>
          <a:bodyPr/>
          <a:lstStyle/>
          <a:p/>
        </p:txBody>
      </p:sp>
      <p:sp>
        <p:nvSpPr>
          <p:cNvPr id="4" name="Content Placeholder 3"/>
          <p:cNvSpPr>
            <a:spLocks noGrp="1"/>
          </p:cNvSpPr>
          <p:nvPr>
            <p:ph idx="10"/>
          </p:nvPr>
        </p:nvSpPr>
        <p:spPr/>
        <p:txBody>
          <a:bodyPr/>
          <a:lstStyle/>
          <a:p>
            <a:pPr lvl="1">
              <a:buChar char="•"/>
              <a:defRPr sz="1200"/>
            </a:pPr>
            <a:r>
              <a:t>You can see some information about the Inputs Repository.</a:t>
            </a:r>
          </a:p>
        </p:txBody>
      </p:sp>
      <p:pic>
        <p:nvPicPr>
          <p:cNvPr id="5" name="Picture 4" descr="web-interface-inputs-executions-panels.png"/>
          <p:cNvPicPr>
            <a:picLocks noChangeAspect="1"/>
          </p:cNvPicPr>
          <p:nvPr/>
        </p:nvPicPr>
        <p:blipFill>
          <a:blip r:embed="rId2"/>
          <a:stretch>
            <a:fillRect/>
          </a:stretch>
        </p:blipFill>
        <p:spPr>
          <a:xfrm>
            <a:off x="609600" y="1440920"/>
            <a:ext cx="5430520" cy="5236145"/>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Interfaces</a:t>
            </a:r>
          </a:p>
          <a:p>
            <a:pPr>
              <a:defRPr b="0" sz="2000">
                <a:solidFill>
                  <a:schemeClr val="accent2"/>
                </a:solidFill>
              </a:defRPr>
            </a:pPr>
            <a:r>
              <a:t>Web Interface - Executions and System Logs Panels</a:t>
            </a:r>
          </a:p>
        </p:txBody>
      </p:sp>
      <p:sp>
        <p:nvSpPr>
          <p:cNvPr id="3" name="Content Placeholder 2"/>
          <p:cNvSpPr>
            <a:spLocks noGrp="1"/>
          </p:cNvSpPr>
          <p:nvPr>
            <p:ph idx="1"/>
          </p:nvPr>
        </p:nvSpPr>
        <p:spPr/>
        <p:txBody>
          <a:bodyPr/>
          <a:lstStyle/>
          <a:p/>
        </p:txBody>
      </p:sp>
      <p:sp>
        <p:nvSpPr>
          <p:cNvPr id="4" name="Content Placeholder 3"/>
          <p:cNvSpPr>
            <a:spLocks noGrp="1"/>
          </p:cNvSpPr>
          <p:nvPr>
            <p:ph idx="10"/>
          </p:nvPr>
        </p:nvSpPr>
        <p:spPr/>
        <p:txBody>
          <a:bodyPr/>
          <a:lstStyle/>
          <a:p>
            <a:pPr lvl="1">
              <a:buChar char="•"/>
              <a:defRPr sz="1200"/>
            </a:pPr>
            <a:r>
              <a:t>You can see some information about Last Executions and some useful System Logs of the tool.</a:t>
            </a:r>
          </a:p>
        </p:txBody>
      </p:sp>
      <p:pic>
        <p:nvPicPr>
          <p:cNvPr id="5" name="Picture 4" descr="web-interface-logs-panels.png"/>
          <p:cNvPicPr>
            <a:picLocks noChangeAspect="1"/>
          </p:cNvPicPr>
          <p:nvPr/>
        </p:nvPicPr>
        <p:blipFill>
          <a:blip r:embed="rId2"/>
          <a:stretch>
            <a:fillRect/>
          </a:stretch>
        </p:blipFill>
        <p:spPr>
          <a:xfrm>
            <a:off x="609600" y="1440920"/>
            <a:ext cx="5430520" cy="523614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Interfaces</a:t>
            </a:r>
          </a:p>
          <a:p>
            <a:pPr>
              <a:defRPr b="0" sz="2000">
                <a:solidFill>
                  <a:schemeClr val="accent2"/>
                </a:solidFill>
              </a:defRPr>
            </a:pPr>
            <a:r>
              <a:t>Web Interface - Database Management Panels</a:t>
            </a:r>
          </a:p>
        </p:txBody>
      </p:sp>
      <p:sp>
        <p:nvSpPr>
          <p:cNvPr id="3" name="Content Placeholder 2"/>
          <p:cNvSpPr>
            <a:spLocks noGrp="1"/>
          </p:cNvSpPr>
          <p:nvPr>
            <p:ph idx="1"/>
          </p:nvPr>
        </p:nvSpPr>
        <p:spPr/>
        <p:txBody>
          <a:bodyPr/>
          <a:lstStyle/>
          <a:p/>
        </p:txBody>
      </p:sp>
      <p:sp>
        <p:nvSpPr>
          <p:cNvPr id="4" name="Content Placeholder 3"/>
          <p:cNvSpPr>
            <a:spLocks noGrp="1"/>
          </p:cNvSpPr>
          <p:nvPr>
            <p:ph idx="10"/>
          </p:nvPr>
        </p:nvSpPr>
        <p:spPr/>
        <p:txBody>
          <a:bodyPr/>
          <a:lstStyle/>
          <a:p>
            <a:pPr lvl="1">
              <a:buChar char="•"/>
              <a:defRPr sz="1200"/>
            </a:pPr>
            <a:r>
              <a:t>With those panels you can manage the database of the tool, schedule backups tasks, or edit the database content directly.</a:t>
            </a:r>
          </a:p>
        </p:txBody>
      </p:sp>
      <p:pic>
        <p:nvPicPr>
          <p:cNvPr id="5" name="Picture 4" descr="web-interface-database-management-panels.png"/>
          <p:cNvPicPr>
            <a:picLocks noChangeAspect="1"/>
          </p:cNvPicPr>
          <p:nvPr/>
        </p:nvPicPr>
        <p:blipFill>
          <a:blip r:embed="rId2"/>
          <a:stretch>
            <a:fillRect/>
          </a:stretch>
        </p:blipFill>
        <p:spPr>
          <a:xfrm>
            <a:off x="609600" y="1440920"/>
            <a:ext cx="5430520" cy="5236145"/>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Interfaces</a:t>
            </a:r>
          </a:p>
          <a:p>
            <a:pPr>
              <a:defRPr b="0" sz="2000">
                <a:solidFill>
                  <a:schemeClr val="accent2"/>
                </a:solidFill>
              </a:defRPr>
            </a:pPr>
            <a:r>
              <a:t>Command Line Interface - CLI</a:t>
            </a:r>
          </a:p>
        </p:txBody>
      </p:sp>
      <p:sp>
        <p:nvSpPr>
          <p:cNvPr id="3" name="Content Placeholder 2"/>
          <p:cNvSpPr>
            <a:spLocks noGrp="1"/>
          </p:cNvSpPr>
          <p:nvPr>
            <p:ph idx="1"/>
          </p:nvPr>
        </p:nvSpPr>
        <p:spPr/>
        <p:txBody>
          <a:bodyPr/>
          <a:lstStyle/>
          <a:p>
            <a:pPr>
              <a:buNone/>
              <a:defRPr sz="1200"/>
            </a:pPr>
            <a:r>
              <a:t>With the CLI you can run the modules you want to run and provide all different arguments you need.</a:t>
            </a:r>
          </a:p>
          <a:p>
            <a:pPr>
              <a:buNone/>
              <a:defRPr sz="1200"/>
            </a:pPr>
            <a:r>
              <a:t>▶️ Basic Syntax:</a:t>
            </a:r>
          </a:p>
          <a:p>
            <a:pPr lvl="1">
              <a:buChar char="•"/>
              <a:defRPr sz="1200"/>
            </a:pPr>
            <a:r>
              <a:t>SSB_RetuningAutomations.exe --module &lt;module-name&gt; [options]</a:t>
            </a:r>
          </a:p>
          <a:p>
            <a:pPr lvl="1">
              <a:buChar char="•"/>
              <a:defRPr sz="1200"/>
            </a:pPr>
            <a:r>
              <a:t>If "--module" is omitted and no other arguments are provided, the GUI will launch automatically unless "--no-gui" is specified.</a:t>
            </a:r>
          </a:p>
          <a:p>
            <a:pPr>
              <a:buNone/>
              <a:defRPr sz="1200"/>
            </a:pPr>
            <a:r>
              <a:t>⚙️ Main Options:</a:t>
            </a:r>
          </a:p>
        </p:txBody>
      </p:sp>
      <p:graphicFrame>
        <p:nvGraphicFramePr>
          <p:cNvPr id="4" name="Table 3"/>
          <p:cNvGraphicFramePr>
            <a:graphicFrameLocks noGrp="1"/>
          </p:cNvGraphicFramePr>
          <p:nvPr/>
        </p:nvGraphicFramePr>
        <p:xfrm>
          <a:off x="609600" y="2871817"/>
          <a:ext cx="10972800" cy="1031240"/>
        </p:xfrm>
        <a:graphic>
          <a:graphicData uri="http://schemas.openxmlformats.org/drawingml/2006/table">
            <a:tbl>
              <a:tblPr firstRow="1" bandRow="1">
                <a:tableStyleId>{5C22544A-7EE6-4342-B048-85BDC9FD1C3A}</a:tableStyleId>
              </a:tblPr>
              <a:tblGrid>
                <a:gridCol w="2185489"/>
                <a:gridCol w="8787311"/>
              </a:tblGrid>
              <a:tr h="158750">
                <a:tc>
                  <a:txBody>
                    <a:bodyPr wrap="square" lIns="25400" rIns="25400" tIns="12700" bIns="12700"/>
                    <a:lstStyle/>
                    <a:p>
                      <a:pPr>
                        <a:defRPr b="1" sz="1000">
                          <a:solidFill>
                            <a:srgbClr val="FFFFFF"/>
                          </a:solidFill>
                        </a:defRPr>
                      </a:pPr>
                      <a:r>
                        <a:t>Argument</a:t>
                      </a:r>
                    </a:p>
                  </a:txBody>
                  <a:tcPr>
                    <a:solidFill>
                      <a:srgbClr val="1F4E79"/>
                    </a:solidFill>
                  </a:tcPr>
                </a:tc>
                <a:tc>
                  <a:txBody>
                    <a:bodyPr wrap="square" lIns="25400" rIns="25400" tIns="12700" bIns="12700"/>
                    <a:lstStyle/>
                    <a:p>
                      <a:pPr>
                        <a:defRPr b="1" sz="1000">
                          <a:solidFill>
                            <a:srgbClr val="FFFFFF"/>
                          </a:solidFill>
                        </a:defRPr>
                      </a:pPr>
                      <a:r>
                        <a:t>Description</a:t>
                      </a:r>
                    </a:p>
                  </a:txBody>
                  <a:tcPr>
                    <a:solidFill>
                      <a:srgbClr val="1F4E79"/>
                    </a:solidFill>
                  </a:tcPr>
                </a:tc>
              </a:tr>
              <a:tr h="145415">
                <a:tc>
                  <a:txBody>
                    <a:bodyPr wrap="square" lIns="25400" rIns="25400" tIns="12700" bIns="12700"/>
                    <a:lstStyle/>
                    <a:p>
                      <a:pPr>
                        <a:defRPr sz="700">
                          <a:solidFill>
                            <a:srgbClr val="282828"/>
                          </a:solidFill>
                        </a:defRPr>
                      </a:pPr>
                      <a:r>
                        <a:t>--module</a:t>
                      </a:r>
                    </a:p>
                  </a:txBody>
                  <a:tcPr/>
                </a:tc>
                <a:tc>
                  <a:txBody>
                    <a:bodyPr wrap="square" lIns="25400" rIns="25400" tIns="12700" bIns="12700"/>
                    <a:lstStyle/>
                    <a:p>
                      <a:pPr>
                        <a:defRPr sz="700">
                          <a:solidFill>
                            <a:srgbClr val="282828"/>
                          </a:solidFill>
                        </a:defRPr>
                      </a:pPr>
                      <a:r>
                        <a:t>Module to run: ["configuration-audit", "consistency-check", "consistency-check-bulk", "final-cleanup"]</a:t>
                      </a:r>
                    </a:p>
                  </a:txBody>
                  <a:tcPr/>
                </a:tc>
              </a:tr>
              <a:tr h="145415">
                <a:tc>
                  <a:txBody>
                    <a:bodyPr wrap="square" lIns="25400" rIns="25400" tIns="12700" bIns="12700"/>
                    <a:lstStyle/>
                    <a:p>
                      <a:pPr>
                        <a:defRPr sz="700">
                          <a:solidFill>
                            <a:srgbClr val="282828"/>
                          </a:solidFill>
                        </a:defRPr>
                      </a:pPr>
                      <a:r>
                        <a:t>--input</a:t>
                      </a:r>
                    </a:p>
                  </a:txBody>
                  <a:tcPr>
                    <a:solidFill>
                      <a:srgbClr val="F2F6FC"/>
                    </a:solidFill>
                  </a:tcPr>
                </a:tc>
                <a:tc>
                  <a:txBody>
                    <a:bodyPr wrap="square" lIns="25400" rIns="25400" tIns="12700" bIns="12700"/>
                    <a:lstStyle/>
                    <a:p>
                      <a:pPr>
                        <a:defRPr sz="700">
                          <a:solidFill>
                            <a:srgbClr val="282828"/>
                          </a:solidFill>
                        </a:defRPr>
                      </a:pPr>
                      <a:r>
                        <a:t>Input folder to process (single-input modules)</a:t>
                      </a:r>
                    </a:p>
                  </a:txBody>
                  <a:tcPr>
                    <a:solidFill>
                      <a:srgbClr val="F2F6FC"/>
                    </a:solidFill>
                  </a:tcPr>
                </a:tc>
              </a:tr>
              <a:tr h="145415">
                <a:tc>
                  <a:txBody>
                    <a:bodyPr wrap="square" lIns="25400" rIns="25400" tIns="12700" bIns="12700"/>
                    <a:lstStyle/>
                    <a:p>
                      <a:pPr>
                        <a:defRPr sz="700">
                          <a:solidFill>
                            <a:srgbClr val="282828"/>
                          </a:solidFill>
                        </a:defRPr>
                      </a:pPr>
                      <a:r>
                        <a:t>--inputs</a:t>
                      </a:r>
                    </a:p>
                  </a:txBody>
                  <a:tcPr/>
                </a:tc>
                <a:tc>
                  <a:txBody>
                    <a:bodyPr wrap="square" lIns="25400" rIns="25400" tIns="12700" bIns="12700"/>
                    <a:lstStyle/>
                    <a:p>
                      <a:pPr>
                        <a:defRPr sz="700">
                          <a:solidFill>
                            <a:srgbClr val="282828"/>
                          </a:solidFill>
                        </a:defRPr>
                      </a:pPr>
                      <a:r>
                        <a:t>Input folders to process module in batch mode. Example: "--module configuration-audit --inputs dir1 dir2 dir3"</a:t>
                      </a:r>
                    </a:p>
                  </a:txBody>
                  <a:tcPr/>
                </a:tc>
              </a:tr>
              <a:tr h="145415">
                <a:tc>
                  <a:txBody>
                    <a:bodyPr wrap="square" lIns="25400" rIns="25400" tIns="12700" bIns="12700"/>
                    <a:lstStyle/>
                    <a:p>
                      <a:pPr>
                        <a:defRPr sz="700">
                          <a:solidFill>
                            <a:srgbClr val="282828"/>
                          </a:solidFill>
                        </a:defRPr>
                      </a:pPr>
                      <a:r>
                        <a:t>--input-pre</a:t>
                      </a:r>
                    </a:p>
                  </a:txBody>
                  <a:tcPr>
                    <a:solidFill>
                      <a:srgbClr val="F2F6FC"/>
                    </a:solidFill>
                  </a:tcPr>
                </a:tc>
                <a:tc>
                  <a:txBody>
                    <a:bodyPr wrap="square" lIns="25400" rIns="25400" tIns="12700" bIns="12700"/>
                    <a:lstStyle/>
                    <a:p>
                      <a:pPr>
                        <a:defRPr sz="700">
                          <a:solidFill>
                            <a:srgbClr val="282828"/>
                          </a:solidFill>
                        </a:defRPr>
                      </a:pPr>
                      <a:r>
                        <a:t>PRE input folder (only for "consistency-check")</a:t>
                      </a:r>
                    </a:p>
                  </a:txBody>
                  <a:tcPr>
                    <a:solidFill>
                      <a:srgbClr val="F2F6FC"/>
                    </a:solidFill>
                  </a:tcPr>
                </a:tc>
              </a:tr>
              <a:tr h="145415">
                <a:tc>
                  <a:txBody>
                    <a:bodyPr wrap="square" lIns="25400" rIns="25400" tIns="12700" bIns="12700"/>
                    <a:lstStyle/>
                    <a:p>
                      <a:pPr>
                        <a:defRPr sz="700">
                          <a:solidFill>
                            <a:srgbClr val="282828"/>
                          </a:solidFill>
                        </a:defRPr>
                      </a:pPr>
                      <a:r>
                        <a:t>--input-post</a:t>
                      </a:r>
                    </a:p>
                  </a:txBody>
                  <a:tcPr/>
                </a:tc>
                <a:tc>
                  <a:txBody>
                    <a:bodyPr wrap="square" lIns="25400" rIns="25400" tIns="12700" bIns="12700"/>
                    <a:lstStyle/>
                    <a:p>
                      <a:pPr>
                        <a:defRPr sz="700">
                          <a:solidFill>
                            <a:srgbClr val="282828"/>
                          </a:solidFill>
                        </a:defRPr>
                      </a:pPr>
                      <a:r>
                        <a:t>POST input folder (only for "consistency-check")</a:t>
                      </a:r>
                    </a:p>
                  </a:txBody>
                  <a:tcPr/>
                </a:tc>
              </a:tr>
              <a:tr h="145415">
                <a:tc>
                  <a:txBody>
                    <a:bodyPr wrap="square" lIns="25400" rIns="25400" tIns="12700" bIns="12700"/>
                    <a:lstStyle/>
                    <a:p>
                      <a:pPr>
                        <a:defRPr sz="700">
                          <a:solidFill>
                            <a:srgbClr val="282828"/>
                          </a:solidFill>
                        </a:defRPr>
                      </a:pPr>
                      <a:r>
                        <a:t>--output</a:t>
                      </a:r>
                    </a:p>
                  </a:txBody>
                  <a:tcPr>
                    <a:solidFill>
                      <a:srgbClr val="F2F6FC"/>
                    </a:solidFill>
                  </a:tcPr>
                </a:tc>
                <a:tc>
                  <a:txBody>
                    <a:bodyPr wrap="square" lIns="25400" rIns="25400" tIns="12700" bIns="12700"/>
                    <a:lstStyle/>
                    <a:p>
                      <a:pPr>
                        <a:defRPr sz="700">
                          <a:solidFill>
                            <a:srgbClr val="282828"/>
                          </a:solidFill>
                        </a:defRPr>
                      </a:pPr>
                      <a:r>
                        <a:t>Output root folder override (all modules). The tool still creates the same module/version subfolder logic under this root.</a:t>
                      </a:r>
                    </a:p>
                  </a:txBody>
                  <a:tcPr>
                    <a:solidFill>
                      <a:srgbClr val="F2F6FC"/>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Interfaces</a:t>
            </a:r>
          </a:p>
          <a:p>
            <a:pPr>
              <a:defRPr b="0" sz="2000">
                <a:solidFill>
                  <a:schemeClr val="accent2"/>
                </a:solidFill>
              </a:defRPr>
            </a:pPr>
            <a:r>
              <a:t>Command Line Interface - CLI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609600" y="1437111"/>
          <a:ext cx="10972800" cy="2409190"/>
        </p:xfrm>
        <a:graphic>
          <a:graphicData uri="http://schemas.openxmlformats.org/drawingml/2006/table">
            <a:tbl>
              <a:tblPr firstRow="1" bandRow="1">
                <a:tableStyleId>{5C22544A-7EE6-4342-B048-85BDC9FD1C3A}</a:tableStyleId>
              </a:tblPr>
              <a:tblGrid>
                <a:gridCol w="2589757"/>
                <a:gridCol w="8383043"/>
              </a:tblGrid>
              <a:tr h="158750">
                <a:tc>
                  <a:txBody>
                    <a:bodyPr wrap="square" lIns="25400" rIns="25400" tIns="12700" bIns="12700"/>
                    <a:lstStyle/>
                    <a:p>
                      <a:pPr>
                        <a:defRPr b="1" sz="1000">
                          <a:solidFill>
                            <a:srgbClr val="FFFFFF"/>
                          </a:solidFill>
                        </a:defRPr>
                      </a:pPr>
                      <a:r>
                        <a:t>Argument</a:t>
                      </a:r>
                    </a:p>
                  </a:txBody>
                  <a:tcPr>
                    <a:solidFill>
                      <a:srgbClr val="1F4E79"/>
                    </a:solidFill>
                  </a:tcPr>
                </a:tc>
                <a:tc>
                  <a:txBody>
                    <a:bodyPr wrap="square" lIns="25400" rIns="25400" tIns="12700" bIns="12700"/>
                    <a:lstStyle/>
                    <a:p>
                      <a:pPr>
                        <a:defRPr b="1" sz="1000">
                          <a:solidFill>
                            <a:srgbClr val="FFFFFF"/>
                          </a:solidFill>
                        </a:defRPr>
                      </a:pPr>
                      <a:r>
                        <a:t>Description</a:t>
                      </a:r>
                    </a:p>
                  </a:txBody>
                  <a:tcPr>
                    <a:solidFill>
                      <a:srgbClr val="1F4E79"/>
                    </a:solidFill>
                  </a:tcPr>
                </a:tc>
              </a:tr>
              <a:tr h="145415">
                <a:tc>
                  <a:txBody>
                    <a:bodyPr wrap="square" lIns="25400" rIns="25400" tIns="12700" bIns="12700"/>
                    <a:lstStyle/>
                    <a:p>
                      <a:pPr>
                        <a:defRPr sz="700">
                          <a:solidFill>
                            <a:srgbClr val="282828"/>
                          </a:solidFill>
                        </a:defRPr>
                      </a:pPr>
                      <a:r>
                        <a:t>--n77-ssb-pre"</a:t>
                      </a:r>
                    </a:p>
                  </a:txBody>
                  <a:tcPr/>
                </a:tc>
                <a:tc>
                  <a:txBody>
                    <a:bodyPr wrap="square" lIns="25400" rIns="25400" tIns="12700" bIns="12700"/>
                    <a:lstStyle/>
                    <a:p>
                      <a:pPr>
                        <a:defRPr sz="700">
                          <a:solidFill>
                            <a:srgbClr val="282828"/>
                          </a:solidFill>
                        </a:defRPr>
                      </a:pPr>
                      <a:r>
                        <a:t>N77 SSB frequency before refarming (Pre), e.g. "647328"</a:t>
                      </a:r>
                    </a:p>
                  </a:txBody>
                  <a:tcPr/>
                </a:tc>
              </a:tr>
              <a:tr h="145415">
                <a:tc>
                  <a:txBody>
                    <a:bodyPr wrap="square" lIns="25400" rIns="25400" tIns="12700" bIns="12700"/>
                    <a:lstStyle/>
                    <a:p>
                      <a:pPr>
                        <a:defRPr sz="700">
                          <a:solidFill>
                            <a:srgbClr val="282828"/>
                          </a:solidFill>
                        </a:defRPr>
                      </a:pPr>
                      <a:r>
                        <a:t>--n77-ssb-post</a:t>
                      </a:r>
                    </a:p>
                  </a:txBody>
                  <a:tcPr>
                    <a:solidFill>
                      <a:srgbClr val="F2F6FC"/>
                    </a:solidFill>
                  </a:tcPr>
                </a:tc>
                <a:tc>
                  <a:txBody>
                    <a:bodyPr wrap="square" lIns="25400" rIns="25400" tIns="12700" bIns="12700"/>
                    <a:lstStyle/>
                    <a:p>
                      <a:pPr>
                        <a:defRPr sz="700">
                          <a:solidFill>
                            <a:srgbClr val="282828"/>
                          </a:solidFill>
                        </a:defRPr>
                      </a:pPr>
                      <a:r>
                        <a:t>N77 SSB frequency after refarming (Post), e.g. "653952"</a:t>
                      </a:r>
                    </a:p>
                  </a:txBody>
                  <a:tcPr>
                    <a:solidFill>
                      <a:srgbClr val="F2F6FC"/>
                    </a:solidFill>
                  </a:tcPr>
                </a:tc>
              </a:tr>
              <a:tr h="145415">
                <a:tc>
                  <a:txBody>
                    <a:bodyPr wrap="square" lIns="25400" rIns="25400" tIns="12700" bIns="12700"/>
                    <a:lstStyle/>
                    <a:p>
                      <a:pPr>
                        <a:defRPr sz="700">
                          <a:solidFill>
                            <a:srgbClr val="282828"/>
                          </a:solidFill>
                        </a:defRPr>
                      </a:pPr>
                      <a:r>
                        <a:t>--n77b-ssb</a:t>
                      </a:r>
                    </a:p>
                  </a:txBody>
                  <a:tcPr/>
                </a:tc>
                <a:tc>
                  <a:txBody>
                    <a:bodyPr wrap="square" lIns="25400" rIns="25400" tIns="12700" bIns="12700"/>
                    <a:lstStyle/>
                    <a:p>
                      <a:pPr>
                        <a:defRPr sz="700">
                          <a:solidFill>
                            <a:srgbClr val="282828"/>
                          </a:solidFill>
                        </a:defRPr>
                      </a:pPr>
                      <a:r>
                        <a:t>N77B SSB frequency (ARFCN), e.g. "650334"</a:t>
                      </a:r>
                    </a:p>
                  </a:txBody>
                  <a:tcPr/>
                </a:tc>
              </a:tr>
              <a:tr h="145415">
                <a:tc>
                  <a:txBody>
                    <a:bodyPr wrap="square" lIns="25400" rIns="25400" tIns="12700" bIns="12700"/>
                    <a:lstStyle/>
                    <a:p>
                      <a:pPr>
                        <a:defRPr sz="700">
                          <a:solidFill>
                            <a:srgbClr val="282828"/>
                          </a:solidFill>
                        </a:defRPr>
                      </a:pPr>
                      <a:r>
                        <a:t>--allowed-n77-ssb-pre</a:t>
                      </a:r>
                    </a:p>
                  </a:txBody>
                  <a:tcPr>
                    <a:solidFill>
                      <a:srgbClr val="F2F6FC"/>
                    </a:solidFill>
                  </a:tcPr>
                </a:tc>
                <a:tc>
                  <a:txBody>
                    <a:bodyPr wrap="square" lIns="25400" rIns="25400" tIns="12700" bIns="12700"/>
                    <a:lstStyle/>
                    <a:p>
                      <a:pPr>
                        <a:defRPr sz="700">
                          <a:solidFill>
                            <a:srgbClr val="282828"/>
                          </a:solidFill>
                        </a:defRPr>
                      </a:pPr>
                      <a:r>
                        <a:t>Comma-separated allowed N77 SSB (Pre) values for Configuration Audit</a:t>
                      </a:r>
                    </a:p>
                  </a:txBody>
                  <a:tcPr>
                    <a:solidFill>
                      <a:srgbClr val="F2F6FC"/>
                    </a:solidFill>
                  </a:tcPr>
                </a:tc>
              </a:tr>
              <a:tr h="145415">
                <a:tc>
                  <a:txBody>
                    <a:bodyPr wrap="square" lIns="25400" rIns="25400" tIns="12700" bIns="12700"/>
                    <a:lstStyle/>
                    <a:p>
                      <a:pPr>
                        <a:defRPr sz="700">
                          <a:solidFill>
                            <a:srgbClr val="282828"/>
                          </a:solidFill>
                        </a:defRPr>
                      </a:pPr>
                      <a:r>
                        <a:t>--allowed-n77-arfcn-pre</a:t>
                      </a:r>
                    </a:p>
                  </a:txBody>
                  <a:tcPr/>
                </a:tc>
                <a:tc>
                  <a:txBody>
                    <a:bodyPr wrap="square" lIns="25400" rIns="25400" tIns="12700" bIns="12700"/>
                    <a:lstStyle/>
                    <a:p>
                      <a:pPr>
                        <a:defRPr sz="700">
                          <a:solidFill>
                            <a:srgbClr val="282828"/>
                          </a:solidFill>
                        </a:defRPr>
                      </a:pPr>
                      <a:r>
                        <a:t>Comma-separated allowed N77 ARFCN (Pre) values for Configuration Audit</a:t>
                      </a:r>
                    </a:p>
                  </a:txBody>
                  <a:tcPr/>
                </a:tc>
              </a:tr>
              <a:tr h="145415">
                <a:tc>
                  <a:txBody>
                    <a:bodyPr wrap="square" lIns="25400" rIns="25400" tIns="12700" bIns="12700"/>
                    <a:lstStyle/>
                    <a:p>
                      <a:pPr>
                        <a:defRPr sz="700">
                          <a:solidFill>
                            <a:srgbClr val="282828"/>
                          </a:solidFill>
                        </a:defRPr>
                      </a:pPr>
                      <a:r>
                        <a:t>--allowed-n77-ssb-post</a:t>
                      </a:r>
                    </a:p>
                  </a:txBody>
                  <a:tcPr>
                    <a:solidFill>
                      <a:srgbClr val="F2F6FC"/>
                    </a:solidFill>
                  </a:tcPr>
                </a:tc>
                <a:tc>
                  <a:txBody>
                    <a:bodyPr wrap="square" lIns="25400" rIns="25400" tIns="12700" bIns="12700"/>
                    <a:lstStyle/>
                    <a:p>
                      <a:pPr>
                        <a:defRPr sz="700">
                          <a:solidFill>
                            <a:srgbClr val="282828"/>
                          </a:solidFill>
                        </a:defRPr>
                      </a:pPr>
                      <a:r>
                        <a:t>Comma-separated allowed N77 SSB (Post) values for Configuration Audit</a:t>
                      </a:r>
                    </a:p>
                  </a:txBody>
                  <a:tcPr>
                    <a:solidFill>
                      <a:srgbClr val="F2F6FC"/>
                    </a:solidFill>
                  </a:tcPr>
                </a:tc>
              </a:tr>
              <a:tr h="145415">
                <a:tc>
                  <a:txBody>
                    <a:bodyPr wrap="square" lIns="25400" rIns="25400" tIns="12700" bIns="12700"/>
                    <a:lstStyle/>
                    <a:p>
                      <a:pPr>
                        <a:defRPr sz="700">
                          <a:solidFill>
                            <a:srgbClr val="282828"/>
                          </a:solidFill>
                        </a:defRPr>
                      </a:pPr>
                      <a:r>
                        <a:t>--allowed-n77-arfcn-post</a:t>
                      </a:r>
                    </a:p>
                  </a:txBody>
                  <a:tcPr/>
                </a:tc>
                <a:tc>
                  <a:txBody>
                    <a:bodyPr wrap="square" lIns="25400" rIns="25400" tIns="12700" bIns="12700"/>
                    <a:lstStyle/>
                    <a:p>
                      <a:pPr>
                        <a:defRPr sz="700">
                          <a:solidFill>
                            <a:srgbClr val="282828"/>
                          </a:solidFill>
                        </a:defRPr>
                      </a:pPr>
                      <a:r>
                        <a:t>Comma-separated allowed N77 ARFCN (Post) values for Configuration Audit</a:t>
                      </a:r>
                    </a:p>
                  </a:txBody>
                  <a:tcPr/>
                </a:tc>
              </a:tr>
              <a:tr h="145415">
                <a:tc>
                  <a:txBody>
                    <a:bodyPr wrap="square" lIns="25400" rIns="25400" tIns="12700" bIns="12700"/>
                    <a:lstStyle/>
                    <a:p>
                      <a:pPr>
                        <a:defRPr sz="700">
                          <a:solidFill>
                            <a:srgbClr val="282828"/>
                          </a:solidFill>
                        </a:defRPr>
                      </a:pPr>
                      <a:r>
                        <a:t>--ca-freq-filters</a:t>
                      </a:r>
                    </a:p>
                  </a:txBody>
                  <a:tcPr>
                    <a:solidFill>
                      <a:srgbClr val="F2F6FC"/>
                    </a:solidFill>
                  </a:tcPr>
                </a:tc>
                <a:tc>
                  <a:txBody>
                    <a:bodyPr wrap="square" lIns="25400" rIns="25400" tIns="12700" bIns="12700"/>
                    <a:lstStyle/>
                    <a:p>
                      <a:pPr>
                        <a:defRPr sz="700">
                          <a:solidFill>
                            <a:srgbClr val="282828"/>
                          </a:solidFill>
                        </a:defRPr>
                      </a:pPr>
                      <a:r>
                        <a:t>Comma-separated list of frequency substrings to filter pivot columns in Configuration Audit module</a:t>
                      </a:r>
                    </a:p>
                  </a:txBody>
                  <a:tcPr>
                    <a:solidFill>
                      <a:srgbClr val="F2F6FC"/>
                    </a:solidFill>
                  </a:tcPr>
                </a:tc>
              </a:tr>
              <a:tr h="145415">
                <a:tc>
                  <a:txBody>
                    <a:bodyPr wrap="square" lIns="25400" rIns="25400" tIns="12700" bIns="12700"/>
                    <a:lstStyle/>
                    <a:p>
                      <a:pPr>
                        <a:defRPr sz="700">
                          <a:solidFill>
                            <a:srgbClr val="282828"/>
                          </a:solidFill>
                        </a:defRPr>
                      </a:pPr>
                      <a:r>
                        <a:t>--cc-freq-filters</a:t>
                      </a:r>
                    </a:p>
                  </a:txBody>
                  <a:tcPr/>
                </a:tc>
                <a:tc>
                  <a:txBody>
                    <a:bodyPr wrap="square" lIns="25400" rIns="25400" tIns="12700" bIns="12700"/>
                    <a:lstStyle/>
                    <a:p>
                      <a:pPr>
                        <a:defRPr sz="700">
                          <a:solidFill>
                            <a:srgbClr val="282828"/>
                          </a:solidFill>
                        </a:defRPr>
                      </a:pPr>
                      <a:r>
                        <a:t>Comma-separated list of frequency substrings to filter relations in Consistency Check module</a:t>
                      </a:r>
                    </a:p>
                  </a:txBody>
                  <a:tcPr/>
                </a:tc>
              </a:tr>
              <a:tr h="265430">
                <a:tc>
                  <a:txBody>
                    <a:bodyPr wrap="square" lIns="25400" rIns="25400" tIns="12700" bIns="12700"/>
                    <a:lstStyle/>
                    <a:p>
                      <a:pPr>
                        <a:defRPr sz="700">
                          <a:solidFill>
                            <a:srgbClr val="282828"/>
                          </a:solidFill>
                        </a:defRPr>
                      </a:pPr>
                      <a:r>
                        <a:t>--frequency-audit</a:t>
                      </a:r>
                    </a:p>
                  </a:txBody>
                  <a:tcPr>
                    <a:solidFill>
                      <a:srgbClr val="F2F6FC"/>
                    </a:solidFill>
                  </a:tcPr>
                </a:tc>
                <a:tc>
                  <a:txBody>
                    <a:bodyPr wrap="square" lIns="25400" rIns="25400" tIns="12700" bIns="12700"/>
                    <a:lstStyle/>
                    <a:p>
                      <a:pPr>
                        <a:defRPr sz="700">
                          <a:solidFill>
                            <a:srgbClr val="282828"/>
                          </a:solidFill>
                        </a:defRPr>
                      </a:pPr>
                      <a:r>
                        <a:t>Enable/disable Frequency Audit (integrated into Configuration Audit). Default Value: Enabled (use "--no-frequency-audit" to disable it)</a:t>
                      </a:r>
                    </a:p>
                  </a:txBody>
                  <a:tcPr>
                    <a:solidFill>
                      <a:srgbClr val="F2F6FC"/>
                    </a:solidFill>
                  </a:tcPr>
                </a:tc>
              </a:tr>
              <a:tr h="145415">
                <a:tc>
                  <a:txBody>
                    <a:bodyPr wrap="square" lIns="25400" rIns="25400" tIns="12700" bIns="12700"/>
                    <a:lstStyle/>
                    <a:p>
                      <a:pPr>
                        <a:defRPr sz="700">
                          <a:solidFill>
                            <a:srgbClr val="282828"/>
                          </a:solidFill>
                        </a:defRPr>
                      </a:pPr>
                      <a:r>
                        <a:t>--profiles-audit</a:t>
                      </a:r>
                    </a:p>
                  </a:txBody>
                  <a:tcPr/>
                </a:tc>
                <a:tc>
                  <a:txBody>
                    <a:bodyPr wrap="square" lIns="25400" rIns="25400" tIns="12700" bIns="12700"/>
                    <a:lstStyle/>
                    <a:p>
                      <a:pPr>
                        <a:defRPr sz="700">
                          <a:solidFill>
                            <a:srgbClr val="282828"/>
                          </a:solidFill>
                        </a:defRPr>
                      </a:pPr>
                      <a:r>
                        <a:t>Enable/disable Profiles Audit (integrated into Configuration Audit). Default Value: Enabled (use "--no-profiles-audit" to disable it)</a:t>
                      </a:r>
                    </a:p>
                  </a:txBody>
                  <a:tcPr/>
                </a:tc>
              </a:tr>
              <a:tr h="265430">
                <a:tc>
                  <a:txBody>
                    <a:bodyPr wrap="square" lIns="25400" rIns="25400" tIns="12700" bIns="12700"/>
                    <a:lstStyle/>
                    <a:p>
                      <a:pPr>
                        <a:defRPr sz="700">
                          <a:solidFill>
                            <a:srgbClr val="282828"/>
                          </a:solidFill>
                        </a:defRPr>
                      </a:pPr>
                      <a:r>
                        <a:t>--export-correction-cmd</a:t>
                      </a:r>
                    </a:p>
                  </a:txBody>
                  <a:tcPr>
                    <a:solidFill>
                      <a:srgbClr val="F2F6FC"/>
                    </a:solidFill>
                  </a:tcPr>
                </a:tc>
                <a:tc>
                  <a:txBody>
                    <a:bodyPr wrap="square" lIns="25400" rIns="25400" tIns="12700" bIns="12700"/>
                    <a:lstStyle/>
                    <a:p>
                      <a:pPr>
                        <a:defRPr sz="700">
                          <a:solidFill>
                            <a:srgbClr val="282828"/>
                          </a:solidFill>
                        </a:defRPr>
                      </a:pPr>
                      <a:r>
                        <a:t>Enable/disable exporting correction command to text files (slow). Default Value: Enabled (use "--no-export-correction-cmd" to disable it).</a:t>
                      </a:r>
                    </a:p>
                  </a:txBody>
                  <a:tcPr>
                    <a:solidFill>
                      <a:srgbClr val="F2F6FC"/>
                    </a:solidFill>
                  </a:tcPr>
                </a:tc>
              </a:tr>
              <a:tr h="265430">
                <a:tc>
                  <a:txBody>
                    <a:bodyPr wrap="square" lIns="25400" rIns="25400" tIns="12700" bIns="12700"/>
                    <a:lstStyle/>
                    <a:p>
                      <a:pPr>
                        <a:defRPr sz="700">
                          <a:solidFill>
                            <a:srgbClr val="282828"/>
                          </a:solidFill>
                        </a:defRPr>
                      </a:pPr>
                      <a:r>
                        <a:t>--fast-excel</a:t>
                      </a:r>
                    </a:p>
                  </a:txBody>
                  <a:tcPr/>
                </a:tc>
                <a:tc>
                  <a:txBody>
                    <a:bodyPr wrap="square" lIns="25400" rIns="25400" tIns="12700" bIns="12700"/>
                    <a:lstStyle/>
                    <a:p>
                      <a:pPr>
                        <a:defRPr sz="700">
                          <a:solidFill>
                            <a:srgbClr val="282828"/>
                          </a:solidFill>
                        </a:defRPr>
                      </a:pPr>
                      <a:r>
                        <a:t>Enable/disable fast Excel export using xlsxwriter engine (reduced formatting features if compared to openpyxl). Default Value: Disabled (use "--fast-excel" to enable it).</a:t>
                      </a:r>
                    </a:p>
                  </a:txBody>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0 — Update Network Frequencies</a:t>
            </a:r>
          </a:p>
        </p:txBody>
      </p:sp>
      <p:sp>
        <p:nvSpPr>
          <p:cNvPr id="3" name="Content Placeholder 2"/>
          <p:cNvSpPr>
            <a:spLocks noGrp="1"/>
          </p:cNvSpPr>
          <p:nvPr>
            <p:ph idx="1"/>
          </p:nvPr>
        </p:nvSpPr>
        <p:spPr/>
        <p:txBody>
          <a:bodyPr/>
          <a:lstStyle/>
          <a:p>
            <a:pPr>
              <a:buNone/>
              <a:defRPr b="1" sz="1400"/>
            </a:pPr>
            <a:r>
              <a:t>Input</a:t>
            </a:r>
          </a:p>
          <a:p>
            <a:pPr lvl="1">
              <a:buChar char="•"/>
              <a:defRPr sz="1200"/>
            </a:pPr>
            <a:r>
              <a:t>Input folder (may contain subfolders/ZIPs already supported by the IO layer).</a:t>
            </a:r>
          </a:p>
          <a:p>
            <a:pPr lvl="1">
              <a:buChar char="•"/>
              <a:defRPr sz="1200"/>
            </a:pPr>
            <a:r>
              <a:t>Mo logs with an "NRFrequency" table and the "arfcnValueNRDl" column.</a:t>
            </a:r>
          </a:p>
          <a:p>
            <a:pPr>
              <a:buNone/>
              <a:defRPr b="1" sz="1400"/>
            </a:pPr>
            <a:r>
              <a:t>Process</a:t>
            </a:r>
          </a:p>
          <a:p>
            <a:pPr lvl="1">
              <a:buNone/>
              <a:defRPr sz="1200"/>
            </a:pPr>
            <a:r>
              <a:t>1. Scan logs and detects "NRFrequency" blocks.</a:t>
            </a:r>
          </a:p>
          <a:p>
            <a:pPr lvl="1">
              <a:buNone/>
              <a:defRPr sz="1200"/>
            </a:pPr>
            <a:r>
              <a:t>2. Extracts numeric values from "arfcnValueNRDl".</a:t>
            </a:r>
          </a:p>
          <a:p>
            <a:pPr lvl="1">
              <a:buNone/>
              <a:defRPr sz="1200"/>
            </a:pPr>
            <a:r>
              <a:t>3. Removes duplicates and sorts frequencies.</a:t>
            </a:r>
          </a:p>
          <a:p>
            <a:pPr lvl="1">
              <a:buNone/>
              <a:defRPr sz="1200"/>
            </a:pPr>
            <a:r>
              <a:t>4. Updates the persisted “Network frequencies” configuration for GUI/CLI.</a:t>
            </a:r>
          </a:p>
          <a:p>
            <a:pPr>
              <a:buNone/>
              <a:defRPr b="1" sz="1400"/>
            </a:pPr>
            <a:r>
              <a:t>Output</a:t>
            </a:r>
          </a:p>
          <a:p>
            <a:pPr lvl="1">
              <a:buChar char="•"/>
              <a:defRPr sz="1200"/>
            </a:pPr>
            <a:r>
              <a:t>Does not generate Excel/PPT.</a:t>
            </a:r>
          </a:p>
          <a:p>
            <a:pPr lvl="1">
              <a:buChar char="•"/>
              <a:defRPr sz="1200"/>
            </a:pPr>
            <a:r>
              <a:t>Updates the persisted network frequency value used for filtering and selection in later runs.</a:t>
            </a:r>
          </a:p>
          <a:p>
            <a:pPr>
              <a:buNone/>
              <a:defRPr b="1" sz="1400"/>
            </a:pPr>
            <a:r>
              <a:t>Detailed implementation notes</a:t>
            </a:r>
          </a:p>
          <a:p>
            <a:pPr lvl="1">
              <a:buChar char="•"/>
              <a:defRPr sz="1200"/>
            </a:pPr>
            <a:r>
              <a:t>The module reuses the same input resolver used by the other modules ("ensure_logs_available"), so it can consume either plain folders or folders containing ZIPs without changing operator workflow.</a:t>
            </a:r>
          </a:p>
          <a:p>
            <a:pPr lvl="1">
              <a:buChar char="•"/>
              <a:defRPr sz="1200"/>
            </a:pPr>
            <a:r>
              <a:t>It scans all detected logs, slices each "SubNetwork" block, and processes only blocks where MO name is exactly "NRFrequency".</a:t>
            </a:r>
          </a:p>
          <a:p>
            <a:pPr lvl="1">
              <a:buChar char="•"/>
              <a:defRPr sz="1200"/>
            </a:pPr>
            <a:r>
              <a:t>Inside each "NRFrequency" block, it reads "arfcnValueNRDl", keeps only strictly numeric values, deduplicates, and sorts numerically.</a:t>
            </a:r>
          </a:p>
          <a:p>
            <a:pPr lvl="1">
              <a:buChar char="•"/>
              <a:defRPr sz="1200"/>
            </a:pPr>
            <a:r>
              <a:t>The resulting list is persisted to "config.cfg" in "network_frequencies" and also loaded in-memory into the "NETWORK_FREQUENCIES" global list.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0 — Update Network Frequencies (cont.)</a:t>
            </a:r>
          </a:p>
        </p:txBody>
      </p:sp>
      <p:sp>
        <p:nvSpPr>
          <p:cNvPr id="3" name="Content Placeholder 2"/>
          <p:cNvSpPr>
            <a:spLocks noGrp="1"/>
          </p:cNvSpPr>
          <p:nvPr>
            <p:ph idx="1"/>
          </p:nvPr>
        </p:nvSpPr>
        <p:spPr/>
        <p:txBody>
          <a:bodyPr/>
          <a:lstStyle/>
          <a:p>
            <a:pPr lvl="1">
              <a:buChar char="•"/>
              <a:defRPr sz="1200"/>
            </a:pPr>
            <a:r>
              <a:t>In practice, this module should be executed after collecting representative logs from the network and then only when new frequencies are introduced. For stable markets, running it once is usually enough.</a:t>
            </a:r>
          </a:p>
          <a:p>
            <a:pPr>
              <a:buNone/>
              <a:defRPr b="1" sz="1400"/>
            </a:pPr>
            <a:r>
              <a:t>Impact on GUI and Web Interface</a:t>
            </a:r>
          </a:p>
          <a:p>
            <a:pPr lvl="1">
              <a:buChar char="•"/>
              <a:defRPr sz="1200"/>
            </a:pPr>
            <a:r>
              <a:t>Desktop GUI: when launching in GUI mode (no CLI args), the app loads "network_frequencies" from "config.cfg" and uses that list as the selectable values shown to users.</a:t>
            </a:r>
          </a:p>
          <a:p>
            <a:pPr lvl="1">
              <a:buChar char="•"/>
              <a:defRPr sz="1200"/>
            </a:pPr>
            <a:r>
              <a:t>Web Interface: the backend endpoint loading defaults first tries persisted "network_frequencies"; if empty, it falls back to parsing the hardcoded defaults from "SSB_RetuningAutomations.py".</a:t>
            </a:r>
          </a:p>
          <a:p>
            <a:pPr lvl="1">
              <a:buChar char="•"/>
              <a:defRPr sz="1200"/>
            </a:pPr>
            <a:r>
              <a:t>This means Module 0 is the canonical mechanism to keep both interfaces aligned with real network frequency inventory.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1 — Configuration Audit &amp; Logs Parser</a:t>
            </a:r>
          </a:p>
        </p:txBody>
      </p:sp>
      <p:sp>
        <p:nvSpPr>
          <p:cNvPr id="3" name="Content Placeholder 2"/>
          <p:cNvSpPr>
            <a:spLocks noGrp="1"/>
          </p:cNvSpPr>
          <p:nvPr>
            <p:ph idx="1"/>
          </p:nvPr>
        </p:nvSpPr>
        <p:spPr/>
        <p:txBody>
          <a:bodyPr/>
          <a:lstStyle/>
          <a:p>
            <a:pPr>
              <a:buNone/>
              <a:defRPr sz="1200"/>
            </a:pPr>
            <a:r>
              <a:t>ConfigurationAudit performs a detailed validation of a single configuration snapshot. It parses network logs, builds Managed Object (MO) tables, and evaluates multiple consistency and retuning-related rules.</a:t>
            </a:r>
          </a:p>
          <a:p>
            <a:pPr>
              <a:buNone/>
              <a:defRPr sz="1200"/>
            </a:pPr>
            <a:r>
              <a:t>ConfigurationAudit validates frequency configuration (SSB/ARFCN), relations, externals, TermPoints, profiles, and cardinality constraints. Results are consolidated in the SummaryAudit sheet.</a:t>
            </a:r>
          </a:p>
          <a:p>
            <a:pPr>
              <a:buNone/>
              <a:defRPr b="1" sz="1400"/>
            </a:pPr>
            <a:r>
              <a:t>Execution Modes</a:t>
            </a:r>
          </a:p>
          <a:p>
            <a:pPr>
              <a:buNone/>
              <a:defRPr sz="1200"/>
            </a:pPr>
            <a:r>
              <a:t>ConfigurationAudit can be executed in two main modes:</a:t>
            </a:r>
          </a:p>
          <a:p>
            <a:pPr lvl="1">
              <a:buChar char="•"/>
              <a:defRPr sz="1200"/>
            </a:pPr>
            <a:r>
              <a:t>Normal mode: The user provides a single input folder. The tool runs all checks and generates one audit output.</a:t>
            </a:r>
          </a:p>
          <a:p>
            <a:pPr lvl="1">
              <a:buChar char="•"/>
              <a:defRPr sz="1200"/>
            </a:pPr>
            <a:r>
              <a:t>Batch mode: The user provides a root folder containing multiple Step0 runs. The tool automatically detects valid runs and executes ConfigurationAudit for each one.</a:t>
            </a:r>
          </a:p>
          <a:p>
            <a:pPr>
              <a:buNone/>
              <a:defRPr b="1" sz="1400"/>
            </a:pPr>
            <a:r>
              <a:t>Inputs</a:t>
            </a:r>
          </a:p>
          <a:p>
            <a:pPr lvl="1">
              <a:buChar char="•"/>
              <a:defRPr sz="1200"/>
            </a:pPr>
            <a:r>
              <a:t>Input folder with MOs logs (".log", ".logs", ".txt") or ZIPs resolvable by utilities.</a:t>
            </a:r>
          </a:p>
          <a:p>
            <a:pPr lvl="1">
              <a:buChar char="•"/>
              <a:defRPr sz="1200"/>
            </a:pPr>
            <a:r>
              <a:t>Frequency parameters:</a:t>
            </a:r>
          </a:p>
          <a:p>
            <a:pPr lvl="2">
              <a:buChar char="•"/>
              <a:defRPr sz="1200"/>
            </a:pPr>
            <a:r>
              <a:t>"n77_ssb_pre"</a:t>
            </a:r>
          </a:p>
          <a:p>
            <a:pPr lvl="2">
              <a:buChar char="•"/>
              <a:defRPr sz="1200"/>
            </a:pPr>
            <a:r>
              <a:t>"n77_ssb_post"</a:t>
            </a:r>
          </a:p>
          <a:p>
            <a:pPr lvl="2">
              <a:buChar char="•"/>
              <a:defRPr sz="1200"/>
            </a:pPr>
            <a:r>
              <a:t>"n77b_ssb"</a:t>
            </a:r>
          </a:p>
          <a:p>
            <a:pPr lvl="2">
              <a:buChar char="•"/>
              <a:defRPr sz="1200"/>
            </a:pPr>
            <a:r>
              <a:t>allowed SSB/ARFCN lists pre/post.</a:t>
            </a:r>
          </a:p>
          <a:p>
            <a:pPr lvl="1">
              <a:buChar char="•"/>
              <a:defRPr sz="1200"/>
            </a:pPr>
            <a:r>
              <a:t>Flags:</a:t>
            </a:r>
          </a:p>
          <a:p>
            <a:pPr lvl="2">
              <a:buChar char="•"/>
              <a:defRPr sz="1200"/>
            </a:pPr>
            <a:r>
              <a:t>"profiles_audit"</a:t>
            </a:r>
          </a:p>
          <a:p>
            <a:pPr lvl="2">
              <a:buChar char="•"/>
              <a:defRPr sz="1200"/>
            </a:pPr>
            <a:r>
              <a:t>"frequency_audit"</a:t>
            </a:r>
          </a:p>
          <a:p>
            <a:pPr lvl="2">
              <a:buChar char="•"/>
              <a:defRPr sz="1200"/>
            </a:pPr>
            <a:r>
              <a:t>"export_correction_cmd"</a:t>
            </a:r>
          </a:p>
          <a:p>
            <a:pPr lvl="2">
              <a:buChar char="•"/>
              <a:defRPr sz="1200"/>
            </a:pPr>
            <a:r>
              <a:t>"fast_excel_export".</a:t>
            </a:r>
          </a:p>
          <a:p>
            <a:pPr>
              <a:buNone/>
              <a:defRPr b="1" sz="1400"/>
            </a:pPr>
            <a:r>
              <a:t>Process</a:t>
            </a:r>
          </a:p>
          <a:p>
            <a:pPr lvl="1">
              <a:buNone/>
              <a:defRPr sz="1200"/>
            </a:pPr>
            <a:r>
              <a:t>1. Parses files and extracts MO tables by "SubNetwork" blocks.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1 — Configuration Audit &amp; Logs Parser (cont.)</a:t>
            </a:r>
          </a:p>
        </p:txBody>
      </p:sp>
      <p:sp>
        <p:nvSpPr>
          <p:cNvPr id="3" name="Content Placeholder 2"/>
          <p:cNvSpPr>
            <a:spLocks noGrp="1"/>
          </p:cNvSpPr>
          <p:nvPr>
            <p:ph idx="1"/>
          </p:nvPr>
        </p:nvSpPr>
        <p:spPr/>
        <p:txBody>
          <a:bodyPr/>
          <a:lstStyle/>
          <a:p>
            <a:pPr lvl="1">
              <a:buNone/>
              <a:defRPr sz="1200"/>
            </a:pPr>
            <a:r>
              <a:t>2. Generates one sheet per detected table.</a:t>
            </a:r>
          </a:p>
          <a:p>
            <a:pPr lvl="1">
              <a:buNone/>
              <a:defRPr sz="1200"/>
            </a:pPr>
            <a:r>
              <a:t>3. Builds "SummaryAudit" + pivots/auxiliary summaries.</a:t>
            </a:r>
          </a:p>
          <a:p>
            <a:pPr lvl="1">
              <a:buNone/>
              <a:defRPr sz="1200"/>
            </a:pPr>
            <a:r>
              <a:t>4. Runs profiles audit if enabled.</a:t>
            </a:r>
          </a:p>
          <a:p>
            <a:pPr lvl="1">
              <a:buNone/>
              <a:defRPr sz="1200"/>
            </a:pPr>
            <a:r>
              <a:t>5. Exports CA correction commands if requested.</a:t>
            </a:r>
          </a:p>
          <a:p>
            <a:pPr lvl="1">
              <a:buNone/>
              <a:defRPr sz="1200"/>
            </a:pPr>
            <a:r>
              <a:t>6. Generates the summary PPT.</a:t>
            </a:r>
          </a:p>
          <a:p>
            <a:pPr>
              <a:buNone/>
              <a:defRPr b="1" sz="1400"/>
            </a:pPr>
            <a:r>
              <a:t>Outputs</a:t>
            </a:r>
          </a:p>
          <a:p>
            <a:pPr lvl="1">
              <a:buChar char="•"/>
              <a:defRPr sz="1200"/>
            </a:pPr>
            <a:r>
              <a:t>Folder "ConfigurationAudit_&lt;timestamp&gt;_v&lt;version&gt;/".</a:t>
            </a:r>
          </a:p>
          <a:p>
            <a:pPr lvl="1">
              <a:buChar char="•"/>
              <a:defRPr sz="1200"/>
            </a:pPr>
            <a:r>
              <a:t>Excel file "ConfigurationAudit_&lt;timestamp&gt;_v&lt;version&gt;.xlsx":</a:t>
            </a:r>
          </a:p>
          <a:p>
            <a:pPr lvl="2">
              <a:buChar char="•"/>
              <a:defRPr sz="1200"/>
            </a:pPr>
            <a:r>
              <a:t>Sheets for each parsed MO table.</a:t>
            </a:r>
          </a:p>
          <a:p>
            <a:pPr lvl="2">
              <a:buChar char="•"/>
              <a:defRPr sz="1200"/>
            </a:pPr>
            <a:r>
              <a:t>Sheet with a "SummaryAudit" sheet wich contains the audit results.</a:t>
            </a:r>
          </a:p>
          <a:p>
            <a:pPr lvl="2">
              <a:buChar char="•"/>
              <a:defRPr sz="1200"/>
            </a:pPr>
            <a:r>
              <a:t>NR/LTE parameter discrepancy sheets.</a:t>
            </a:r>
          </a:p>
          <a:p>
            <a:pPr lvl="2">
              <a:buChar char="•"/>
              <a:defRPr sz="1200"/>
            </a:pPr>
            <a:r>
              <a:t>Summary/pivot sheets by frequencies and relations.</a:t>
            </a:r>
          </a:p>
          <a:p>
            <a:pPr lvl="1">
              <a:buChar char="•"/>
              <a:defRPr sz="1200"/>
            </a:pPr>
            <a:r>
              <a:t>PPT file "ConfigurationAudit_&lt;timestamp&gt;_v&lt;version&gt;.pptx".</a:t>
            </a:r>
          </a:p>
          <a:p>
            <a:pPr lvl="1">
              <a:buChar char="•"/>
              <a:defRPr sz="1200"/>
            </a:pPr>
            <a:r>
              <a:t>Optional folder "Correction_Cmd_CA/" with AMOS commands.</a:t>
            </a:r>
          </a:p>
          <a:p>
            <a:pPr>
              <a:buNone/>
              <a:defRPr b="1" sz="1400"/>
            </a:pPr>
            <a:r>
              <a:t>Main semantic content</a:t>
            </a:r>
          </a:p>
          <a:p>
            <a:pPr lvl="1">
              <a:buChar char="•"/>
              <a:defRPr sz="1200"/>
            </a:pPr>
            <a:r>
              <a:t>SummaryAudit contains rows with:</a:t>
            </a:r>
          </a:p>
          <a:p>
            <a:pPr lvl="2">
              <a:buChar char="•"/>
              <a:defRPr sz="1200"/>
            </a:pPr>
            <a:r>
              <a:t>"Category", "SubCategory", "Metric", "Value", "ExtraInfo",</a:t>
            </a:r>
          </a:p>
          <a:p>
            <a:pPr lvl="2">
              <a:buChar char="•"/>
              <a:defRPr sz="1200"/>
            </a:pPr>
            <a:r>
              <a:t>and execution context fields (stage, module, etc. depending on the flow).</a:t>
            </a:r>
          </a:p>
          <a:p>
            <a:pPr lvl="1">
              <a:buChar char="•"/>
              <a:defRPr sz="1200"/>
            </a:pPr>
            <a:r>
              <a:t>"Value" usually represents a count of impacted nodes/cells/relations.</a:t>
            </a:r>
          </a:p>
          <a:p>
            <a:pPr lvl="1">
              <a:buChar char="•"/>
              <a:defRPr sz="1200"/>
            </a:pPr>
            <a:r>
              <a:t>"ExtraInfo" contains the NodeId list or a compact discrepancy detail.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2 — Consistency Check (manual Pre/Post)</a:t>
            </a:r>
          </a:p>
        </p:txBody>
      </p:sp>
      <p:sp>
        <p:nvSpPr>
          <p:cNvPr id="3" name="Content Placeholder 2"/>
          <p:cNvSpPr>
            <a:spLocks noGrp="1"/>
          </p:cNvSpPr>
          <p:nvPr>
            <p:ph idx="1"/>
          </p:nvPr>
        </p:nvSpPr>
        <p:spPr/>
        <p:txBody>
          <a:bodyPr/>
          <a:lstStyle/>
          <a:p>
            <a:pPr>
              <a:buNone/>
              <a:defRPr sz="1200"/>
            </a:pPr>
            <a:r>
              <a:t>ConsistencyChecks compares PRE and POST relation tables (NRCellRelation and GUtranCellRelation). The comparison uses a stable key per relation (e.g., NodeId + CellId + RelationId).</a:t>
            </a:r>
          </a:p>
          <a:p>
            <a:pPr>
              <a:buNone/>
              <a:defRPr sz="1200"/>
            </a:pPr>
            <a:r>
              <a:t>The module detects missing relations, new relations, and discrepancies (parameter differences and frequency differences). Results are summarized in the comparison Excel.</a:t>
            </a:r>
          </a:p>
          <a:p>
            <a:pPr>
              <a:buNone/>
              <a:defRPr b="1" sz="1400"/>
            </a:pPr>
            <a:r>
              <a:t>Execution Modes</a:t>
            </a:r>
          </a:p>
          <a:p>
            <a:pPr lvl="1">
              <a:buChar char="•"/>
              <a:defRPr sz="1200"/>
            </a:pPr>
            <a:r>
              <a:t>Normal (manual PRE/POST): The user explicitly provides PRE and POST input folders.</a:t>
            </a:r>
          </a:p>
          <a:p>
            <a:pPr lvl="1">
              <a:buChar char="•"/>
              <a:defRPr sz="1200"/>
            </a:pPr>
            <a:r>
              <a:t>Batch (auto-detected PRE/POST):The user provides a root folder. The tool automatically selects PRE and POST runs based on timestamps and naming rules.</a:t>
            </a:r>
          </a:p>
          <a:p>
            <a:pPr>
              <a:buNone/>
              <a:defRPr b="1" sz="1400"/>
            </a:pPr>
            <a:r>
              <a:t>Inputs</a:t>
            </a:r>
          </a:p>
          <a:p>
            <a:pPr lvl="1">
              <a:buChar char="•"/>
              <a:defRPr sz="1200"/>
            </a:pPr>
            <a:r>
              <a:t>"input_pre" and "input_post" folders. Both folders should contains MOs logs (".log", ".logs", ".txt") or ZIPs resolvable by utilities.</a:t>
            </a:r>
          </a:p>
          <a:p>
            <a:pPr lvl="1">
              <a:buChar char="•"/>
              <a:defRPr sz="1200"/>
            </a:pPr>
            <a:r>
              <a:t>Frequencies "n77_ssb_pre" and "n77_ssb_post".</a:t>
            </a:r>
          </a:p>
          <a:p>
            <a:pPr lvl="1">
              <a:buChar char="•"/>
              <a:defRPr sz="1200"/>
            </a:pPr>
            <a:r>
              <a:t>Optional reference to PRE and POST "ConfigurationAudit" to enrich target classification.</a:t>
            </a:r>
          </a:p>
          <a:p>
            <a:pPr lvl="1">
              <a:buChar char="•"/>
              <a:defRPr sz="1200"/>
            </a:pPr>
            <a:r>
              <a:t>Optional list of frequency filters ("cc_freq_filters").</a:t>
            </a:r>
          </a:p>
          <a:p>
            <a:pPr>
              <a:buNone/>
              <a:defRPr b="1" sz="1400"/>
            </a:pPr>
            <a:r>
              <a:t>Process</a:t>
            </a:r>
          </a:p>
          <a:p>
            <a:pPr lvl="1">
              <a:buNone/>
              <a:defRPr sz="1200"/>
            </a:pPr>
            <a:r>
              <a:t>1. Loads relation tables ("GUtranCellRelation", "NRCellRelation").</a:t>
            </a:r>
          </a:p>
          <a:p>
            <a:pPr lvl="1">
              <a:buNone/>
              <a:defRPr sz="1200"/>
            </a:pPr>
            <a:r>
              <a:t>2. Normalizes columns/keys and selects the most recent snapshots by date.</a:t>
            </a:r>
          </a:p>
          <a:p>
            <a:pPr lvl="1">
              <a:buNone/>
              <a:defRPr sz="1200"/>
            </a:pPr>
            <a:r>
              <a:t>3. Detect:</a:t>
            </a:r>
          </a:p>
          <a:p>
            <a:pPr lvl="2">
              <a:buChar char="•"/>
              <a:defRPr sz="1200"/>
            </a:pPr>
            <a:r>
              <a:t>new relations,</a:t>
            </a:r>
          </a:p>
          <a:p>
            <a:pPr lvl="2">
              <a:buChar char="•"/>
              <a:defRPr sz="1200"/>
            </a:pPr>
            <a:r>
              <a:t>missing relations,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2 — Consistency Check (manual Pre/Post) (cont.)</a:t>
            </a:r>
          </a:p>
        </p:txBody>
      </p:sp>
      <p:sp>
        <p:nvSpPr>
          <p:cNvPr id="3" name="Content Placeholder 2"/>
          <p:cNvSpPr>
            <a:spLocks noGrp="1"/>
          </p:cNvSpPr>
          <p:nvPr>
            <p:ph idx="1"/>
          </p:nvPr>
        </p:nvSpPr>
        <p:spPr/>
        <p:txBody>
          <a:bodyPr/>
          <a:lstStyle/>
          <a:p>
            <a:pPr lvl="2">
              <a:buChar char="•"/>
              <a:defRPr sz="1200"/>
            </a:pPr>
            <a:r>
              <a:t>parameter discrepancies,</a:t>
            </a:r>
          </a:p>
          <a:p>
            <a:pPr lvl="2">
              <a:buChar char="•"/>
              <a:defRPr sz="1200"/>
            </a:pPr>
            <a:r>
              <a:t>frequency discrepancies,</a:t>
            </a:r>
          </a:p>
          <a:p>
            <a:pPr lvl="2">
              <a:buChar char="•"/>
              <a:defRPr sz="1200"/>
            </a:pPr>
            <a:r>
              <a:t>summary by PRE/POST frequency pair.</a:t>
            </a:r>
          </a:p>
          <a:p>
            <a:pPr lvl="1">
              <a:buNone/>
              <a:defRPr sz="1200"/>
            </a:pPr>
            <a:r>
              <a:t>4. Classify destination targets as "SSB-Pre", "SSB-Post" or "Unknown".</a:t>
            </a:r>
          </a:p>
          <a:p>
            <a:pPr lvl="1">
              <a:buNone/>
              <a:defRPr sz="1200"/>
            </a:pPr>
            <a:r>
              <a:t>5. Exports detailed Excel outputs and correction commands.</a:t>
            </a:r>
          </a:p>
          <a:p>
            <a:pPr>
              <a:buNone/>
              <a:defRPr b="1" sz="1400"/>
            </a:pPr>
            <a:r>
              <a:t>Outputs</a:t>
            </a:r>
          </a:p>
          <a:p>
            <a:pPr lvl="1">
              <a:buChar char="•"/>
              <a:defRPr sz="1200"/>
            </a:pPr>
            <a:r>
              <a:t>"CellRelation_&lt;timestamp&gt;_v&lt;version&gt;.xlsx" (end-to-end relations view).</a:t>
            </a:r>
          </a:p>
          <a:p>
            <a:pPr lvl="1">
              <a:buChar char="•"/>
              <a:defRPr sz="1200"/>
            </a:pPr>
            <a:r>
              <a:t>"ConsistencyChecks_CellRelation_&lt;timestamp&gt;_v&lt;version&gt;.xlsx" with:</a:t>
            </a:r>
          </a:p>
          <a:p>
            <a:pPr lvl="2">
              <a:buChar char="•"/>
              <a:defRPr sz="1200"/>
            </a:pPr>
            <a:r>
              <a:t>"Summary"</a:t>
            </a:r>
          </a:p>
          <a:p>
            <a:pPr lvl="2">
              <a:buChar char="•"/>
              <a:defRPr sz="1200"/>
            </a:pPr>
            <a:r>
              <a:t>"SummaryAuditComparisson" (if there is PRE/POST SummaryAudit)</a:t>
            </a:r>
          </a:p>
          <a:p>
            <a:pPr lvl="2">
              <a:buChar char="•"/>
              <a:defRPr sz="1200"/>
            </a:pPr>
            <a:r>
              <a:t>"Summary_CellRelation"</a:t>
            </a:r>
          </a:p>
          <a:p>
            <a:pPr lvl="2">
              <a:buChar char="•"/>
              <a:defRPr sz="1200"/>
            </a:pPr>
            <a:r>
              <a:t>GU blocks: "GU_relations", "GU_param_disc", "GU_freq_disc", "GU_freq_disc_unknown", "GU_missing", "GU_new"</a:t>
            </a:r>
          </a:p>
          <a:p>
            <a:pPr lvl="2">
              <a:buChar char="•"/>
              <a:defRPr sz="1200"/>
            </a:pPr>
            <a:r>
              <a:t>NR blocks: "NR_relations", "NR_param_disc", "NR_freq_disc", "NR_freq_disc_unknown", "NR_missing", "NR_new"</a:t>
            </a:r>
          </a:p>
          <a:p>
            <a:pPr lvl="2">
              <a:buChar char="•"/>
              <a:defRPr sz="1200"/>
            </a:pPr>
            <a:r>
              <a:t>optional "GU_all", "NR_all".</a:t>
            </a:r>
          </a:p>
          <a:p>
            <a:pPr lvl="1">
              <a:buChar char="•"/>
              <a:defRPr sz="1200"/>
            </a:pPr>
            <a:r>
              <a:t>"Correction_Cmd_CC/" with commands per type (new/missing/discrepancies).</a:t>
            </a:r>
          </a:p>
          <a:p>
            <a:pPr>
              <a:buNone/>
              <a:defRPr b="1" sz="1400"/>
            </a:pPr>
            <a:r>
              <a:t>Missing Relations</a:t>
            </a:r>
          </a:p>
          <a:p>
            <a:pPr>
              <a:buNone/>
              <a:defRPr sz="1200"/>
            </a:pPr>
            <a:r>
              <a:t>A relation is classified as MISSING in POST when its key exists in PRE but does not exist in POST. In code terms: Missing = PRE_keys − POST_keys.</a:t>
            </a:r>
          </a:p>
          <a:p>
            <a:pPr>
              <a:buNone/>
              <a:defRPr b="1" sz="1400"/>
            </a:pPr>
            <a:r>
              <a:t>New Relations</a:t>
            </a:r>
          </a:p>
          <a:p>
            <a:pPr>
              <a:buNone/>
              <a:defRPr sz="1200"/>
            </a:pPr>
            <a:r>
              <a:t>A relation is classified as NEW in POST when its key exists in POST but does not exist in PRE. In code terms: New = POST_keys − PRE_keys.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2 — Consistency Check (manual Pre/Post) (cont.)</a:t>
            </a:r>
          </a:p>
        </p:txBody>
      </p:sp>
      <p:sp>
        <p:nvSpPr>
          <p:cNvPr id="3" name="Content Placeholder 2"/>
          <p:cNvSpPr>
            <a:spLocks noGrp="1"/>
          </p:cNvSpPr>
          <p:nvPr>
            <p:ph idx="1"/>
          </p:nvPr>
        </p:nvSpPr>
        <p:spPr/>
        <p:txBody>
          <a:bodyPr/>
          <a:lstStyle/>
          <a:p>
            <a:pPr>
              <a:buNone/>
              <a:defRPr b="1" sz="1400"/>
            </a:pPr>
            <a:r>
              <a:t>Parameters Discrepancies</a:t>
            </a:r>
          </a:p>
          <a:p>
            <a:pPr>
              <a:buNone/>
              <a:defRPr sz="1200"/>
            </a:pPr>
            <a:r>
              <a:t>A relation is classified as a DISCREPANCY when the key exists in both PRE and POST, but one or more audited parameters differ. The tool compares shared columns, excluding technical columns (Pre/Post, Date), key columns, and the detected frequency column.</a:t>
            </a:r>
          </a:p>
          <a:p>
            <a:pPr>
              <a:buNone/>
              <a:defRPr b="1" sz="1400"/>
            </a:pPr>
            <a:r>
              <a:t>Frequency Discrepancies (SSB)</a:t>
            </a:r>
          </a:p>
          <a:p>
            <a:pPr>
              <a:buNone/>
              <a:defRPr sz="1200"/>
            </a:pPr>
            <a:r>
              <a:t>Frequency discrepancies are identified by extracting a normalized base frequency (Freq_Pre / Freq_Post) and applying retuning rules. Typical rule: if a relation has the target frequency in PRE (or already has POST) but POST does not contain the expected POST frequency, it is flagged for frequency discrepancy handling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3 — Consistency Check Bulk (automatic Pre/Post detection by market)</a:t>
            </a:r>
          </a:p>
        </p:txBody>
      </p:sp>
      <p:sp>
        <p:nvSpPr>
          <p:cNvPr id="3" name="Content Placeholder 2"/>
          <p:cNvSpPr>
            <a:spLocks noGrp="1"/>
          </p:cNvSpPr>
          <p:nvPr>
            <p:ph idx="1"/>
          </p:nvPr>
        </p:nvSpPr>
        <p:spPr/>
        <p:txBody>
          <a:bodyPr/>
          <a:lstStyle/>
          <a:p>
            <a:pPr>
              <a:buNone/>
              <a:defRPr b="1" sz="1400"/>
            </a:pPr>
            <a:r>
              <a:t>Inputs</a:t>
            </a:r>
          </a:p>
          <a:p>
            <a:pPr lvl="1">
              <a:buChar char="•"/>
              <a:defRPr sz="1200"/>
            </a:pPr>
            <a:r>
              <a:t>Root folder with subfolders like "yyyymmdd_hhmm_step0" (optionally nested by market).</a:t>
            </a:r>
          </a:p>
          <a:p>
            <a:pPr>
              <a:buNone/>
              <a:defRPr b="1" sz="1400"/>
            </a:pPr>
            <a:r>
              <a:t>Process</a:t>
            </a:r>
          </a:p>
          <a:p>
            <a:pPr lvl="1">
              <a:buNone/>
              <a:defRPr sz="1200"/>
            </a:pPr>
            <a:r>
              <a:t>1. Detects PRE/POST candidates by the most appropriate date/time.</a:t>
            </a:r>
          </a:p>
          <a:p>
            <a:pPr lvl="1">
              <a:buNone/>
              <a:defRPr sz="1200"/>
            </a:pPr>
            <a:r>
              <a:t>2. Excludes folders using a blacklist ("ignore", "old", "bad", "partial", "incomplete", "discard", etc.).</a:t>
            </a:r>
          </a:p>
          <a:p>
            <a:pPr lvl="1">
              <a:buNone/>
              <a:defRPr sz="1200"/>
            </a:pPr>
            <a:r>
              <a:t>3. Runs Module 2 for each detected market.</a:t>
            </a:r>
          </a:p>
          <a:p>
            <a:pPr>
              <a:buNone/>
              <a:defRPr b="1" sz="1400"/>
            </a:pPr>
            <a:r>
              <a:t>Outputs</a:t>
            </a:r>
          </a:p>
          <a:p>
            <a:pPr lvl="1">
              <a:buChar char="•"/>
              <a:defRPr sz="1200"/>
            </a:pPr>
            <a:r>
              <a:t>Same output structure as module 2, per market.</a:t>
            </a:r>
          </a:p>
          <a:p>
            <a:pPr lvl="1">
              <a:buChar char="•"/>
              <a:defRPr sz="1200"/>
            </a:pPr>
            <a:r>
              <a:t>Traceability file "FoldersCompared.txt".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SSB Retuning Automations - Modules Included</a:t>
            </a:r>
          </a:p>
          <a:p>
            <a:pPr>
              <a:defRPr b="0" sz="2000">
                <a:solidFill>
                  <a:schemeClr val="accent2"/>
                </a:solidFill>
              </a:defRPr>
            </a:pPr>
            <a:r>
              <a:t>Module 4 — Final Clean-Up</a:t>
            </a:r>
          </a:p>
        </p:txBody>
      </p:sp>
      <p:sp>
        <p:nvSpPr>
          <p:cNvPr id="3" name="Content Placeholder 2"/>
          <p:cNvSpPr>
            <a:spLocks noGrp="1"/>
          </p:cNvSpPr>
          <p:nvPr>
            <p:ph idx="1"/>
          </p:nvPr>
        </p:nvSpPr>
        <p:spPr/>
        <p:txBody>
          <a:bodyPr/>
          <a:lstStyle/>
          <a:p>
            <a:pPr>
              <a:buNone/>
              <a:defRPr b="1" sz="1400"/>
            </a:pPr>
            <a:r>
              <a:t>Inputs</a:t>
            </a:r>
          </a:p>
          <a:p>
            <a:pPr lvl="1">
              <a:buChar char="•"/>
              <a:defRPr sz="1200"/>
            </a:pPr>
            <a:r>
              <a:t>Final retune working folder.</a:t>
            </a:r>
          </a:p>
          <a:p>
            <a:pPr>
              <a:buNone/>
              <a:defRPr b="1" sz="1400"/>
            </a:pPr>
            <a:r>
              <a:t>Process</a:t>
            </a:r>
          </a:p>
          <a:p>
            <a:pPr lvl="1">
              <a:buChar char="•"/>
              <a:defRPr sz="1200"/>
            </a:pPr>
            <a:r>
              <a:t>Executes final cleanup policies (structure prepared to expand rules).</a:t>
            </a:r>
          </a:p>
          <a:p>
            <a:pPr>
              <a:buNone/>
              <a:defRPr b="1" sz="1400"/>
            </a:pPr>
            <a:r>
              <a:t>Outputs</a:t>
            </a:r>
          </a:p>
          <a:p>
            <a:pPr lvl="1">
              <a:buChar char="•"/>
              <a:defRPr sz="1200"/>
            </a:pPr>
            <a:r>
              <a:t>Versioned cleanup directory according to the active implementation.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SummaryAudit checks philosophy</a:t>
            </a:r>
          </a:p>
        </p:txBody>
      </p:sp>
      <p:sp>
        <p:nvSpPr>
          <p:cNvPr id="3" name="Content Placeholder 2"/>
          <p:cNvSpPr>
            <a:spLocks noGrp="1"/>
          </p:cNvSpPr>
          <p:nvPr>
            <p:ph idx="1"/>
          </p:nvPr>
        </p:nvSpPr>
        <p:spPr/>
        <p:txBody>
          <a:bodyPr/>
          <a:lstStyle/>
          <a:p>
            <a:pPr>
              <a:buNone/>
              <a:defRPr sz="1200"/>
            </a:pPr>
            <a:r>
              <a:t>SummaryAudit sheet contains a high-level checks table by categories. The flow:</a:t>
            </a:r>
          </a:p>
          <a:p>
            <a:pPr lvl="1">
              <a:buNone/>
              <a:defRPr sz="1200"/>
            </a:pPr>
            <a:r>
              <a:t>1. Excludes "UNSYNCHRONIZED" nodes based on "MeContext".</a:t>
            </a:r>
          </a:p>
          <a:p>
            <a:pPr lvl="1">
              <a:buNone/>
              <a:defRPr sz="1200"/>
            </a:pPr>
            <a:r>
              <a:t>2. Evaluates NR, LTE, ENDC, Externals, TermPoints, cardinalities, and profiles.</a:t>
            </a:r>
          </a:p>
          <a:p>
            <a:pPr lvl="1">
              <a:buNone/>
              <a:defRPr sz="1200"/>
            </a:pPr>
            <a:r>
              <a:t>3. Records each check as a row ("Category/SubCategory/Metric/Value/ExtraInfo").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Operational meaning of SummaryAudit rows</a:t>
            </a:r>
          </a:p>
        </p:txBody>
      </p:sp>
      <p:sp>
        <p:nvSpPr>
          <p:cNvPr id="3" name="Content Placeholder 2"/>
          <p:cNvSpPr>
            <a:spLocks noGrp="1"/>
          </p:cNvSpPr>
          <p:nvPr>
            <p:ph idx="1"/>
          </p:nvPr>
        </p:nvSpPr>
        <p:spPr/>
        <p:txBody>
          <a:bodyPr/>
          <a:lstStyle/>
          <a:p>
            <a:pPr lvl="1">
              <a:buChar char="•"/>
              <a:defRPr sz="1200"/>
            </a:pPr>
            <a:r>
              <a:t>Category: audited technical domain (NR/LTE/ENDC/MeContext/etc.).</a:t>
            </a:r>
          </a:p>
          <a:p>
            <a:pPr lvl="1">
              <a:buChar char="•"/>
              <a:defRPr sz="1200"/>
            </a:pPr>
            <a:r>
              <a:t>SubCategory: type of analysis (Audit/Inconsistencies/Profiles).</a:t>
            </a:r>
          </a:p>
          <a:p>
            <a:pPr lvl="1">
              <a:buChar char="•"/>
              <a:defRPr sz="1200"/>
            </a:pPr>
            <a:r>
              <a:t>Metric: specific rule evaluated.</a:t>
            </a:r>
          </a:p>
          <a:p>
            <a:pPr lvl="1">
              <a:buChar char="•"/>
              <a:defRPr sz="1200"/>
            </a:pPr>
            <a:r>
              <a:t>Value:</a:t>
            </a:r>
          </a:p>
          <a:p>
            <a:pPr lvl="2">
              <a:buChar char="•"/>
              <a:defRPr sz="1200"/>
            </a:pPr>
            <a:r>
              <a:t>Integer: number of affected nodes/relations/cells.</a:t>
            </a:r>
          </a:p>
          <a:p>
            <a:pPr lvl="2">
              <a:buChar char="•"/>
              <a:defRPr sz="1200"/>
            </a:pPr>
            <a:r>
              <a:t>"N/A": not evaluable due to missing columns.</a:t>
            </a:r>
          </a:p>
          <a:p>
            <a:pPr lvl="2">
              <a:buChar char="•"/>
              <a:defRPr sz="1200"/>
            </a:pPr>
            <a:r>
              <a:t>Text: captured status or error.</a:t>
            </a:r>
          </a:p>
          <a:p>
            <a:pPr lvl="1">
              <a:buChar char="•"/>
              <a:defRPr sz="1200"/>
            </a:pPr>
            <a:r>
              <a:t>ExtraInfo: list of nodes or bounded detail for troubleshooting.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MeContext Audit</a:t>
            </a:r>
          </a:p>
        </p:txBody>
      </p:sp>
      <p:sp>
        <p:nvSpPr>
          <p:cNvPr id="3" name="Content Placeholder 2"/>
          <p:cNvSpPr>
            <a:spLocks noGrp="1"/>
          </p:cNvSpPr>
          <p:nvPr>
            <p:ph idx="1"/>
          </p:nvPr>
        </p:nvSpPr>
        <p:spPr/>
        <p:txBody>
          <a:bodyPr/>
          <a:lstStyle/>
          <a:p>
            <a:pPr>
              <a:buNone/>
              <a:defRPr sz="1200"/>
            </a:pPr>
            <a:r>
              <a:t>Source tables: "MeContext".</a:t>
            </a:r>
          </a:p>
          <a:p>
            <a:pPr>
              <a:buNone/>
              <a:defRPr sz="1200"/>
            </a:pPr>
            <a:r>
              <a:t>Main checks:</a:t>
            </a:r>
          </a:p>
          <a:p>
            <a:pPr lvl="1">
              <a:buChar char="•"/>
              <a:defRPr sz="1200"/>
            </a:pPr>
            <a:r>
              <a:t>Total unique nodes.</a:t>
            </a:r>
          </a:p>
          <a:p>
            <a:pPr lvl="1">
              <a:buChar char="•"/>
              <a:defRPr sz="1200"/>
            </a:pPr>
            <a:r>
              <a:t>Nodes with syncStatus="UNSYNCHRONIZED" (excluded from the rest of the audits).</a:t>
            </a:r>
          </a:p>
          <a:p>
            <a:pPr>
              <a:buNone/>
              <a:defRPr sz="1200"/>
            </a:pPr>
            <a:r>
              <a:t>Complete Checks List:</a:t>
            </a:r>
          </a:p>
        </p:txBody>
      </p:sp>
      <p:graphicFrame>
        <p:nvGraphicFramePr>
          <p:cNvPr id="4" name="Table 3"/>
          <p:cNvGraphicFramePr>
            <a:graphicFrameLocks noGrp="1"/>
          </p:cNvGraphicFramePr>
          <p:nvPr/>
        </p:nvGraphicFramePr>
        <p:xfrm>
          <a:off x="609600" y="2677745"/>
          <a:ext cx="10972800" cy="569595"/>
        </p:xfrm>
        <a:graphic>
          <a:graphicData uri="http://schemas.openxmlformats.org/drawingml/2006/table">
            <a:tbl>
              <a:tblPr firstRow="1" bandRow="1">
                <a:tableStyleId>{5C22544A-7EE6-4342-B048-85BDC9FD1C3A}</a:tableStyleId>
              </a:tblPr>
              <a:tblGrid>
                <a:gridCol w="1240829"/>
                <a:gridCol w="1685859"/>
                <a:gridCol w="2926080"/>
                <a:gridCol w="5120032"/>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145415">
                <a:tc>
                  <a:txBody>
                    <a:bodyPr wrap="square" lIns="25400" rIns="25400" tIns="12700" bIns="12700"/>
                    <a:lstStyle/>
                    <a:p>
                      <a:pPr>
                        <a:defRPr sz="700">
                          <a:solidFill>
                            <a:srgbClr val="282828"/>
                          </a:solidFill>
                        </a:defRPr>
                      </a:pPr>
                      <a:r>
                        <a:t>MeContext</a:t>
                      </a:r>
                    </a:p>
                  </a:txBody>
                  <a:tcPr/>
                </a:tc>
                <a:tc>
                  <a:txBody>
                    <a:bodyPr wrap="square" lIns="25400" rIns="25400" tIns="12700" bIns="12700"/>
                    <a:lstStyle/>
                    <a:p>
                      <a:pPr>
                        <a:defRPr sz="700">
                          <a:solidFill>
                            <a:srgbClr val="282828"/>
                          </a:solidFill>
                        </a:defRPr>
                      </a:pPr>
                      <a:r>
                        <a:t>MeContext Audit</a:t>
                      </a:r>
                    </a:p>
                  </a:txBody>
                  <a:tcPr/>
                </a:tc>
                <a:tc>
                  <a:txBody>
                    <a:bodyPr wrap="square" lIns="25400" rIns="25400" tIns="12700" bIns="12700"/>
                    <a:lstStyle/>
                    <a:p>
                      <a:pPr>
                        <a:defRPr sz="700">
                          <a:solidFill>
                            <a:srgbClr val="282828"/>
                          </a:solidFill>
                        </a:defRPr>
                      </a:pPr>
                      <a:r>
                        <a:t>Total unique nodes</a:t>
                      </a:r>
                    </a:p>
                  </a:txBody>
                  <a:tcPr/>
                </a:tc>
                <a:tc>
                  <a:txBody>
                    <a:bodyPr wrap="square" lIns="25400" rIns="25400" tIns="12700" bIns="12700"/>
                    <a:lstStyle/>
                    <a:p>
                      <a:pPr>
                        <a:defRPr sz="700">
                          <a:solidFill>
                            <a:srgbClr val="282828"/>
                          </a:solidFill>
                        </a:defRPr>
                      </a:pPr>
                      <a:r>
                        <a:t>MeContext table to create lists of sites for implementation</a:t>
                      </a:r>
                    </a:p>
                  </a:txBody>
                  <a:tcPr/>
                </a:tc>
              </a:tr>
              <a:tr h="265430">
                <a:tc>
                  <a:txBody>
                    <a:bodyPr wrap="square" lIns="25400" rIns="25400" tIns="12700" bIns="12700"/>
                    <a:lstStyle/>
                    <a:p>
                      <a:pPr>
                        <a:defRPr sz="700">
                          <a:solidFill>
                            <a:srgbClr val="282828"/>
                          </a:solidFill>
                        </a:defRPr>
                      </a:pPr>
                      <a:r>
                        <a:t>MeContext</a:t>
                      </a:r>
                    </a:p>
                  </a:txBody>
                  <a:tcPr>
                    <a:solidFill>
                      <a:srgbClr val="F2F6FC"/>
                    </a:solidFill>
                  </a:tcPr>
                </a:tc>
                <a:tc>
                  <a:txBody>
                    <a:bodyPr wrap="square" lIns="25400" rIns="25400" tIns="12700" bIns="12700"/>
                    <a:lstStyle/>
                    <a:p>
                      <a:pPr>
                        <a:defRPr sz="700">
                          <a:solidFill>
                            <a:srgbClr val="282828"/>
                          </a:solidFill>
                        </a:defRPr>
                      </a:pPr>
                      <a:r>
                        <a:t>MeContext Audit</a:t>
                      </a:r>
                    </a:p>
                  </a:txBody>
                  <a:tcPr>
                    <a:solidFill>
                      <a:srgbClr val="F2F6FC"/>
                    </a:solidFill>
                  </a:tcPr>
                </a:tc>
                <a:tc>
                  <a:txBody>
                    <a:bodyPr wrap="square" lIns="25400" rIns="25400" tIns="12700" bIns="12700"/>
                    <a:lstStyle/>
                    <a:p>
                      <a:pPr>
                        <a:defRPr sz="700">
                          <a:solidFill>
                            <a:srgbClr val="282828"/>
                          </a:solidFill>
                        </a:defRPr>
                      </a:pPr>
                      <a:r>
                        <a:t>Nodes with syncStatus="UNSYNCHRONIZED" (being excluded in all Audits)</a:t>
                      </a:r>
                    </a:p>
                  </a:txBody>
                  <a:tcPr>
                    <a:solidFill>
                      <a:srgbClr val="F2F6FC"/>
                    </a:solidFill>
                  </a:tcPr>
                </a:tc>
                <a:tc>
                  <a:txBody>
                    <a:bodyPr wrap="square" lIns="25400" rIns="25400" tIns="12700" bIns="12700"/>
                    <a:lstStyle/>
                    <a:p>
                      <a:pPr>
                        <a:defRPr sz="700">
                          <a:solidFill>
                            <a:srgbClr val="282828"/>
                          </a:solidFill>
                        </a:defRPr>
                      </a:pPr>
                      <a:r>
                        <a:t>Unsynch nodes excluded in Audits and Implementation</a:t>
                      </a:r>
                    </a:p>
                  </a:txBody>
                  <a:tcPr>
                    <a:solidFill>
                      <a:srgbClr val="F2F6FC"/>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NR Frequency Audit / NR Frequency Inconsistencies</a:t>
            </a:r>
          </a:p>
        </p:txBody>
      </p:sp>
      <p:sp>
        <p:nvSpPr>
          <p:cNvPr id="3" name="Content Placeholder 2"/>
          <p:cNvSpPr>
            <a:spLocks noGrp="1"/>
          </p:cNvSpPr>
          <p:nvPr>
            <p:ph idx="1"/>
          </p:nvPr>
        </p:nvSpPr>
        <p:spPr/>
        <p:txBody>
          <a:bodyPr/>
          <a:lstStyle/>
          <a:p>
            <a:pPr>
              <a:buNone/>
              <a:defRPr sz="1200"/>
            </a:pPr>
            <a:r>
              <a:t>Source tables: "NRCellDU", "NRFrequency", "NRFreqRelation", "NRSectorCarrier", "NRCellRelation", "ExternalNRCellCU", "TermPointToGNodeB", "TermPointToGNB".</a:t>
            </a:r>
          </a:p>
          <a:p>
            <a:pPr>
              <a:buNone/>
              <a:defRPr sz="1200"/>
            </a:pPr>
            <a:r>
              <a:t>Main checks:</a:t>
            </a:r>
          </a:p>
          <a:p>
            <a:pPr lvl="1">
              <a:buChar char="•"/>
              <a:defRPr sz="1200"/>
            </a:pPr>
            <a:r>
              <a:t>Detection of NR nodes with N77 SSB (band 646600–660000).</a:t>
            </a:r>
          </a:p>
          <a:p>
            <a:pPr lvl="1">
              <a:buChar char="•"/>
              <a:defRPr sz="1200"/>
            </a:pPr>
            <a:r>
              <a:t>Classification of NR nodes as LowMidBand / mmWave / mixed.</a:t>
            </a:r>
          </a:p>
          <a:p>
            <a:pPr lvl="1">
              <a:buChar char="•"/>
              <a:defRPr sz="1200"/>
            </a:pPr>
            <a:r>
              <a:t>Nodes whose N77 SSBs are fully within allowed PRE or POST lists.</a:t>
            </a:r>
          </a:p>
          <a:p>
            <a:pPr lvl="1">
              <a:buChar char="•"/>
              <a:defRPr sz="1200"/>
            </a:pPr>
            <a:r>
              <a:t>Nodes with N77 SSB outside allowed lists.</a:t>
            </a:r>
          </a:p>
          <a:p>
            <a:pPr lvl="1">
              <a:buChar char="•"/>
              <a:defRPr sz="1200"/>
            </a:pPr>
            <a:r>
              <a:t>Old/new SSB presence per node (only old, only new, both).</a:t>
            </a:r>
          </a:p>
          <a:p>
            <a:pPr lvl="1">
              <a:buChar char="•"/>
              <a:defRPr sz="1200"/>
            </a:pPr>
            <a:r>
              <a:t>Nodes with NRFreqRelationId in an unexpected format (auto-created outside convention).</a:t>
            </a:r>
          </a:p>
          <a:p>
            <a:pPr lvl="1">
              <a:buChar char="•"/>
              <a:defRPr sz="1200"/>
            </a:pPr>
            <a:r>
              <a:t>NR relations to old/new SSB.</a:t>
            </a:r>
          </a:p>
          <a:p>
            <a:pPr lvl="1">
              <a:buChar char="•"/>
              <a:defRPr sz="1200"/>
            </a:pPr>
            <a:r>
              <a:t>NR externals and termpoints pointing to old/new/unknown.</a:t>
            </a:r>
          </a:p>
          <a:p>
            <a:pPr>
              <a:buNone/>
              <a:defRPr sz="1200"/>
            </a:pPr>
            <a:r>
              <a:t>Typical triggering:</a:t>
            </a:r>
          </a:p>
          <a:p>
            <a:pPr lvl="1">
              <a:buChar char="•"/>
              <a:defRPr sz="1200"/>
            </a:pPr>
            <a:r>
              <a:t>Each check is enabled if the table and minimum required columns exist.</a:t>
            </a:r>
          </a:p>
          <a:p>
            <a:pPr lvl="1">
              <a:buChar char="•"/>
              <a:defRPr sz="1200"/>
            </a:pPr>
            <a:r>
              <a:t>If columns are missing, a "N/A" status row is added.</a:t>
            </a:r>
          </a:p>
          <a:p>
            <a:pPr lvl="1">
              <a:buChar char="•"/>
              <a:defRPr sz="1200"/>
            </a:pPr>
            <a:r>
              <a:t>If the table is empty or not found, an informative row "Table not found or empty" is added.</a:t>
            </a:r>
          </a:p>
          <a:p>
            <a:pPr>
              <a:buNone/>
              <a:defRPr sz="1200"/>
            </a:pPr>
            <a:r>
              <a:t>Interpretation:</a:t>
            </a:r>
          </a:p>
          <a:p>
            <a:pPr lvl="1">
              <a:buChar char="•"/>
              <a:defRPr sz="1200"/>
            </a:pPr>
            <a:r>
              <a:t>"Value &gt; 0" in inconsistencies indicates a real deviation that requires investigation.</a:t>
            </a:r>
          </a:p>
          <a:p>
            <a:pPr lvl="1">
              <a:buChar char="•"/>
              <a:defRPr sz="1200"/>
            </a:pPr>
            <a:r>
              <a:t>"ExtraInfo" typically lists affected nodes for operational targeting.</a:t>
            </a:r>
          </a:p>
          <a:p>
            <a:pPr>
              <a:buNone/>
              <a:defRPr sz="1200"/>
            </a:pPr>
            <a:r>
              <a:t>Complete Checks List: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NR Frequency Audit / NR Frequency Inconsistencies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609600" y="1437111"/>
          <a:ext cx="10972800" cy="3420110"/>
        </p:xfrm>
        <a:graphic>
          <a:graphicData uri="http://schemas.openxmlformats.org/drawingml/2006/table">
            <a:tbl>
              <a:tblPr firstRow="1" bandRow="1">
                <a:tableStyleId>{5C22544A-7EE6-4342-B048-85BDC9FD1C3A}</a:tableStyleId>
              </a:tblPr>
              <a:tblGrid>
                <a:gridCol w="1316648"/>
                <a:gridCol w="1914741"/>
                <a:gridCol w="2926080"/>
                <a:gridCol w="4815331"/>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145415">
                <a:tc>
                  <a:txBody>
                    <a:bodyPr wrap="square" lIns="25400" rIns="25400" tIns="12700" bIns="12700"/>
                    <a:lstStyle/>
                    <a:p>
                      <a:pPr>
                        <a:defRPr sz="700">
                          <a:solidFill>
                            <a:srgbClr val="282828"/>
                          </a:solidFill>
                        </a:defRPr>
                      </a:pPr>
                      <a:r>
                        <a:t>NRCellDU</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ssbFrequency</a:t>
                      </a:r>
                    </a:p>
                  </a:txBody>
                  <a:tcPr/>
                </a:tc>
                <a:tc>
                  <a:txBody>
                    <a:bodyPr wrap="square" lIns="25400" rIns="25400" tIns="12700" bIns="12700"/>
                    <a:lstStyle/>
                    <a:p>
                      <a:pPr>
                        <a:defRPr sz="700">
                          <a:solidFill>
                            <a:srgbClr val="282828"/>
                          </a:solidFill>
                        </a:defRPr>
                      </a:pPr>
                    </a:p>
                  </a:txBody>
                  <a:tcPr/>
                </a:tc>
              </a:tr>
              <a:tr h="145415">
                <a:tc>
                  <a:txBody>
                    <a:bodyPr wrap="square" lIns="25400" rIns="25400" tIns="12700" bIns="12700"/>
                    <a:lstStyle/>
                    <a:p>
                      <a:pPr>
                        <a:defRPr sz="700">
                          <a:solidFill>
                            <a:srgbClr val="282828"/>
                          </a:solidFill>
                        </a:defRPr>
                      </a:pPr>
                      <a:r>
                        <a:t>NRCellDU</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LowMidBand Nodes</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145415">
                <a:tc>
                  <a:txBody>
                    <a:bodyPr wrap="square" lIns="25400" rIns="25400" tIns="12700" bIns="12700"/>
                    <a:lstStyle/>
                    <a:p>
                      <a:pPr>
                        <a:defRPr sz="700">
                          <a:solidFill>
                            <a:srgbClr val="282828"/>
                          </a:solidFill>
                        </a:defRPr>
                      </a:pPr>
                      <a:r>
                        <a:t>NRCellDU</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mmWave Nodes</a:t>
                      </a:r>
                    </a:p>
                  </a:txBody>
                  <a:tcPr/>
                </a:tc>
                <a:tc>
                  <a:txBody>
                    <a:bodyPr wrap="square" lIns="25400" rIns="25400" tIns="12700" bIns="12700"/>
                    <a:lstStyle/>
                    <a:p>
                      <a:pPr>
                        <a:defRPr sz="700">
                          <a:solidFill>
                            <a:srgbClr val="282828"/>
                          </a:solidFill>
                        </a:defRPr>
                      </a:pPr>
                    </a:p>
                  </a:txBody>
                  <a:tcPr/>
                </a:tc>
              </a:tr>
              <a:tr h="145415">
                <a:tc>
                  <a:txBody>
                    <a:bodyPr wrap="square" lIns="25400" rIns="25400" tIns="12700" bIns="12700"/>
                    <a:lstStyle/>
                    <a:p>
                      <a:pPr>
                        <a:defRPr sz="700">
                          <a:solidFill>
                            <a:srgbClr val="282828"/>
                          </a:solidFill>
                        </a:defRPr>
                      </a:pPr>
                      <a:r>
                        <a:t>NRCellDU</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N77 SSB in band (646600-660000)</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NRCellDU</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N77 SSB in Pre-Retune allowed list (648672, 653952)</a:t>
                      </a:r>
                    </a:p>
                  </a:txBody>
                  <a:tcPr/>
                </a:tc>
                <a:tc>
                  <a:txBody>
                    <a:bodyPr wrap="square" lIns="25400" rIns="25400" tIns="12700" bIns="12700"/>
                    <a:lstStyle/>
                    <a:p>
                      <a:pPr>
                        <a:defRPr sz="700">
                          <a:solidFill>
                            <a:srgbClr val="282828"/>
                          </a:solidFill>
                        </a:defRPr>
                      </a:pPr>
                      <a:r>
                        <a:t>Nodes with Step2b pending</a:t>
                      </a:r>
                    </a:p>
                  </a:txBody>
                  <a:tcPr/>
                </a:tc>
              </a:tr>
              <a:tr h="265430">
                <a:tc>
                  <a:txBody>
                    <a:bodyPr wrap="square" lIns="25400" rIns="25400" tIns="12700" bIns="12700"/>
                    <a:lstStyle/>
                    <a:p>
                      <a:pPr>
                        <a:defRPr sz="700">
                          <a:solidFill>
                            <a:srgbClr val="282828"/>
                          </a:solidFill>
                        </a:defRPr>
                      </a:pPr>
                      <a:r>
                        <a:t>NRCellDU</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N77 SSB in Post-Retune allowed list (647328, 653952)</a:t>
                      </a:r>
                    </a:p>
                  </a:txBody>
                  <a:tcPr>
                    <a:solidFill>
                      <a:srgbClr val="F2F6FC"/>
                    </a:solidFill>
                  </a:tcPr>
                </a:tc>
                <a:tc>
                  <a:txBody>
                    <a:bodyPr wrap="square" lIns="25400" rIns="25400" tIns="12700" bIns="12700"/>
                    <a:lstStyle/>
                    <a:p>
                      <a:pPr>
                        <a:defRPr sz="700">
                          <a:solidFill>
                            <a:srgbClr val="282828"/>
                          </a:solidFill>
                        </a:defRPr>
                      </a:pPr>
                      <a:r>
                        <a:t>Nodes with Step2b completed</a:t>
                      </a:r>
                    </a:p>
                  </a:txBody>
                  <a:tcPr>
                    <a:solidFill>
                      <a:srgbClr val="F2F6FC"/>
                    </a:solidFill>
                  </a:tcPr>
                </a:tc>
              </a:tr>
              <a:tr h="265430">
                <a:tc>
                  <a:txBody>
                    <a:bodyPr wrap="square" lIns="25400" rIns="25400" tIns="12700" bIns="12700"/>
                    <a:lstStyle/>
                    <a:p>
                      <a:pPr>
                        <a:defRPr sz="700">
                          <a:solidFill>
                            <a:srgbClr val="282828"/>
                          </a:solidFill>
                        </a:defRPr>
                      </a:pPr>
                      <a:r>
                        <a:t>NRCellDU</a:t>
                      </a:r>
                    </a:p>
                  </a:txBody>
                  <a:tcPr/>
                </a:tc>
                <a:tc>
                  <a:txBody>
                    <a:bodyPr wrap="square" lIns="25400" rIns="25400" tIns="12700" bIns="12700"/>
                    <a:lstStyle/>
                    <a:p>
                      <a:pPr>
                        <a:defRPr sz="700">
                          <a:solidFill>
                            <a:srgbClr val="282828"/>
                          </a:solidFill>
                        </a:defRPr>
                      </a:pPr>
                      <a:r>
                        <a:t>NR Frequency Inconsistencies</a:t>
                      </a:r>
                    </a:p>
                  </a:txBody>
                  <a:tcPr/>
                </a:tc>
                <a:tc>
                  <a:txBody>
                    <a:bodyPr wrap="square" lIns="25400" rIns="25400" tIns="12700" bIns="12700"/>
                    <a:lstStyle/>
                    <a:p>
                      <a:pPr>
                        <a:defRPr sz="700">
                          <a:solidFill>
                            <a:srgbClr val="282828"/>
                          </a:solidFill>
                        </a:defRPr>
                      </a:pPr>
                      <a:r>
                        <a:t>NR nodes with N77 SSB not in Pre/Post Retune allowed lists</a:t>
                      </a:r>
                    </a:p>
                  </a:txBody>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tc>
              </a:tr>
              <a:tr h="265430">
                <a:tc>
                  <a:txBody>
                    <a:bodyPr wrap="square" lIns="25400" rIns="25400" tIns="12700" bIns="12700"/>
                    <a:lstStyle/>
                    <a:p>
                      <a:pPr>
                        <a:defRPr sz="700">
                          <a:solidFill>
                            <a:srgbClr val="282828"/>
                          </a:solidFill>
                        </a:defRPr>
                      </a:pPr>
                      <a:r>
                        <a:t>NRSectorCarrier</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N77 ARCFN in band (646600-660000)</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NRSectorCarrier</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N77 ARCFN in Pre-Retune allowed list (650006, 654652, 655324, 655984, 656656)</a:t>
                      </a:r>
                    </a:p>
                  </a:txBody>
                  <a:tcPr/>
                </a:tc>
                <a:tc>
                  <a:txBody>
                    <a:bodyPr wrap="square" lIns="25400" rIns="25400" tIns="12700" bIns="12700"/>
                    <a:lstStyle/>
                    <a:p>
                      <a:pPr>
                        <a:defRPr sz="700">
                          <a:solidFill>
                            <a:srgbClr val="282828"/>
                          </a:solidFill>
                        </a:defRPr>
                      </a:pPr>
                      <a:r>
                        <a:t>Nodes with Step2b pending</a:t>
                      </a:r>
                    </a:p>
                  </a:txBody>
                  <a:tcPr/>
                </a:tc>
              </a:tr>
              <a:tr h="265430">
                <a:tc>
                  <a:txBody>
                    <a:bodyPr wrap="square" lIns="25400" rIns="25400" tIns="12700" bIns="12700"/>
                    <a:lstStyle/>
                    <a:p>
                      <a:pPr>
                        <a:defRPr sz="700">
                          <a:solidFill>
                            <a:srgbClr val="282828"/>
                          </a:solidFill>
                        </a:defRPr>
                      </a:pPr>
                      <a:r>
                        <a:t>NRSectorCarrier</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N77 ARCFN in Post-Retune allowed list (650006, 654648, 655320, 655980, 656652)</a:t>
                      </a:r>
                    </a:p>
                  </a:txBody>
                  <a:tcPr>
                    <a:solidFill>
                      <a:srgbClr val="F2F6FC"/>
                    </a:solidFill>
                  </a:tcPr>
                </a:tc>
                <a:tc>
                  <a:txBody>
                    <a:bodyPr wrap="square" lIns="25400" rIns="25400" tIns="12700" bIns="12700"/>
                    <a:lstStyle/>
                    <a:p>
                      <a:pPr>
                        <a:defRPr sz="700">
                          <a:solidFill>
                            <a:srgbClr val="282828"/>
                          </a:solidFill>
                        </a:defRPr>
                      </a:pPr>
                      <a:r>
                        <a:t>Nodes with Step2b completed</a:t>
                      </a:r>
                    </a:p>
                  </a:txBody>
                  <a:tcPr>
                    <a:solidFill>
                      <a:srgbClr val="F2F6FC"/>
                    </a:solidFill>
                  </a:tcPr>
                </a:tc>
              </a:tr>
              <a:tr h="265430">
                <a:tc>
                  <a:txBody>
                    <a:bodyPr wrap="square" lIns="25400" rIns="25400" tIns="12700" bIns="12700"/>
                    <a:lstStyle/>
                    <a:p>
                      <a:pPr>
                        <a:defRPr sz="700">
                          <a:solidFill>
                            <a:srgbClr val="282828"/>
                          </a:solidFill>
                        </a:defRPr>
                      </a:pPr>
                      <a:r>
                        <a:t>NRSectorCarrier</a:t>
                      </a:r>
                    </a:p>
                  </a:txBody>
                  <a:tcPr/>
                </a:tc>
                <a:tc>
                  <a:txBody>
                    <a:bodyPr wrap="square" lIns="25400" rIns="25400" tIns="12700" bIns="12700"/>
                    <a:lstStyle/>
                    <a:p>
                      <a:pPr>
                        <a:defRPr sz="700">
                          <a:solidFill>
                            <a:srgbClr val="282828"/>
                          </a:solidFill>
                        </a:defRPr>
                      </a:pPr>
                      <a:r>
                        <a:t>NR Frequency Inconsistencies</a:t>
                      </a:r>
                    </a:p>
                  </a:txBody>
                  <a:tcPr/>
                </a:tc>
                <a:tc>
                  <a:txBody>
                    <a:bodyPr wrap="square" lIns="25400" rIns="25400" tIns="12700" bIns="12700"/>
                    <a:lstStyle/>
                    <a:p>
                      <a:pPr>
                        <a:defRPr sz="700">
                          <a:solidFill>
                            <a:srgbClr val="282828"/>
                          </a:solidFill>
                        </a:defRPr>
                      </a:pPr>
                      <a:r>
                        <a:t>NR nodes with N77 ARCFN not in Pre/Post Retune allowed lists</a:t>
                      </a:r>
                    </a:p>
                  </a:txBody>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tc>
              </a:tr>
              <a:tr h="145415">
                <a:tc>
                  <a:txBody>
                    <a:bodyPr wrap="square" lIns="25400" rIns="25400" tIns="12700" bIns="12700"/>
                    <a:lstStyle/>
                    <a:p>
                      <a:pPr>
                        <a:defRPr sz="700">
                          <a:solidFill>
                            <a:srgbClr val="282828"/>
                          </a:solidFill>
                        </a:defRPr>
                      </a:pPr>
                      <a:r>
                        <a:t>NRFreqRelation</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the old N77 SSB (648672)</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145415">
                <a:tc>
                  <a:txBody>
                    <a:bodyPr wrap="square" lIns="25400" rIns="25400" tIns="12700" bIns="12700"/>
                    <a:lstStyle/>
                    <a:p>
                      <a:pPr>
                        <a:defRPr sz="700">
                          <a:solidFill>
                            <a:srgbClr val="282828"/>
                          </a:solidFill>
                        </a:defRPr>
                      </a:pPr>
                      <a:r>
                        <a:t>NRFreqRelation</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the new N77 SSB (647328)</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NRFreqRelation</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both, the old N77 SSB (648672) and the new N77 SSB (647328)</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NRFreqRelation</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the old N77 SSB (648672) but without the new N77 SSB (647328)</a:t>
                      </a:r>
                    </a:p>
                  </a:txBody>
                  <a:tcPr/>
                </a:tc>
                <a:tc>
                  <a:txBody>
                    <a:bodyPr wrap="square" lIns="25400" rIns="25400" tIns="12700" bIns="12700"/>
                    <a:lstStyle/>
                    <a:p>
                      <a:pPr>
                        <a:defRPr sz="700">
                          <a:solidFill>
                            <a:srgbClr val="282828"/>
                          </a:solidFill>
                        </a:defRPr>
                      </a:pPr>
                      <a:r>
                        <a:t>Need to run Step1 on these nodes</a:t>
                      </a:r>
                    </a:p>
                  </a:txBody>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NR Frequency Audit / NR Frequency Inconsistencies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609600" y="1437111"/>
          <a:ext cx="10972800" cy="3558540"/>
        </p:xfrm>
        <a:graphic>
          <a:graphicData uri="http://schemas.openxmlformats.org/drawingml/2006/table">
            <a:tbl>
              <a:tblPr firstRow="1" bandRow="1">
                <a:tableStyleId>{5C22544A-7EE6-4342-B048-85BDC9FD1C3A}</a:tableStyleId>
              </a:tblPr>
              <a:tblGrid>
                <a:gridCol w="1212767"/>
                <a:gridCol w="1696681"/>
                <a:gridCol w="2926080"/>
                <a:gridCol w="5137272"/>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NRFreqRelation</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nodes with some cells missing relations to new SSB (647328)</a:t>
                      </a:r>
                    </a:p>
                  </a:txBody>
                  <a:tcPr/>
                </a:tc>
                <a:tc>
                  <a:txBody>
                    <a:bodyPr wrap="square" lIns="25400" rIns="25400" tIns="12700" bIns="12700"/>
                    <a:lstStyle/>
                    <a:p>
                      <a:pPr>
                        <a:defRPr sz="700">
                          <a:solidFill>
                            <a:srgbClr val="282828"/>
                          </a:solidFill>
                        </a:defRPr>
                      </a:pPr>
                      <a:r>
                        <a:t>Nodes with any relations Step1 pending</a:t>
                      </a:r>
                    </a:p>
                  </a:txBody>
                  <a:tcPr/>
                </a:tc>
              </a:tr>
              <a:tr h="385445">
                <a:tc>
                  <a:txBody>
                    <a:bodyPr wrap="square" lIns="25400" rIns="25400" tIns="12700" bIns="12700"/>
                    <a:lstStyle/>
                    <a:p>
                      <a:pPr>
                        <a:defRPr sz="700">
                          <a:solidFill>
                            <a:srgbClr val="282828"/>
                          </a:solidFill>
                        </a:defRPr>
                      </a:pPr>
                      <a:r>
                        <a:t>NRFreqRelation</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nodes with the new N77 SSB (647328) NRFreqRelation pointing to mcpcPCellNrFreqRelProfileRef containing new SSB name (cloned) or Other</a:t>
                      </a:r>
                    </a:p>
                  </a:txBody>
                  <a:tcPr>
                    <a:solidFill>
                      <a:srgbClr val="F2F6FC"/>
                    </a:solidFill>
                  </a:tcPr>
                </a:tc>
                <a:tc>
                  <a:txBody>
                    <a:bodyPr wrap="square" lIns="25400" rIns="25400" tIns="12700" bIns="12700"/>
                    <a:lstStyle/>
                    <a:p>
                      <a:pPr>
                        <a:defRPr sz="700">
                          <a:solidFill>
                            <a:srgbClr val="282828"/>
                          </a:solidFill>
                        </a:defRPr>
                      </a:pPr>
                      <a:r>
                        <a:t>Nodes with Step1 completed</a:t>
                      </a:r>
                    </a:p>
                  </a:txBody>
                  <a:tcPr>
                    <a:solidFill>
                      <a:srgbClr val="F2F6FC"/>
                    </a:solidFill>
                  </a:tcPr>
                </a:tc>
              </a:tr>
              <a:tr h="265430">
                <a:tc>
                  <a:txBody>
                    <a:bodyPr wrap="square" lIns="25400" rIns="25400" tIns="12700" bIns="12700"/>
                    <a:lstStyle/>
                    <a:p>
                      <a:pPr>
                        <a:defRPr sz="700">
                          <a:solidFill>
                            <a:srgbClr val="282828"/>
                          </a:solidFill>
                        </a:defRPr>
                      </a:pPr>
                      <a:r>
                        <a:t>NRFreqRelation</a:t>
                      </a:r>
                    </a:p>
                  </a:txBody>
                  <a:tcPr/>
                </a:tc>
                <a:tc>
                  <a:txBody>
                    <a:bodyPr wrap="square" lIns="25400" rIns="25400" tIns="12700" bIns="12700"/>
                    <a:lstStyle/>
                    <a:p>
                      <a:pPr>
                        <a:defRPr sz="700">
                          <a:solidFill>
                            <a:srgbClr val="282828"/>
                          </a:solidFill>
                        </a:defRPr>
                      </a:pPr>
                      <a:r>
                        <a:t>NR Frequency Inconsistencies</a:t>
                      </a:r>
                    </a:p>
                  </a:txBody>
                  <a:tcPr/>
                </a:tc>
                <a:tc>
                  <a:txBody>
                    <a:bodyPr wrap="square" lIns="25400" rIns="25400" tIns="12700" bIns="12700"/>
                    <a:lstStyle/>
                    <a:p>
                      <a:pPr>
                        <a:defRPr sz="700">
                          <a:solidFill>
                            <a:srgbClr val="282828"/>
                          </a:solidFill>
                        </a:defRPr>
                      </a:pPr>
                      <a:r>
                        <a:t>NR nodes with the N77 SSB not in (648672, 647328)</a:t>
                      </a:r>
                    </a:p>
                  </a:txBody>
                  <a:tcPr/>
                </a:tc>
                <a:tc>
                  <a:txBody>
                    <a:bodyPr wrap="square" lIns="25400" rIns="25400" tIns="12700" bIns="12700"/>
                    <a:lstStyle/>
                    <a:p>
                      <a:pPr>
                        <a:defRPr sz="700">
                          <a:solidFill>
                            <a:srgbClr val="282828"/>
                          </a:solidFill>
                        </a:defRPr>
                      </a:pPr>
                    </a:p>
                  </a:txBody>
                  <a:tcPr/>
                </a:tc>
              </a:tr>
              <a:tr h="505460">
                <a:tc>
                  <a:txBody>
                    <a:bodyPr wrap="square" lIns="25400" rIns="25400" tIns="12700" bIns="12700"/>
                    <a:lstStyle/>
                    <a:p>
                      <a:pPr>
                        <a:defRPr sz="700">
                          <a:solidFill>
                            <a:srgbClr val="282828"/>
                          </a:solidFill>
                        </a:defRPr>
                      </a:pPr>
                      <a:r>
                        <a:t>NRFreqRelation</a:t>
                      </a:r>
                    </a:p>
                  </a:txBody>
                  <a:tcPr>
                    <a:solidFill>
                      <a:srgbClr val="F2F6FC"/>
                    </a:solidFill>
                  </a:tcPr>
                </a:tc>
                <a:tc>
                  <a:txBody>
                    <a:bodyPr wrap="square" lIns="25400" rIns="25400" tIns="12700" bIns="12700"/>
                    <a:lstStyle/>
                    <a:p>
                      <a:pPr>
                        <a:defRPr sz="700">
                          <a:solidFill>
                            <a:srgbClr val="282828"/>
                          </a:solidFill>
                        </a:defRPr>
                      </a:pPr>
                      <a:r>
                        <a:t>NR Frequency Inconsistencies</a:t>
                      </a:r>
                    </a:p>
                  </a:txBody>
                  <a:tcPr>
                    <a:solidFill>
                      <a:srgbClr val="F2F6FC"/>
                    </a:solidFill>
                  </a:tcPr>
                </a:tc>
                <a:tc>
                  <a:txBody>
                    <a:bodyPr wrap="square" lIns="25400" rIns="25400" tIns="12700" bIns="12700"/>
                    <a:lstStyle/>
                    <a:p>
                      <a:pPr>
                        <a:defRPr sz="700">
                          <a:solidFill>
                            <a:srgbClr val="282828"/>
                          </a:solidFill>
                        </a:defRPr>
                      </a:pPr>
                      <a:r>
                        <a:t>NR nodes with Auto-created NRFreqRelationId to new N77 SSB (647328) but not following VZ naming convention (e.g. with extra characters: "auto_647328")</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385445">
                <a:tc>
                  <a:txBody>
                    <a:bodyPr wrap="square" lIns="25400" rIns="25400" tIns="12700" bIns="12700"/>
                    <a:lstStyle/>
                    <a:p>
                      <a:pPr>
                        <a:defRPr sz="700">
                          <a:solidFill>
                            <a:srgbClr val="282828"/>
                          </a:solidFill>
                        </a:defRPr>
                      </a:pPr>
                      <a:r>
                        <a:t>NRFreqRelation</a:t>
                      </a:r>
                    </a:p>
                  </a:txBody>
                  <a:tcPr/>
                </a:tc>
                <a:tc>
                  <a:txBody>
                    <a:bodyPr wrap="square" lIns="25400" rIns="25400" tIns="12700" bIns="12700"/>
                    <a:lstStyle/>
                    <a:p>
                      <a:pPr>
                        <a:defRPr sz="700">
                          <a:solidFill>
                            <a:srgbClr val="282828"/>
                          </a:solidFill>
                        </a:defRPr>
                      </a:pPr>
                      <a:r>
                        <a:t>NR Frequency Inconsistencies</a:t>
                      </a:r>
                    </a:p>
                  </a:txBody>
                  <a:tcPr/>
                </a:tc>
                <a:tc>
                  <a:txBody>
                    <a:bodyPr wrap="square" lIns="25400" rIns="25400" tIns="12700" bIns="12700"/>
                    <a:lstStyle/>
                    <a:p>
                      <a:pPr>
                        <a:defRPr sz="700">
                          <a:solidFill>
                            <a:srgbClr val="282828"/>
                          </a:solidFill>
                        </a:defRPr>
                      </a:pPr>
                      <a:r>
                        <a:t>NR Nodes with the new N77 SSB (647328) and NRFreqRelation reference to McpcPCellNrFreqRelProfile with old SSB before "_" (648672_xxxx)</a:t>
                      </a:r>
                    </a:p>
                  </a:txBody>
                  <a:tcPr/>
                </a:tc>
                <a:tc>
                  <a:txBody>
                    <a:bodyPr wrap="square" lIns="25400" rIns="25400" tIns="12700" bIns="12700"/>
                    <a:lstStyle/>
                    <a:p>
                      <a:pPr>
                        <a:defRPr sz="700">
                          <a:solidFill>
                            <a:srgbClr val="282828"/>
                          </a:solidFill>
                        </a:defRPr>
                      </a:pPr>
                      <a:r>
                        <a:t>Need to review Step2b execution</a:t>
                      </a:r>
                    </a:p>
                  </a:txBody>
                  <a:tcPr/>
                </a:tc>
              </a:tr>
              <a:tr h="505460">
                <a:tc>
                  <a:txBody>
                    <a:bodyPr wrap="square" lIns="25400" rIns="25400" tIns="12700" bIns="12700"/>
                    <a:lstStyle/>
                    <a:p>
                      <a:pPr>
                        <a:defRPr sz="700">
                          <a:solidFill>
                            <a:srgbClr val="282828"/>
                          </a:solidFill>
                        </a:defRPr>
                      </a:pPr>
                      <a:r>
                        <a:t>NRFreqRelation</a:t>
                      </a:r>
                    </a:p>
                  </a:txBody>
                  <a:tcPr>
                    <a:solidFill>
                      <a:srgbClr val="F2F6FC"/>
                    </a:solidFill>
                  </a:tcPr>
                </a:tc>
                <a:tc>
                  <a:txBody>
                    <a:bodyPr wrap="square" lIns="25400" rIns="25400" tIns="12700" bIns="12700"/>
                    <a:lstStyle/>
                    <a:p>
                      <a:pPr>
                        <a:defRPr sz="700">
                          <a:solidFill>
                            <a:srgbClr val="282828"/>
                          </a:solidFill>
                        </a:defRPr>
                      </a:pPr>
                      <a:r>
                        <a:t>NR Frequency Inconsistencies</a:t>
                      </a:r>
                    </a:p>
                  </a:txBody>
                  <a:tcPr>
                    <a:solidFill>
                      <a:srgbClr val="F2F6FC"/>
                    </a:solidFill>
                  </a:tcPr>
                </a:tc>
                <a:tc>
                  <a:txBody>
                    <a:bodyPr wrap="square" lIns="25400" rIns="25400" tIns="12700" bIns="12700"/>
                    <a:lstStyle/>
                    <a:p>
                      <a:pPr>
                        <a:defRPr sz="700">
                          <a:solidFill>
                            <a:srgbClr val="282828"/>
                          </a:solidFill>
                        </a:defRPr>
                      </a:pPr>
                      <a:r>
                        <a:t>NR nodes with the old N77 SSB (648672) and the new SSB (647328) NRFreqRelation pointing to same mcpcPCellNrFreqRelProfileRef containing old SSB name</a:t>
                      </a:r>
                    </a:p>
                  </a:txBody>
                  <a:tcPr>
                    <a:solidFill>
                      <a:srgbClr val="F2F6FC"/>
                    </a:solidFill>
                  </a:tcPr>
                </a:tc>
                <a:tc>
                  <a:txBody>
                    <a:bodyPr wrap="square" lIns="25400" rIns="25400" tIns="12700" bIns="12700"/>
                    <a:lstStyle/>
                    <a:p>
                      <a:pPr>
                        <a:defRPr sz="700">
                          <a:solidFill>
                            <a:srgbClr val="282828"/>
                          </a:solidFill>
                        </a:defRPr>
                      </a:pPr>
                      <a:r>
                        <a:t>Need to run Step1 on these nodes</a:t>
                      </a:r>
                    </a:p>
                  </a:txBody>
                  <a:tcPr>
                    <a:solidFill>
                      <a:srgbClr val="F2F6FC"/>
                    </a:solidFill>
                  </a:tcPr>
                </a:tc>
              </a:tr>
              <a:tr h="385445">
                <a:tc>
                  <a:txBody>
                    <a:bodyPr wrap="square" lIns="25400" rIns="25400" tIns="12700" bIns="12700"/>
                    <a:lstStyle/>
                    <a:p>
                      <a:pPr>
                        <a:defRPr sz="700">
                          <a:solidFill>
                            <a:srgbClr val="282828"/>
                          </a:solidFill>
                        </a:defRPr>
                      </a:pPr>
                      <a:r>
                        <a:t>NRFreqRelation</a:t>
                      </a:r>
                    </a:p>
                  </a:txBody>
                  <a:tcPr/>
                </a:tc>
                <a:tc>
                  <a:txBody>
                    <a:bodyPr wrap="square" lIns="25400" rIns="25400" tIns="12700" bIns="12700"/>
                    <a:lstStyle/>
                    <a:p>
                      <a:pPr>
                        <a:defRPr sz="700">
                          <a:solidFill>
                            <a:srgbClr val="282828"/>
                          </a:solidFill>
                        </a:defRPr>
                      </a:pPr>
                      <a:r>
                        <a:t>NR Frequency Inconsistencies</a:t>
                      </a:r>
                    </a:p>
                  </a:txBody>
                  <a:tcPr/>
                </a:tc>
                <a:tc>
                  <a:txBody>
                    <a:bodyPr wrap="square" lIns="25400" rIns="25400" tIns="12700" bIns="12700"/>
                    <a:lstStyle/>
                    <a:p>
                      <a:pPr>
                        <a:defRPr sz="700">
                          <a:solidFill>
                            <a:srgbClr val="282828"/>
                          </a:solidFill>
                        </a:defRPr>
                      </a:pPr>
                      <a:r>
                        <a:t>NR nodes with mismatching params (cell-level) between old N77 SSB (648672) and the new N77 SSB (647328)</a:t>
                      </a:r>
                    </a:p>
                  </a:txBody>
                  <a:tcPr/>
                </a:tc>
                <a:tc>
                  <a:txBody>
                    <a:bodyPr wrap="square" lIns="25400" rIns="25400" tIns="12700" bIns="12700"/>
                    <a:lstStyle/>
                    <a:p>
                      <a:pPr>
                        <a:defRPr sz="700">
                          <a:solidFill>
                            <a:srgbClr val="282828"/>
                          </a:solidFill>
                        </a:defRPr>
                      </a:pPr>
                      <a:r>
                        <a:t>Need to review. Step1 run could solve most cases</a:t>
                      </a:r>
                    </a:p>
                  </a:txBody>
                  <a:tcPr/>
                </a:tc>
              </a:tr>
              <a:tr h="265430">
                <a:tc>
                  <a:txBody>
                    <a:bodyPr wrap="square" lIns="25400" rIns="25400" tIns="12700" bIns="12700"/>
                    <a:lstStyle/>
                    <a:p>
                      <a:pPr>
                        <a:defRPr sz="700">
                          <a:solidFill>
                            <a:srgbClr val="282828"/>
                          </a:solidFill>
                        </a:defRPr>
                      </a:pPr>
                      <a:r>
                        <a:t>NRCellRelation</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NR cellRelations to old N77 SSB (648672)</a:t>
                      </a:r>
                    </a:p>
                  </a:txBody>
                  <a:tcPr>
                    <a:solidFill>
                      <a:srgbClr val="F2F6FC"/>
                    </a:solidFill>
                  </a:tcPr>
                </a:tc>
                <a:tc>
                  <a:txBody>
                    <a:bodyPr wrap="square" lIns="25400" rIns="25400" tIns="12700" bIns="12700"/>
                    <a:lstStyle/>
                    <a:p>
                      <a:pPr>
                        <a:defRPr sz="700">
                          <a:solidFill>
                            <a:srgbClr val="282828"/>
                          </a:solidFill>
                        </a:defRPr>
                      </a:pPr>
                      <a:r>
                        <a:t>Post Step2 some relations pointing to other Mkts could be on old SSB. See details in table</a:t>
                      </a:r>
                    </a:p>
                  </a:txBody>
                  <a:tcPr>
                    <a:solidFill>
                      <a:srgbClr val="F2F6FC"/>
                    </a:solidFill>
                  </a:tcPr>
                </a:tc>
              </a:tr>
              <a:tr h="145415">
                <a:tc>
                  <a:txBody>
                    <a:bodyPr wrap="square" lIns="25400" rIns="25400" tIns="12700" bIns="12700"/>
                    <a:lstStyle/>
                    <a:p>
                      <a:pPr>
                        <a:defRPr sz="700">
                          <a:solidFill>
                            <a:srgbClr val="282828"/>
                          </a:solidFill>
                        </a:defRPr>
                      </a:pPr>
                      <a:r>
                        <a:t>NRCellRelation</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NR cellRelations to new N77 SSB (647328)</a:t>
                      </a:r>
                    </a:p>
                  </a:txBody>
                  <a:tcPr/>
                </a:tc>
                <a:tc>
                  <a:txBody>
                    <a:bodyPr wrap="square" lIns="25400" rIns="25400" tIns="12700" bIns="12700"/>
                    <a:lstStyle/>
                    <a:p>
                      <a:pPr>
                        <a:defRPr sz="700">
                          <a:solidFill>
                            <a:srgbClr val="282828"/>
                          </a:solidFill>
                        </a:defRPr>
                      </a:pPr>
                    </a:p>
                  </a:txBody>
                  <a:tcPr/>
                </a:tc>
              </a:tr>
              <a:tr h="145415">
                <a:tc>
                  <a:txBody>
                    <a:bodyPr wrap="square" lIns="25400" rIns="25400" tIns="12700" bIns="12700"/>
                    <a:lstStyle/>
                    <a:p>
                      <a:pPr>
                        <a:defRPr sz="700">
                          <a:solidFill>
                            <a:srgbClr val="282828"/>
                          </a:solidFill>
                        </a:defRPr>
                      </a:pPr>
                      <a:r>
                        <a:t>ExternalNRCellCU</a:t>
                      </a:r>
                    </a:p>
                  </a:txBody>
                  <a:tcPr>
                    <a:solidFill>
                      <a:srgbClr val="F2F6FC"/>
                    </a:solidFill>
                  </a:tcPr>
                </a:tc>
                <a:tc>
                  <a:txBody>
                    <a:bodyPr wrap="square" lIns="25400" rIns="25400" tIns="12700" bIns="12700"/>
                    <a:lstStyle/>
                    <a:p>
                      <a:pPr>
                        <a:defRPr sz="700">
                          <a:solidFill>
                            <a:srgbClr val="282828"/>
                          </a:solidFill>
                        </a:defRPr>
                      </a:pPr>
                      <a:r>
                        <a:t>NR Frequency Audit</a:t>
                      </a:r>
                    </a:p>
                  </a:txBody>
                  <a:tcPr>
                    <a:solidFill>
                      <a:srgbClr val="F2F6FC"/>
                    </a:solidFill>
                  </a:tcPr>
                </a:tc>
                <a:tc>
                  <a:txBody>
                    <a:bodyPr wrap="square" lIns="25400" rIns="25400" tIns="12700" bIns="12700"/>
                    <a:lstStyle/>
                    <a:p>
                      <a:pPr>
                        <a:defRPr sz="700">
                          <a:solidFill>
                            <a:srgbClr val="282828"/>
                          </a:solidFill>
                        </a:defRPr>
                      </a:pPr>
                      <a:r>
                        <a:t>External cells to old N77 SSB (648672)</a:t>
                      </a:r>
                    </a:p>
                  </a:txBody>
                  <a:tcPr>
                    <a:solidFill>
                      <a:srgbClr val="F2F6FC"/>
                    </a:solidFill>
                  </a:tcPr>
                </a:tc>
                <a:tc>
                  <a:txBody>
                    <a:bodyPr wrap="square" lIns="25400" rIns="25400" tIns="12700" bIns="12700"/>
                    <a:lstStyle/>
                    <a:p>
                      <a:pPr>
                        <a:defRPr sz="700">
                          <a:solidFill>
                            <a:srgbClr val="282828"/>
                          </a:solidFill>
                        </a:defRPr>
                      </a:pPr>
                      <a:r>
                        <a:t>PN and DAS might have no External relations defined</a:t>
                      </a:r>
                    </a:p>
                  </a:txBody>
                  <a:tcPr>
                    <a:solidFill>
                      <a:srgbClr val="F2F6FC"/>
                    </a:solidFill>
                  </a:tcPr>
                </a:tc>
              </a:tr>
              <a:tr h="145415">
                <a:tc>
                  <a:txBody>
                    <a:bodyPr wrap="square" lIns="25400" rIns="25400" tIns="12700" bIns="12700"/>
                    <a:lstStyle/>
                    <a:p>
                      <a:pPr>
                        <a:defRPr sz="700">
                          <a:solidFill>
                            <a:srgbClr val="282828"/>
                          </a:solidFill>
                        </a:defRPr>
                      </a:pPr>
                      <a:r>
                        <a:t>ExternalNRCellCU</a:t>
                      </a:r>
                    </a:p>
                  </a:txBody>
                  <a:tcPr/>
                </a:tc>
                <a:tc>
                  <a:txBody>
                    <a:bodyPr wrap="square" lIns="25400" rIns="25400" tIns="12700" bIns="12700"/>
                    <a:lstStyle/>
                    <a:p>
                      <a:pPr>
                        <a:defRPr sz="700">
                          <a:solidFill>
                            <a:srgbClr val="282828"/>
                          </a:solidFill>
                        </a:defRPr>
                      </a:pPr>
                      <a:r>
                        <a:t>NR Frequency Audit</a:t>
                      </a:r>
                    </a:p>
                  </a:txBody>
                  <a:tcPr/>
                </a:tc>
                <a:tc>
                  <a:txBody>
                    <a:bodyPr wrap="square" lIns="25400" rIns="25400" tIns="12700" bIns="12700"/>
                    <a:lstStyle/>
                    <a:p>
                      <a:pPr>
                        <a:defRPr sz="700">
                          <a:solidFill>
                            <a:srgbClr val="282828"/>
                          </a:solidFill>
                        </a:defRPr>
                      </a:pPr>
                      <a:r>
                        <a:t>External cells to new N77 SSB (647328)</a:t>
                      </a:r>
                    </a:p>
                  </a:txBody>
                  <a:tcPr/>
                </a:tc>
                <a:tc>
                  <a:txBody>
                    <a:bodyPr wrap="square" lIns="25400" rIns="25400" tIns="12700" bIns="12700"/>
                    <a:lstStyle/>
                    <a:p>
                      <a:pPr>
                        <a:defRPr sz="700">
                          <a:solidFill>
                            <a:srgbClr val="282828"/>
                          </a:solidFill>
                        </a:defRPr>
                      </a:pPr>
                      <a:r>
                        <a:t>PN and DAS might have no External relations defined</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LTE Frequency Audit / LTE Frequency Inconsistencies</a:t>
            </a:r>
          </a:p>
        </p:txBody>
      </p:sp>
      <p:sp>
        <p:nvSpPr>
          <p:cNvPr id="3" name="Content Placeholder 2"/>
          <p:cNvSpPr>
            <a:spLocks noGrp="1"/>
          </p:cNvSpPr>
          <p:nvPr>
            <p:ph idx="1"/>
          </p:nvPr>
        </p:nvSpPr>
        <p:spPr/>
        <p:txBody>
          <a:bodyPr/>
          <a:lstStyle/>
          <a:p>
            <a:pPr>
              <a:buNone/>
              <a:defRPr sz="1200"/>
            </a:pPr>
            <a:r>
              <a:t>Source tables: "GUtranSyncSignalFrequency", "GUtranFreqRelation", "GUtranCellRelation", "ExternalGUtranCell", "TermPointToENodeB".</a:t>
            </a:r>
          </a:p>
          <a:p>
            <a:pPr>
              <a:buNone/>
              <a:defRPr sz="1200"/>
            </a:pPr>
            <a:r>
              <a:t>Main checks:</a:t>
            </a:r>
          </a:p>
          <a:p>
            <a:pPr lvl="1">
              <a:buChar char="•"/>
              <a:defRPr sz="1200"/>
            </a:pPr>
            <a:r>
              <a:t>LTE nodes with old/new SSB.</a:t>
            </a:r>
          </a:p>
          <a:p>
            <a:pPr lvl="1">
              <a:buChar char="•"/>
              <a:defRPr sz="1200"/>
            </a:pPr>
            <a:r>
              <a:t>Nodes with both old/new or old without new.</a:t>
            </a:r>
          </a:p>
          <a:p>
            <a:pPr lvl="1">
              <a:buChar char="•"/>
              <a:defRPr sz="1200"/>
            </a:pPr>
            <a:r>
              <a:t>SSB outside the expected pre/post set.</a:t>
            </a:r>
          </a:p>
          <a:p>
            <a:pPr lvl="1">
              <a:buChar char="•"/>
              <a:defRPr sz="1200"/>
            </a:pPr>
            <a:r>
              <a:t>LTE relations to old/new and parameter discrepancies per cell relation.</a:t>
            </a:r>
          </a:p>
          <a:p>
            <a:pPr lvl="1">
              <a:buChar char="•"/>
              <a:defRPr sz="1200"/>
            </a:pPr>
            <a:r>
              <a:t>LTE externals OUT_OF_SERVICE for old/new.</a:t>
            </a:r>
          </a:p>
          <a:p>
            <a:pPr>
              <a:buNone/>
              <a:defRPr sz="1200"/>
            </a:pPr>
            <a:r>
              <a:t>Complete Checks List: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LTE Frequency Audit / LTE Frequency Inconsistencies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609600" y="1437111"/>
          <a:ext cx="10972800" cy="4380230"/>
        </p:xfrm>
        <a:graphic>
          <a:graphicData uri="http://schemas.openxmlformats.org/drawingml/2006/table">
            <a:tbl>
              <a:tblPr firstRow="1" bandRow="1">
                <a:tableStyleId>{5C22544A-7EE6-4342-B048-85BDC9FD1C3A}</a:tableStyleId>
              </a:tblPr>
              <a:tblGrid>
                <a:gridCol w="1108611"/>
                <a:gridCol w="1475892"/>
                <a:gridCol w="2926080"/>
                <a:gridCol w="5462217"/>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GUtranFreqRelation</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LTE nodes with the old N77 SSB (648672)</a:t>
                      </a:r>
                    </a:p>
                  </a:txBody>
                  <a:tcPr/>
                </a:tc>
                <a:tc>
                  <a:txBody>
                    <a:bodyPr wrap="square" lIns="25400" rIns="25400" tIns="12700" bIns="12700"/>
                    <a:lstStyle/>
                    <a:p>
                      <a:pPr>
                        <a:defRPr sz="700">
                          <a:solidFill>
                            <a:srgbClr val="282828"/>
                          </a:solidFill>
                        </a:defRPr>
                      </a:pPr>
                      <a:r>
                        <a:t>Need to run Step1 on these nodes</a:t>
                      </a:r>
                    </a:p>
                  </a:txBody>
                  <a:tcPr/>
                </a:tc>
              </a:tr>
              <a:tr h="265430">
                <a:tc>
                  <a:txBody>
                    <a:bodyPr wrap="square" lIns="25400" rIns="25400" tIns="12700" bIns="12700"/>
                    <a:lstStyle/>
                    <a:p>
                      <a:pPr>
                        <a:defRPr sz="700">
                          <a:solidFill>
                            <a:srgbClr val="282828"/>
                          </a:solidFill>
                        </a:defRPr>
                      </a:pPr>
                      <a:r>
                        <a:t>GUtranFreqRelation</a:t>
                      </a:r>
                    </a:p>
                  </a:txBody>
                  <a:tcPr>
                    <a:solidFill>
                      <a:srgbClr val="F2F6FC"/>
                    </a:solidFill>
                  </a:tcPr>
                </a:tc>
                <a:tc>
                  <a:txBody>
                    <a:bodyPr wrap="square" lIns="25400" rIns="25400" tIns="12700" bIns="12700"/>
                    <a:lstStyle/>
                    <a:p>
                      <a:pPr>
                        <a:defRPr sz="700">
                          <a:solidFill>
                            <a:srgbClr val="282828"/>
                          </a:solidFill>
                        </a:defRPr>
                      </a:pPr>
                      <a:r>
                        <a:t>LTE Frequency Audit</a:t>
                      </a:r>
                    </a:p>
                  </a:txBody>
                  <a:tcPr>
                    <a:solidFill>
                      <a:srgbClr val="F2F6FC"/>
                    </a:solidFill>
                  </a:tcPr>
                </a:tc>
                <a:tc>
                  <a:txBody>
                    <a:bodyPr wrap="square" lIns="25400" rIns="25400" tIns="12700" bIns="12700"/>
                    <a:lstStyle/>
                    <a:p>
                      <a:pPr>
                        <a:defRPr sz="700">
                          <a:solidFill>
                            <a:srgbClr val="282828"/>
                          </a:solidFill>
                        </a:defRPr>
                      </a:pPr>
                      <a:r>
                        <a:t>LTE nodes with the new N77 SSB (647328)</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GUtranFreqRelation</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LTE nodes with both, the old N77 SSB (648672) and the new N77 SSB (647328)</a:t>
                      </a:r>
                    </a:p>
                  </a:txBody>
                  <a:tcPr/>
                </a:tc>
                <a:tc>
                  <a:txBody>
                    <a:bodyPr wrap="square" lIns="25400" rIns="25400" tIns="12700" bIns="12700"/>
                    <a:lstStyle/>
                    <a:p>
                      <a:pPr>
                        <a:defRPr sz="700">
                          <a:solidFill>
                            <a:srgbClr val="282828"/>
                          </a:solidFill>
                        </a:defRPr>
                      </a:pPr>
                      <a:r>
                        <a:t>Nodes with Step1 completed</a:t>
                      </a:r>
                    </a:p>
                  </a:txBody>
                  <a:tcPr/>
                </a:tc>
              </a:tr>
              <a:tr h="265430">
                <a:tc>
                  <a:txBody>
                    <a:bodyPr wrap="square" lIns="25400" rIns="25400" tIns="12700" bIns="12700"/>
                    <a:lstStyle/>
                    <a:p>
                      <a:pPr>
                        <a:defRPr sz="700">
                          <a:solidFill>
                            <a:srgbClr val="282828"/>
                          </a:solidFill>
                        </a:defRPr>
                      </a:pPr>
                      <a:r>
                        <a:t>GUtranFreqRelation</a:t>
                      </a:r>
                    </a:p>
                  </a:txBody>
                  <a:tcPr>
                    <a:solidFill>
                      <a:srgbClr val="F2F6FC"/>
                    </a:solidFill>
                  </a:tcPr>
                </a:tc>
                <a:tc>
                  <a:txBody>
                    <a:bodyPr wrap="square" lIns="25400" rIns="25400" tIns="12700" bIns="12700"/>
                    <a:lstStyle/>
                    <a:p>
                      <a:pPr>
                        <a:defRPr sz="700">
                          <a:solidFill>
                            <a:srgbClr val="282828"/>
                          </a:solidFill>
                        </a:defRPr>
                      </a:pPr>
                      <a:r>
                        <a:t>LTE Frequency Audit</a:t>
                      </a:r>
                    </a:p>
                  </a:txBody>
                  <a:tcPr>
                    <a:solidFill>
                      <a:srgbClr val="F2F6FC"/>
                    </a:solidFill>
                  </a:tcPr>
                </a:tc>
                <a:tc>
                  <a:txBody>
                    <a:bodyPr wrap="square" lIns="25400" rIns="25400" tIns="12700" bIns="12700"/>
                    <a:lstStyle/>
                    <a:p>
                      <a:pPr>
                        <a:defRPr sz="700">
                          <a:solidFill>
                            <a:srgbClr val="282828"/>
                          </a:solidFill>
                        </a:defRPr>
                      </a:pPr>
                      <a:r>
                        <a:t>LTE nodes with the old N77 SSB (648672) but without the new SSB (647328)</a:t>
                      </a:r>
                    </a:p>
                  </a:txBody>
                  <a:tcPr>
                    <a:solidFill>
                      <a:srgbClr val="F2F6FC"/>
                    </a:solidFill>
                  </a:tcPr>
                </a:tc>
                <a:tc>
                  <a:txBody>
                    <a:bodyPr wrap="square" lIns="25400" rIns="25400" tIns="12700" bIns="12700"/>
                    <a:lstStyle/>
                    <a:p>
                      <a:pPr>
                        <a:defRPr sz="700">
                          <a:solidFill>
                            <a:srgbClr val="282828"/>
                          </a:solidFill>
                        </a:defRPr>
                      </a:pPr>
                      <a:r>
                        <a:t>Need to run Step1 on this nodes</a:t>
                      </a:r>
                    </a:p>
                  </a:txBody>
                  <a:tcPr>
                    <a:solidFill>
                      <a:srgbClr val="F2F6FC"/>
                    </a:solidFill>
                  </a:tcPr>
                </a:tc>
              </a:tr>
              <a:tr h="265430">
                <a:tc>
                  <a:txBody>
                    <a:bodyPr wrap="square" lIns="25400" rIns="25400" tIns="12700" bIns="12700"/>
                    <a:lstStyle/>
                    <a:p>
                      <a:pPr>
                        <a:defRPr sz="700">
                          <a:solidFill>
                            <a:srgbClr val="282828"/>
                          </a:solidFill>
                        </a:defRPr>
                      </a:pPr>
                      <a:r>
                        <a:t>GUtranFreqRelation</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LTE nodes with some cells missing relations to new SSB  (647328)</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GUtranFreqRelation</a:t>
                      </a:r>
                    </a:p>
                  </a:txBody>
                  <a:tcPr>
                    <a:solidFill>
                      <a:srgbClr val="F2F6FC"/>
                    </a:solidFill>
                  </a:tcPr>
                </a:tc>
                <a:tc>
                  <a:txBody>
                    <a:bodyPr wrap="square" lIns="25400" rIns="25400" tIns="12700" bIns="12700"/>
                    <a:lstStyle/>
                    <a:p>
                      <a:pPr>
                        <a:defRPr sz="700">
                          <a:solidFill>
                            <a:srgbClr val="282828"/>
                          </a:solidFill>
                        </a:defRPr>
                      </a:pPr>
                      <a:r>
                        <a:t>LTE Frequency Inconsistencies</a:t>
                      </a:r>
                    </a:p>
                  </a:txBody>
                  <a:tcPr>
                    <a:solidFill>
                      <a:srgbClr val="F2F6FC"/>
                    </a:solidFill>
                  </a:tcPr>
                </a:tc>
                <a:tc>
                  <a:txBody>
                    <a:bodyPr wrap="square" lIns="25400" rIns="25400" tIns="12700" bIns="12700"/>
                    <a:lstStyle/>
                    <a:p>
                      <a:pPr>
                        <a:defRPr sz="700">
                          <a:solidFill>
                            <a:srgbClr val="282828"/>
                          </a:solidFill>
                        </a:defRPr>
                      </a:pPr>
                      <a:r>
                        <a:t>LTE nodes with the N77 SSB not in (648672, 647328)</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385445">
                <a:tc>
                  <a:txBody>
                    <a:bodyPr wrap="square" lIns="25400" rIns="25400" tIns="12700" bIns="12700"/>
                    <a:lstStyle/>
                    <a:p>
                      <a:pPr>
                        <a:defRPr sz="700">
                          <a:solidFill>
                            <a:srgbClr val="282828"/>
                          </a:solidFill>
                        </a:defRPr>
                      </a:pPr>
                      <a:r>
                        <a:t>GUtranFreqRelation</a:t>
                      </a:r>
                    </a:p>
                  </a:txBody>
                  <a:tcPr/>
                </a:tc>
                <a:tc>
                  <a:txBody>
                    <a:bodyPr wrap="square" lIns="25400" rIns="25400" tIns="12700" bIns="12700"/>
                    <a:lstStyle/>
                    <a:p>
                      <a:pPr>
                        <a:defRPr sz="700">
                          <a:solidFill>
                            <a:srgbClr val="282828"/>
                          </a:solidFill>
                        </a:defRPr>
                      </a:pPr>
                      <a:r>
                        <a:t>LTE Frequency Inconsistencies</a:t>
                      </a:r>
                    </a:p>
                  </a:txBody>
                  <a:tcPr/>
                </a:tc>
                <a:tc>
                  <a:txBody>
                    <a:bodyPr wrap="square" lIns="25400" rIns="25400" tIns="12700" bIns="12700"/>
                    <a:lstStyle/>
                    <a:p>
                      <a:pPr>
                        <a:defRPr sz="700">
                          <a:solidFill>
                            <a:srgbClr val="282828"/>
                          </a:solidFill>
                        </a:defRPr>
                      </a:pPr>
                      <a:r>
                        <a:t>LTE nodes with Auto-created GUtranFreqRelationId to new N77 SSB (647328) but not following VZ naming convention (647328-30-20-0-1)</a:t>
                      </a:r>
                    </a:p>
                  </a:txBody>
                  <a:tcPr/>
                </a:tc>
                <a:tc>
                  <a:txBody>
                    <a:bodyPr wrap="square" lIns="25400" rIns="25400" tIns="12700" bIns="12700"/>
                    <a:lstStyle/>
                    <a:p>
                      <a:pPr>
                        <a:defRPr sz="700">
                          <a:solidFill>
                            <a:srgbClr val="282828"/>
                          </a:solidFill>
                        </a:defRPr>
                      </a:pPr>
                      <a:r>
                        <a:t>Not an issue, unless other inconsistencies raised</a:t>
                      </a:r>
                    </a:p>
                  </a:txBody>
                  <a:tcPr/>
                </a:tc>
              </a:tr>
              <a:tr h="265430">
                <a:tc>
                  <a:txBody>
                    <a:bodyPr wrap="square" lIns="25400" rIns="25400" tIns="12700" bIns="12700"/>
                    <a:lstStyle/>
                    <a:p>
                      <a:pPr>
                        <a:defRPr sz="700">
                          <a:solidFill>
                            <a:srgbClr val="282828"/>
                          </a:solidFill>
                        </a:defRPr>
                      </a:pPr>
                      <a:r>
                        <a:t>GUtranFreqRelation</a:t>
                      </a:r>
                    </a:p>
                  </a:txBody>
                  <a:tcPr>
                    <a:solidFill>
                      <a:srgbClr val="F2F6FC"/>
                    </a:solidFill>
                  </a:tcPr>
                </a:tc>
                <a:tc>
                  <a:txBody>
                    <a:bodyPr wrap="square" lIns="25400" rIns="25400" tIns="12700" bIns="12700"/>
                    <a:lstStyle/>
                    <a:p>
                      <a:pPr>
                        <a:defRPr sz="700">
                          <a:solidFill>
                            <a:srgbClr val="282828"/>
                          </a:solidFill>
                        </a:defRPr>
                      </a:pPr>
                      <a:r>
                        <a:t>LTE Frequency Inconsistencies</a:t>
                      </a:r>
                    </a:p>
                  </a:txBody>
                  <a:tcPr>
                    <a:solidFill>
                      <a:srgbClr val="F2F6FC"/>
                    </a:solidFill>
                  </a:tcPr>
                </a:tc>
                <a:tc>
                  <a:txBody>
                    <a:bodyPr wrap="square" lIns="25400" rIns="25400" tIns="12700" bIns="12700"/>
                    <a:lstStyle/>
                    <a:p>
                      <a:pPr>
                        <a:defRPr sz="700">
                          <a:solidFill>
                            <a:srgbClr val="282828"/>
                          </a:solidFill>
                        </a:defRPr>
                      </a:pPr>
                      <a:r>
                        <a:t>LTE nodes with same endcB1MeasPriority in old N77 SSB (648672) and new N77 SSB (647328)</a:t>
                      </a:r>
                    </a:p>
                  </a:txBody>
                  <a:tcPr>
                    <a:solidFill>
                      <a:srgbClr val="F2F6FC"/>
                    </a:solidFill>
                  </a:tcPr>
                </a:tc>
                <a:tc>
                  <a:txBody>
                    <a:bodyPr wrap="square" lIns="25400" rIns="25400" tIns="12700" bIns="12700"/>
                    <a:lstStyle/>
                    <a:p>
                      <a:pPr>
                        <a:defRPr sz="700">
                          <a:solidFill>
                            <a:srgbClr val="282828"/>
                          </a:solidFill>
                        </a:defRPr>
                      </a:pPr>
                      <a:r>
                        <a:t>Need to review and fix with Step1 or Step2c</a:t>
                      </a:r>
                    </a:p>
                  </a:txBody>
                  <a:tcPr>
                    <a:solidFill>
                      <a:srgbClr val="F2F6FC"/>
                    </a:solidFill>
                  </a:tcPr>
                </a:tc>
              </a:tr>
              <a:tr h="385445">
                <a:tc>
                  <a:txBody>
                    <a:bodyPr wrap="square" lIns="25400" rIns="25400" tIns="12700" bIns="12700"/>
                    <a:lstStyle/>
                    <a:p>
                      <a:pPr>
                        <a:defRPr sz="700">
                          <a:solidFill>
                            <a:srgbClr val="282828"/>
                          </a:solidFill>
                        </a:defRPr>
                      </a:pPr>
                      <a:r>
                        <a:t>GUtranFreqRelation</a:t>
                      </a:r>
                    </a:p>
                  </a:txBody>
                  <a:tcPr/>
                </a:tc>
                <a:tc>
                  <a:txBody>
                    <a:bodyPr wrap="square" lIns="25400" rIns="25400" tIns="12700" bIns="12700"/>
                    <a:lstStyle/>
                    <a:p>
                      <a:pPr>
                        <a:defRPr sz="700">
                          <a:solidFill>
                            <a:srgbClr val="282828"/>
                          </a:solidFill>
                        </a:defRPr>
                      </a:pPr>
                      <a:r>
                        <a:t>LTE Frequency Inconsistencies</a:t>
                      </a:r>
                    </a:p>
                  </a:txBody>
                  <a:tcPr/>
                </a:tc>
                <a:tc>
                  <a:txBody>
                    <a:bodyPr wrap="square" lIns="25400" rIns="25400" tIns="12700" bIns="12700"/>
                    <a:lstStyle/>
                    <a:p>
                      <a:pPr>
                        <a:defRPr sz="700">
                          <a:solidFill>
                            <a:srgbClr val="282828"/>
                          </a:solidFill>
                        </a:defRPr>
                      </a:pPr>
                      <a:r>
                        <a:t>LTE nodes with mismatching params between GUtranFreqRelationId 648672 and 647328</a:t>
                      </a:r>
                    </a:p>
                  </a:txBody>
                  <a:tcPr/>
                </a:tc>
                <a:tc>
                  <a:txBody>
                    <a:bodyPr wrap="square" lIns="25400" rIns="25400" tIns="12700" bIns="12700"/>
                    <a:lstStyle/>
                    <a:p>
                      <a:pPr>
                        <a:defRPr sz="700">
                          <a:solidFill>
                            <a:srgbClr val="282828"/>
                          </a:solidFill>
                        </a:defRPr>
                      </a:pPr>
                      <a:r>
                        <a:t>Parameters qQualMin, qRxLevMin, threshXHigh agreed to set to fixed values on new freqs and inconsistencies should be reported to VZ. Other inconsistent parameters would require review for further actions.</a:t>
                      </a:r>
                    </a:p>
                  </a:txBody>
                  <a:tcPr/>
                </a:tc>
              </a:tr>
              <a:tr h="265430">
                <a:tc>
                  <a:txBody>
                    <a:bodyPr wrap="square" lIns="25400" rIns="25400" tIns="12700" bIns="12700"/>
                    <a:lstStyle/>
                    <a:p>
                      <a:pPr>
                        <a:defRPr sz="700">
                          <a:solidFill>
                            <a:srgbClr val="282828"/>
                          </a:solidFill>
                        </a:defRPr>
                      </a:pPr>
                      <a:r>
                        <a:t>GUtranCellRelation</a:t>
                      </a:r>
                    </a:p>
                  </a:txBody>
                  <a:tcPr>
                    <a:solidFill>
                      <a:srgbClr val="F2F6FC"/>
                    </a:solidFill>
                  </a:tcPr>
                </a:tc>
                <a:tc>
                  <a:txBody>
                    <a:bodyPr wrap="square" lIns="25400" rIns="25400" tIns="12700" bIns="12700"/>
                    <a:lstStyle/>
                    <a:p>
                      <a:pPr>
                        <a:defRPr sz="700">
                          <a:solidFill>
                            <a:srgbClr val="282828"/>
                          </a:solidFill>
                        </a:defRPr>
                      </a:pPr>
                      <a:r>
                        <a:t>LTE Frequency Audit</a:t>
                      </a:r>
                    </a:p>
                  </a:txBody>
                  <a:tcPr>
                    <a:solidFill>
                      <a:srgbClr val="F2F6FC"/>
                    </a:solidFill>
                  </a:tcPr>
                </a:tc>
                <a:tc>
                  <a:txBody>
                    <a:bodyPr wrap="square" lIns="25400" rIns="25400" tIns="12700" bIns="12700"/>
                    <a:lstStyle/>
                    <a:p>
                      <a:pPr>
                        <a:defRPr sz="700">
                          <a:solidFill>
                            <a:srgbClr val="282828"/>
                          </a:solidFill>
                        </a:defRPr>
                      </a:pPr>
                      <a:r>
                        <a:t>LTE cellRelations to old N77 SSB (648672)</a:t>
                      </a:r>
                    </a:p>
                  </a:txBody>
                  <a:tcPr>
                    <a:solidFill>
                      <a:srgbClr val="F2F6FC"/>
                    </a:solidFill>
                  </a:tcPr>
                </a:tc>
                <a:tc>
                  <a:txBody>
                    <a:bodyPr wrap="square" lIns="25400" rIns="25400" tIns="12700" bIns="12700"/>
                    <a:lstStyle/>
                    <a:p>
                      <a:pPr>
                        <a:defRPr sz="700">
                          <a:solidFill>
                            <a:srgbClr val="282828"/>
                          </a:solidFill>
                        </a:defRPr>
                      </a:pPr>
                      <a:r>
                        <a:t>Post Step2 some relations pointing to other Mkts could be on old SSB. See details in table</a:t>
                      </a:r>
                    </a:p>
                  </a:txBody>
                  <a:tcPr>
                    <a:solidFill>
                      <a:srgbClr val="F2F6FC"/>
                    </a:solidFill>
                  </a:tcPr>
                </a:tc>
              </a:tr>
              <a:tr h="265430">
                <a:tc>
                  <a:txBody>
                    <a:bodyPr wrap="square" lIns="25400" rIns="25400" tIns="12700" bIns="12700"/>
                    <a:lstStyle/>
                    <a:p>
                      <a:pPr>
                        <a:defRPr sz="700">
                          <a:solidFill>
                            <a:srgbClr val="282828"/>
                          </a:solidFill>
                        </a:defRPr>
                      </a:pPr>
                      <a:r>
                        <a:t>GUtranCellRelation</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LTE cellRelations to new N77 SSB (647328)</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ExternalGUtranCell</a:t>
                      </a:r>
                    </a:p>
                  </a:txBody>
                  <a:tcPr>
                    <a:solidFill>
                      <a:srgbClr val="F2F6FC"/>
                    </a:solidFill>
                  </a:tcPr>
                </a:tc>
                <a:tc>
                  <a:txBody>
                    <a:bodyPr wrap="square" lIns="25400" rIns="25400" tIns="12700" bIns="12700"/>
                    <a:lstStyle/>
                    <a:p>
                      <a:pPr>
                        <a:defRPr sz="700">
                          <a:solidFill>
                            <a:srgbClr val="282828"/>
                          </a:solidFill>
                        </a:defRPr>
                      </a:pPr>
                      <a:r>
                        <a:t>LTE Frequency Audit</a:t>
                      </a:r>
                    </a:p>
                  </a:txBody>
                  <a:tcPr>
                    <a:solidFill>
                      <a:srgbClr val="F2F6FC"/>
                    </a:solidFill>
                  </a:tcPr>
                </a:tc>
                <a:tc>
                  <a:txBody>
                    <a:bodyPr wrap="square" lIns="25400" rIns="25400" tIns="12700" bIns="12700"/>
                    <a:lstStyle/>
                    <a:p>
                      <a:pPr>
                        <a:defRPr sz="700">
                          <a:solidFill>
                            <a:srgbClr val="282828"/>
                          </a:solidFill>
                        </a:defRPr>
                      </a:pPr>
                      <a:r>
                        <a:t>External cells to old N77 SSB (648672)</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ExternalGUtranCell</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External cells to new N77 SSB (647328)</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ExternalGUtranCell</a:t>
                      </a:r>
                    </a:p>
                  </a:txBody>
                  <a:tcPr>
                    <a:solidFill>
                      <a:srgbClr val="F2F6FC"/>
                    </a:solidFill>
                  </a:tcPr>
                </a:tc>
                <a:tc>
                  <a:txBody>
                    <a:bodyPr wrap="square" lIns="25400" rIns="25400" tIns="12700" bIns="12700"/>
                    <a:lstStyle/>
                    <a:p>
                      <a:pPr>
                        <a:defRPr sz="700">
                          <a:solidFill>
                            <a:srgbClr val="282828"/>
                          </a:solidFill>
                        </a:defRPr>
                      </a:pPr>
                      <a:r>
                        <a:t>LTE Frequency Audit</a:t>
                      </a:r>
                    </a:p>
                  </a:txBody>
                  <a:tcPr>
                    <a:solidFill>
                      <a:srgbClr val="F2F6FC"/>
                    </a:solidFill>
                  </a:tcPr>
                </a:tc>
                <a:tc>
                  <a:txBody>
                    <a:bodyPr wrap="square" lIns="25400" rIns="25400" tIns="12700" bIns="12700"/>
                    <a:lstStyle/>
                    <a:p>
                      <a:pPr>
                        <a:defRPr sz="700">
                          <a:solidFill>
                            <a:srgbClr val="282828"/>
                          </a:solidFill>
                        </a:defRPr>
                      </a:pPr>
                      <a:r>
                        <a:t>External cells to old N77 SSB (648672) with serviceStatus=OUT_OF_SERVICE</a:t>
                      </a:r>
                    </a:p>
                  </a:txBody>
                  <a:tcPr>
                    <a:solidFill>
                      <a:srgbClr val="F2F6FC"/>
                    </a:solidFill>
                  </a:tcPr>
                </a:tc>
                <a:tc>
                  <a:txBody>
                    <a:bodyPr wrap="square" lIns="25400" rIns="25400" tIns="12700" bIns="12700"/>
                    <a:lstStyle/>
                    <a:p>
                      <a:pPr>
                        <a:defRPr sz="700">
                          <a:solidFill>
                            <a:srgbClr val="282828"/>
                          </a:solidFill>
                        </a:defRPr>
                      </a:pPr>
                      <a:r>
                        <a:t>Externals with unavailable TermPoints are not operational for ENDC and might not be updated immediately after Step2</a:t>
                      </a:r>
                    </a:p>
                  </a:txBody>
                  <a:tcPr>
                    <a:solidFill>
                      <a:srgbClr val="F2F6FC"/>
                    </a:solidFill>
                  </a:tcPr>
                </a:tc>
              </a:tr>
              <a:tr h="265430">
                <a:tc>
                  <a:txBody>
                    <a:bodyPr wrap="square" lIns="25400" rIns="25400" tIns="12700" bIns="12700"/>
                    <a:lstStyle/>
                    <a:p>
                      <a:pPr>
                        <a:defRPr sz="700">
                          <a:solidFill>
                            <a:srgbClr val="282828"/>
                          </a:solidFill>
                        </a:defRPr>
                      </a:pPr>
                      <a:r>
                        <a:t>ExternalGUtranCell</a:t>
                      </a:r>
                    </a:p>
                  </a:txBody>
                  <a:tcPr/>
                </a:tc>
                <a:tc>
                  <a:txBody>
                    <a:bodyPr wrap="square" lIns="25400" rIns="25400" tIns="12700" bIns="12700"/>
                    <a:lstStyle/>
                    <a:p>
                      <a:pPr>
                        <a:defRPr sz="700">
                          <a:solidFill>
                            <a:srgbClr val="282828"/>
                          </a:solidFill>
                        </a:defRPr>
                      </a:pPr>
                      <a:r>
                        <a:t>LTE Frequency Audit</a:t>
                      </a:r>
                    </a:p>
                  </a:txBody>
                  <a:tcPr/>
                </a:tc>
                <a:tc>
                  <a:txBody>
                    <a:bodyPr wrap="square" lIns="25400" rIns="25400" tIns="12700" bIns="12700"/>
                    <a:lstStyle/>
                    <a:p>
                      <a:pPr>
                        <a:defRPr sz="700">
                          <a:solidFill>
                            <a:srgbClr val="282828"/>
                          </a:solidFill>
                        </a:defRPr>
                      </a:pPr>
                      <a:r>
                        <a:t>External cells to new N77 SSB (647328) with serviceStatus=OUT_OF_SERVICE</a:t>
                      </a:r>
                    </a:p>
                  </a:txBody>
                  <a:tcPr/>
                </a:tc>
                <a:tc>
                  <a:txBody>
                    <a:bodyPr wrap="square" lIns="25400" rIns="25400" tIns="12700" bIns="12700"/>
                    <a:lstStyle/>
                    <a:p>
                      <a:pPr>
                        <a:defRPr sz="700">
                          <a:solidFill>
                            <a:srgbClr val="282828"/>
                          </a:solidFill>
                        </a:defRPr>
                      </a:pPr>
                    </a:p>
                  </a:txBody>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Termpoint Audit / Termpoint Inconsistencies</a:t>
            </a:r>
          </a:p>
        </p:txBody>
      </p:sp>
      <p:sp>
        <p:nvSpPr>
          <p:cNvPr id="3" name="Content Placeholder 2"/>
          <p:cNvSpPr>
            <a:spLocks noGrp="1"/>
          </p:cNvSpPr>
          <p:nvPr>
            <p:ph idx="1"/>
          </p:nvPr>
        </p:nvSpPr>
        <p:spPr/>
        <p:txBody>
          <a:bodyPr/>
          <a:lstStyle/>
          <a:p>
            <a:pPr>
              <a:buNone/>
              <a:defRPr sz="1200"/>
            </a:pPr>
            <a:r>
              <a:t>Source tables: "TermPointToGNodeB", "TermPointToENodeB", "TermPointToGNB".</a:t>
            </a:r>
          </a:p>
          <a:p>
            <a:pPr>
              <a:buNone/>
              <a:defRPr sz="1200"/>
            </a:pPr>
            <a:r>
              <a:t>Complete Checks List:</a:t>
            </a:r>
          </a:p>
        </p:txBody>
      </p:sp>
      <p:graphicFrame>
        <p:nvGraphicFramePr>
          <p:cNvPr id="4" name="Table 3"/>
          <p:cNvGraphicFramePr>
            <a:graphicFrameLocks noGrp="1"/>
          </p:cNvGraphicFramePr>
          <p:nvPr/>
        </p:nvGraphicFramePr>
        <p:xfrm>
          <a:off x="609600" y="2402311"/>
          <a:ext cx="10972800" cy="2016760"/>
        </p:xfrm>
        <a:graphic>
          <a:graphicData uri="http://schemas.openxmlformats.org/drawingml/2006/table">
            <a:tbl>
              <a:tblPr firstRow="1" bandRow="1">
                <a:tableStyleId>{5C22544A-7EE6-4342-B048-85BDC9FD1C3A}</a:tableStyleId>
              </a:tblPr>
              <a:tblGrid>
                <a:gridCol w="1938078"/>
                <a:gridCol w="2005698"/>
                <a:gridCol w="2926080"/>
                <a:gridCol w="4102944"/>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TermPointToGNodeB</a:t>
                      </a:r>
                    </a:p>
                  </a:txBody>
                  <a:tcPr/>
                </a:tc>
                <a:tc>
                  <a:txBody>
                    <a:bodyPr wrap="square" lIns="25400" rIns="25400" tIns="12700" bIns="12700"/>
                    <a:lstStyle/>
                    <a:p>
                      <a:pPr>
                        <a:defRPr sz="700">
                          <a:solidFill>
                            <a:srgbClr val="282828"/>
                          </a:solidFill>
                        </a:defRPr>
                      </a:pPr>
                      <a:r>
                        <a:t>NR Termpoint Audit</a:t>
                      </a:r>
                    </a:p>
                  </a:txBody>
                  <a:tcPr/>
                </a:tc>
                <a:tc>
                  <a:txBody>
                    <a:bodyPr wrap="square" lIns="25400" rIns="25400" tIns="12700" bIns="12700"/>
                    <a:lstStyle/>
                    <a:p>
                      <a:pPr>
                        <a:defRPr sz="700">
                          <a:solidFill>
                            <a:srgbClr val="282828"/>
                          </a:solidFill>
                        </a:defRPr>
                      </a:pPr>
                      <a:r>
                        <a:t>NR to NR TermPoints with administrativeState=LOCKED</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TermPointToGNodeB</a:t>
                      </a:r>
                    </a:p>
                  </a:txBody>
                  <a:tcPr>
                    <a:solidFill>
                      <a:srgbClr val="F2F6FC"/>
                    </a:solidFill>
                  </a:tcPr>
                </a:tc>
                <a:tc>
                  <a:txBody>
                    <a:bodyPr wrap="square" lIns="25400" rIns="25400" tIns="12700" bIns="12700"/>
                    <a:lstStyle/>
                    <a:p>
                      <a:pPr>
                        <a:defRPr sz="700">
                          <a:solidFill>
                            <a:srgbClr val="282828"/>
                          </a:solidFill>
                        </a:defRPr>
                      </a:pPr>
                      <a:r>
                        <a:t>NR Termpoint Audit</a:t>
                      </a:r>
                    </a:p>
                  </a:txBody>
                  <a:tcPr>
                    <a:solidFill>
                      <a:srgbClr val="F2F6FC"/>
                    </a:solidFill>
                  </a:tcPr>
                </a:tc>
                <a:tc>
                  <a:txBody>
                    <a:bodyPr wrap="square" lIns="25400" rIns="25400" tIns="12700" bIns="12700"/>
                    <a:lstStyle/>
                    <a:p>
                      <a:pPr>
                        <a:defRPr sz="700">
                          <a:solidFill>
                            <a:srgbClr val="282828"/>
                          </a:solidFill>
                        </a:defRPr>
                      </a:pPr>
                      <a:r>
                        <a:t>NR to NR TermPoints with operationalState=DISABLED</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TermPointToENodeB</a:t>
                      </a:r>
                    </a:p>
                  </a:txBody>
                  <a:tcPr/>
                </a:tc>
                <a:tc>
                  <a:txBody>
                    <a:bodyPr wrap="square" lIns="25400" rIns="25400" tIns="12700" bIns="12700"/>
                    <a:lstStyle/>
                    <a:p>
                      <a:pPr>
                        <a:defRPr sz="700">
                          <a:solidFill>
                            <a:srgbClr val="282828"/>
                          </a:solidFill>
                        </a:defRPr>
                      </a:pPr>
                      <a:r>
                        <a:t>X2 Termpoint Audit</a:t>
                      </a:r>
                    </a:p>
                  </a:txBody>
                  <a:tcPr/>
                </a:tc>
                <a:tc>
                  <a:txBody>
                    <a:bodyPr wrap="square" lIns="25400" rIns="25400" tIns="12700" bIns="12700"/>
                    <a:lstStyle/>
                    <a:p>
                      <a:pPr>
                        <a:defRPr sz="700">
                          <a:solidFill>
                            <a:srgbClr val="282828"/>
                          </a:solidFill>
                        </a:defRPr>
                      </a:pPr>
                      <a:r>
                        <a:t>NR to LTE TermPoints with administrativeState=LOCKED</a:t>
                      </a:r>
                    </a:p>
                  </a:txBody>
                  <a:tcPr/>
                </a:tc>
                <a:tc>
                  <a:txBody>
                    <a:bodyPr wrap="square" lIns="25400" rIns="25400" tIns="12700" bIns="12700"/>
                    <a:lstStyle/>
                    <a:p>
                      <a:pPr>
                        <a:defRPr sz="700">
                          <a:solidFill>
                            <a:srgbClr val="282828"/>
                          </a:solidFill>
                        </a:defRPr>
                      </a:pPr>
                      <a:r>
                        <a:t>Helpful to troubleshoot External updates</a:t>
                      </a:r>
                    </a:p>
                  </a:txBody>
                  <a:tcPr/>
                </a:tc>
              </a:tr>
              <a:tr h="265430">
                <a:tc>
                  <a:txBody>
                    <a:bodyPr wrap="square" lIns="25400" rIns="25400" tIns="12700" bIns="12700"/>
                    <a:lstStyle/>
                    <a:p>
                      <a:pPr>
                        <a:defRPr sz="700">
                          <a:solidFill>
                            <a:srgbClr val="282828"/>
                          </a:solidFill>
                        </a:defRPr>
                      </a:pPr>
                      <a:r>
                        <a:t>TermPointToENodeB</a:t>
                      </a:r>
                    </a:p>
                  </a:txBody>
                  <a:tcPr>
                    <a:solidFill>
                      <a:srgbClr val="F2F6FC"/>
                    </a:solidFill>
                  </a:tcPr>
                </a:tc>
                <a:tc>
                  <a:txBody>
                    <a:bodyPr wrap="square" lIns="25400" rIns="25400" tIns="12700" bIns="12700"/>
                    <a:lstStyle/>
                    <a:p>
                      <a:pPr>
                        <a:defRPr sz="700">
                          <a:solidFill>
                            <a:srgbClr val="282828"/>
                          </a:solidFill>
                        </a:defRPr>
                      </a:pPr>
                      <a:r>
                        <a:t>X2 Termpoint Audit</a:t>
                      </a:r>
                    </a:p>
                  </a:txBody>
                  <a:tcPr>
                    <a:solidFill>
                      <a:srgbClr val="F2F6FC"/>
                    </a:solidFill>
                  </a:tcPr>
                </a:tc>
                <a:tc>
                  <a:txBody>
                    <a:bodyPr wrap="square" lIns="25400" rIns="25400" tIns="12700" bIns="12700"/>
                    <a:lstStyle/>
                    <a:p>
                      <a:pPr>
                        <a:defRPr sz="700">
                          <a:solidFill>
                            <a:srgbClr val="282828"/>
                          </a:solidFill>
                        </a:defRPr>
                      </a:pPr>
                      <a:r>
                        <a:t>NR to LTE TermPoints with operationalState=DISABLED</a:t>
                      </a:r>
                    </a:p>
                  </a:txBody>
                  <a:tcPr>
                    <a:solidFill>
                      <a:srgbClr val="F2F6FC"/>
                    </a:solidFill>
                  </a:tcPr>
                </a:tc>
                <a:tc>
                  <a:txBody>
                    <a:bodyPr wrap="square" lIns="25400" rIns="25400" tIns="12700" bIns="12700"/>
                    <a:lstStyle/>
                    <a:p>
                      <a:pPr>
                        <a:defRPr sz="700">
                          <a:solidFill>
                            <a:srgbClr val="282828"/>
                          </a:solidFill>
                        </a:defRPr>
                      </a:pPr>
                      <a:r>
                        <a:t>Helpful to troubleshoot External updates</a:t>
                      </a:r>
                    </a:p>
                  </a:txBody>
                  <a:tcPr>
                    <a:solidFill>
                      <a:srgbClr val="F2F6FC"/>
                    </a:solidFill>
                  </a:tcPr>
                </a:tc>
              </a:tr>
              <a:tr h="265430">
                <a:tc>
                  <a:txBody>
                    <a:bodyPr wrap="square" lIns="25400" rIns="25400" tIns="12700" bIns="12700"/>
                    <a:lstStyle/>
                    <a:p>
                      <a:pPr>
                        <a:defRPr sz="700">
                          <a:solidFill>
                            <a:srgbClr val="282828"/>
                          </a:solidFill>
                        </a:defRPr>
                      </a:pPr>
                      <a:r>
                        <a:t>TermPointToGNB</a:t>
                      </a:r>
                    </a:p>
                  </a:txBody>
                  <a:tcPr/>
                </a:tc>
                <a:tc>
                  <a:txBody>
                    <a:bodyPr wrap="square" lIns="25400" rIns="25400" tIns="12700" bIns="12700"/>
                    <a:lstStyle/>
                    <a:p>
                      <a:pPr>
                        <a:defRPr sz="700">
                          <a:solidFill>
                            <a:srgbClr val="282828"/>
                          </a:solidFill>
                        </a:defRPr>
                      </a:pPr>
                      <a:r>
                        <a:t>X2 Termpoint Audit</a:t>
                      </a:r>
                    </a:p>
                  </a:txBody>
                  <a:tcPr/>
                </a:tc>
                <a:tc>
                  <a:txBody>
                    <a:bodyPr wrap="square" lIns="25400" rIns="25400" tIns="12700" bIns="12700"/>
                    <a:lstStyle/>
                    <a:p>
                      <a:pPr>
                        <a:defRPr sz="700">
                          <a:solidFill>
                            <a:srgbClr val="282828"/>
                          </a:solidFill>
                        </a:defRPr>
                      </a:pPr>
                      <a:r>
                        <a:t>LTE to NR TermPoints with administrativeState=LOCKED</a:t>
                      </a:r>
                    </a:p>
                  </a:txBody>
                  <a:tcPr/>
                </a:tc>
                <a:tc>
                  <a:txBody>
                    <a:bodyPr wrap="square" lIns="25400" rIns="25400" tIns="12700" bIns="12700"/>
                    <a:lstStyle/>
                    <a:p>
                      <a:pPr>
                        <a:defRPr sz="700">
                          <a:solidFill>
                            <a:srgbClr val="282828"/>
                          </a:solidFill>
                        </a:defRPr>
                      </a:pPr>
                      <a:r>
                        <a:t>Helpful to troubleshoot External updates</a:t>
                      </a:r>
                    </a:p>
                  </a:txBody>
                  <a:tcPr/>
                </a:tc>
              </a:tr>
              <a:tr h="265430">
                <a:tc>
                  <a:txBody>
                    <a:bodyPr wrap="square" lIns="25400" rIns="25400" tIns="12700" bIns="12700"/>
                    <a:lstStyle/>
                    <a:p>
                      <a:pPr>
                        <a:defRPr sz="700">
                          <a:solidFill>
                            <a:srgbClr val="282828"/>
                          </a:solidFill>
                        </a:defRPr>
                      </a:pPr>
                      <a:r>
                        <a:t>TermPointToGNB</a:t>
                      </a:r>
                    </a:p>
                  </a:txBody>
                  <a:tcPr>
                    <a:solidFill>
                      <a:srgbClr val="F2F6FC"/>
                    </a:solidFill>
                  </a:tcPr>
                </a:tc>
                <a:tc>
                  <a:txBody>
                    <a:bodyPr wrap="square" lIns="25400" rIns="25400" tIns="12700" bIns="12700"/>
                    <a:lstStyle/>
                    <a:p>
                      <a:pPr>
                        <a:defRPr sz="700">
                          <a:solidFill>
                            <a:srgbClr val="282828"/>
                          </a:solidFill>
                        </a:defRPr>
                      </a:pPr>
                      <a:r>
                        <a:t>X2 Termpoint Audit</a:t>
                      </a:r>
                    </a:p>
                  </a:txBody>
                  <a:tcPr>
                    <a:solidFill>
                      <a:srgbClr val="F2F6FC"/>
                    </a:solidFill>
                  </a:tcPr>
                </a:tc>
                <a:tc>
                  <a:txBody>
                    <a:bodyPr wrap="square" lIns="25400" rIns="25400" tIns="12700" bIns="12700"/>
                    <a:lstStyle/>
                    <a:p>
                      <a:pPr>
                        <a:defRPr sz="700">
                          <a:solidFill>
                            <a:srgbClr val="282828"/>
                          </a:solidFill>
                        </a:defRPr>
                      </a:pPr>
                      <a:r>
                        <a:t>LTE to NR TermPoints with operationalState=DISABLED</a:t>
                      </a:r>
                    </a:p>
                  </a:txBody>
                  <a:tcPr>
                    <a:solidFill>
                      <a:srgbClr val="F2F6FC"/>
                    </a:solidFill>
                  </a:tcPr>
                </a:tc>
                <a:tc>
                  <a:txBody>
                    <a:bodyPr wrap="square" lIns="25400" rIns="25400" tIns="12700" bIns="12700"/>
                    <a:lstStyle/>
                    <a:p>
                      <a:pPr>
                        <a:defRPr sz="700">
                          <a:solidFill>
                            <a:srgbClr val="282828"/>
                          </a:solidFill>
                        </a:defRPr>
                      </a:pPr>
                      <a:r>
                        <a:t>Helpful to troubleshoot External updates</a:t>
                      </a:r>
                    </a:p>
                  </a:txBody>
                  <a:tcPr>
                    <a:solidFill>
                      <a:srgbClr val="F2F6FC"/>
                    </a:solidFill>
                  </a:tcPr>
                </a:tc>
              </a:tr>
              <a:tr h="265430">
                <a:tc>
                  <a:txBody>
                    <a:bodyPr wrap="square" lIns="25400" rIns="25400" tIns="12700" bIns="12700"/>
                    <a:lstStyle/>
                    <a:p>
                      <a:pPr>
                        <a:defRPr sz="700">
                          <a:solidFill>
                            <a:srgbClr val="282828"/>
                          </a:solidFill>
                        </a:defRPr>
                      </a:pPr>
                      <a:r>
                        <a:t>TermPointToGNB</a:t>
                      </a:r>
                    </a:p>
                  </a:txBody>
                  <a:tcPr/>
                </a:tc>
                <a:tc>
                  <a:txBody>
                    <a:bodyPr wrap="square" lIns="25400" rIns="25400" tIns="12700" bIns="12700"/>
                    <a:lstStyle/>
                    <a:p>
                      <a:pPr>
                        <a:defRPr sz="700">
                          <a:solidFill>
                            <a:srgbClr val="282828"/>
                          </a:solidFill>
                        </a:defRPr>
                      </a:pPr>
                      <a:r>
                        <a:t>X2 Termpoint Audit</a:t>
                      </a:r>
                    </a:p>
                  </a:txBody>
                  <a:tcPr/>
                </a:tc>
                <a:tc>
                  <a:txBody>
                    <a:bodyPr wrap="square" lIns="25400" rIns="25400" tIns="12700" bIns="12700"/>
                    <a:lstStyle/>
                    <a:p>
                      <a:pPr>
                        <a:defRPr sz="700">
                          <a:solidFill>
                            <a:srgbClr val="282828"/>
                          </a:solidFill>
                        </a:defRPr>
                      </a:pPr>
                      <a:r>
                        <a:t>LTE to NR TermPoints with usedIpAddress=0.0.0.0/::</a:t>
                      </a:r>
                    </a:p>
                  </a:txBody>
                  <a:tcPr/>
                </a:tc>
                <a:tc>
                  <a:txBody>
                    <a:bodyPr wrap="square" lIns="25400" rIns="25400" tIns="12700" bIns="12700"/>
                    <a:lstStyle/>
                    <a:p>
                      <a:pPr>
                        <a:defRPr sz="700">
                          <a:solidFill>
                            <a:srgbClr val="282828"/>
                          </a:solidFill>
                        </a:defRPr>
                      </a:pPr>
                      <a:r>
                        <a:t>Helpful to troubleshoot External updates</a:t>
                      </a:r>
                    </a:p>
                  </a:txBody>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ENDC Audit / ENDC Inconsistencies</a:t>
            </a:r>
          </a:p>
        </p:txBody>
      </p:sp>
      <p:sp>
        <p:nvSpPr>
          <p:cNvPr id="3" name="Content Placeholder 2"/>
          <p:cNvSpPr>
            <a:spLocks noGrp="1"/>
          </p:cNvSpPr>
          <p:nvPr>
            <p:ph idx="1"/>
          </p:nvPr>
        </p:nvSpPr>
        <p:spPr/>
        <p:txBody>
          <a:bodyPr/>
          <a:lstStyle/>
          <a:p>
            <a:pPr>
              <a:buNone/>
              <a:defRPr sz="1200"/>
            </a:pPr>
            <a:r>
              <a:t>Source tables: "EndcDistrProfile", "FreqPrioNR".</a:t>
            </a:r>
          </a:p>
          <a:p>
            <a:pPr>
              <a:buNone/>
              <a:defRPr sz="1200"/>
            </a:pPr>
            <a:r>
              <a:t>Main checks:</a:t>
            </a:r>
          </a:p>
          <a:p>
            <a:pPr lvl="1">
              <a:buChar char="•"/>
              <a:defRPr sz="1200"/>
            </a:pPr>
            <a:r>
              <a:t>"gUtranFreqRef" and "mandatoryGUtranFreqRef" with old/new + N77B combinations.</a:t>
            </a:r>
          </a:p>
          <a:p>
            <a:pPr lvl="1">
              <a:buChar char="•"/>
              <a:defRPr sz="1200"/>
            </a:pPr>
            <a:r>
              <a:t>Nodes that do not contain the expected frequency combination.</a:t>
            </a:r>
          </a:p>
          <a:p>
            <a:pPr lvl="1">
              <a:buChar char="•"/>
              <a:defRPr sz="1200"/>
            </a:pPr>
            <a:r>
              <a:t>In "FreqPrioNR": old without new, both present, and parameter mismatch per cell.</a:t>
            </a:r>
          </a:p>
          <a:p>
            <a:pPr>
              <a:buNone/>
              <a:defRPr sz="1200"/>
            </a:pPr>
            <a:r>
              <a:t>Complete Checks List:</a:t>
            </a:r>
          </a:p>
        </p:txBody>
      </p:sp>
      <p:graphicFrame>
        <p:nvGraphicFramePr>
          <p:cNvPr id="4" name="Table 3"/>
          <p:cNvGraphicFramePr>
            <a:graphicFrameLocks noGrp="1"/>
          </p:cNvGraphicFramePr>
          <p:nvPr/>
        </p:nvGraphicFramePr>
        <p:xfrm>
          <a:off x="609600" y="2871817"/>
          <a:ext cx="10972800" cy="3805249"/>
        </p:xfrm>
        <a:graphic>
          <a:graphicData uri="http://schemas.openxmlformats.org/drawingml/2006/table">
            <a:tbl>
              <a:tblPr firstRow="1" bandRow="1">
                <a:tableStyleId>{5C22544A-7EE6-4342-B048-85BDC9FD1C3A}</a:tableStyleId>
              </a:tblPr>
              <a:tblGrid>
                <a:gridCol w="1317798"/>
                <a:gridCol w="1506589"/>
                <a:gridCol w="2926080"/>
                <a:gridCol w="5222333"/>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EndcDistrProfile</a:t>
                      </a:r>
                    </a:p>
                  </a:txBody>
                  <a:tcPr/>
                </a:tc>
                <a:tc>
                  <a:txBody>
                    <a:bodyPr wrap="square" lIns="25400" rIns="25400" tIns="12700" bIns="12700"/>
                    <a:lstStyle/>
                    <a:p>
                      <a:pPr>
                        <a:defRPr sz="700">
                          <a:solidFill>
                            <a:srgbClr val="282828"/>
                          </a:solidFill>
                        </a:defRPr>
                      </a:pPr>
                      <a:r>
                        <a:t>ENDC Audit</a:t>
                      </a:r>
                    </a:p>
                  </a:txBody>
                  <a:tcPr/>
                </a:tc>
                <a:tc>
                  <a:txBody>
                    <a:bodyPr wrap="square" lIns="25400" rIns="25400" tIns="12700" bIns="12700"/>
                    <a:lstStyle/>
                    <a:p>
                      <a:pPr>
                        <a:defRPr sz="700">
                          <a:solidFill>
                            <a:srgbClr val="282828"/>
                          </a:solidFill>
                        </a:defRPr>
                      </a:pPr>
                      <a:r>
                        <a:t>Nodes with gUtranFreqRef containing the old N77 SSB (648672) and the N77B SSB (653952)</a:t>
                      </a:r>
                    </a:p>
                  </a:txBody>
                  <a:tcPr/>
                </a:tc>
                <a:tc>
                  <a:txBody>
                    <a:bodyPr wrap="square" lIns="25400" rIns="25400" tIns="12700" bIns="12700"/>
                    <a:lstStyle/>
                    <a:p>
                      <a:pPr>
                        <a:defRPr sz="700">
                          <a:solidFill>
                            <a:srgbClr val="282828"/>
                          </a:solidFill>
                        </a:defRPr>
                      </a:pPr>
                      <a:r>
                        <a:t>Need to run Step2c on this nodes</a:t>
                      </a:r>
                    </a:p>
                  </a:txBody>
                  <a:tcPr/>
                </a:tc>
              </a:tr>
              <a:tr h="265430">
                <a:tc>
                  <a:txBody>
                    <a:bodyPr wrap="square" lIns="25400" rIns="25400" tIns="12700" bIns="12700"/>
                    <a:lstStyle/>
                    <a:p>
                      <a:pPr>
                        <a:defRPr sz="700">
                          <a:solidFill>
                            <a:srgbClr val="282828"/>
                          </a:solidFill>
                        </a:defRPr>
                      </a:pPr>
                      <a:r>
                        <a:t>EndcDistrProfile</a:t>
                      </a:r>
                    </a:p>
                  </a:txBody>
                  <a:tcPr>
                    <a:solidFill>
                      <a:srgbClr val="F2F6FC"/>
                    </a:solidFill>
                  </a:tcPr>
                </a:tc>
                <a:tc>
                  <a:txBody>
                    <a:bodyPr wrap="square" lIns="25400" rIns="25400" tIns="12700" bIns="12700"/>
                    <a:lstStyle/>
                    <a:p>
                      <a:pPr>
                        <a:defRPr sz="700">
                          <a:solidFill>
                            <a:srgbClr val="282828"/>
                          </a:solidFill>
                        </a:defRPr>
                      </a:pPr>
                      <a:r>
                        <a:t>ENDC Audit</a:t>
                      </a:r>
                    </a:p>
                  </a:txBody>
                  <a:tcPr>
                    <a:solidFill>
                      <a:srgbClr val="F2F6FC"/>
                    </a:solidFill>
                  </a:tcPr>
                </a:tc>
                <a:tc>
                  <a:txBody>
                    <a:bodyPr wrap="square" lIns="25400" rIns="25400" tIns="12700" bIns="12700"/>
                    <a:lstStyle/>
                    <a:p>
                      <a:pPr>
                        <a:defRPr sz="700">
                          <a:solidFill>
                            <a:srgbClr val="282828"/>
                          </a:solidFill>
                        </a:defRPr>
                      </a:pPr>
                      <a:r>
                        <a:t>Nodes with gUtranFreqRef containing the new N77 SSB (647328) and the N77B SSB (653952)</a:t>
                      </a:r>
                    </a:p>
                  </a:txBody>
                  <a:tcPr>
                    <a:solidFill>
                      <a:srgbClr val="F2F6FC"/>
                    </a:solidFill>
                  </a:tcPr>
                </a:tc>
                <a:tc>
                  <a:txBody>
                    <a:bodyPr wrap="square" lIns="25400" rIns="25400" tIns="12700" bIns="12700"/>
                    <a:lstStyle/>
                    <a:p>
                      <a:pPr>
                        <a:defRPr sz="700">
                          <a:solidFill>
                            <a:srgbClr val="282828"/>
                          </a:solidFill>
                        </a:defRPr>
                      </a:pPr>
                      <a:r>
                        <a:t>Nodes with Step2c completed</a:t>
                      </a:r>
                    </a:p>
                  </a:txBody>
                  <a:tcPr>
                    <a:solidFill>
                      <a:srgbClr val="F2F6FC"/>
                    </a:solidFill>
                  </a:tcPr>
                </a:tc>
              </a:tr>
              <a:tr h="385445">
                <a:tc>
                  <a:txBody>
                    <a:bodyPr wrap="square" lIns="25400" rIns="25400" tIns="12700" bIns="12700"/>
                    <a:lstStyle/>
                    <a:p>
                      <a:pPr>
                        <a:defRPr sz="700">
                          <a:solidFill>
                            <a:srgbClr val="282828"/>
                          </a:solidFill>
                        </a:defRPr>
                      </a:pPr>
                      <a:r>
                        <a:t>EndcDistrProfile</a:t>
                      </a:r>
                    </a:p>
                  </a:txBody>
                  <a:tcPr/>
                </a:tc>
                <a:tc>
                  <a:txBody>
                    <a:bodyPr wrap="square" lIns="25400" rIns="25400" tIns="12700" bIns="12700"/>
                    <a:lstStyle/>
                    <a:p>
                      <a:pPr>
                        <a:defRPr sz="700">
                          <a:solidFill>
                            <a:srgbClr val="282828"/>
                          </a:solidFill>
                        </a:defRPr>
                      </a:pPr>
                      <a:r>
                        <a:t>ENDC Audit</a:t>
                      </a:r>
                    </a:p>
                  </a:txBody>
                  <a:tcPr/>
                </a:tc>
                <a:tc>
                  <a:txBody>
                    <a:bodyPr wrap="square" lIns="25400" rIns="25400" tIns="12700" bIns="12700"/>
                    <a:lstStyle/>
                    <a:p>
                      <a:pPr>
                        <a:defRPr sz="700">
                          <a:solidFill>
                            <a:srgbClr val="282828"/>
                          </a:solidFill>
                        </a:defRPr>
                      </a:pPr>
                      <a:r>
                        <a:t>Nodes with mandatoryGUtranFreqRef containing the old N77 SSB (648672) and the N77B SSB (653952)</a:t>
                      </a:r>
                    </a:p>
                  </a:txBody>
                  <a:tcPr/>
                </a:tc>
                <a:tc>
                  <a:txBody>
                    <a:bodyPr wrap="square" lIns="25400" rIns="25400" tIns="12700" bIns="12700"/>
                    <a:lstStyle/>
                    <a:p>
                      <a:pPr>
                        <a:defRPr sz="700">
                          <a:solidFill>
                            <a:srgbClr val="282828"/>
                          </a:solidFill>
                        </a:defRPr>
                      </a:pPr>
                      <a:r>
                        <a:t>Need to run Step2c on this nodes</a:t>
                      </a:r>
                    </a:p>
                  </a:txBody>
                  <a:tcPr/>
                </a:tc>
              </a:tr>
              <a:tr h="385445">
                <a:tc>
                  <a:txBody>
                    <a:bodyPr wrap="square" lIns="25400" rIns="25400" tIns="12700" bIns="12700"/>
                    <a:lstStyle/>
                    <a:p>
                      <a:pPr>
                        <a:defRPr sz="700">
                          <a:solidFill>
                            <a:srgbClr val="282828"/>
                          </a:solidFill>
                        </a:defRPr>
                      </a:pPr>
                      <a:r>
                        <a:t>EndcDistrProfile</a:t>
                      </a:r>
                    </a:p>
                  </a:txBody>
                  <a:tcPr>
                    <a:solidFill>
                      <a:srgbClr val="F2F6FC"/>
                    </a:solidFill>
                  </a:tcPr>
                </a:tc>
                <a:tc>
                  <a:txBody>
                    <a:bodyPr wrap="square" lIns="25400" rIns="25400" tIns="12700" bIns="12700"/>
                    <a:lstStyle/>
                    <a:p>
                      <a:pPr>
                        <a:defRPr sz="700">
                          <a:solidFill>
                            <a:srgbClr val="282828"/>
                          </a:solidFill>
                        </a:defRPr>
                      </a:pPr>
                      <a:r>
                        <a:t>ENDC Audit</a:t>
                      </a:r>
                    </a:p>
                  </a:txBody>
                  <a:tcPr>
                    <a:solidFill>
                      <a:srgbClr val="F2F6FC"/>
                    </a:solidFill>
                  </a:tcPr>
                </a:tc>
                <a:tc>
                  <a:txBody>
                    <a:bodyPr wrap="square" lIns="25400" rIns="25400" tIns="12700" bIns="12700"/>
                    <a:lstStyle/>
                    <a:p>
                      <a:pPr>
                        <a:defRPr sz="700">
                          <a:solidFill>
                            <a:srgbClr val="282828"/>
                          </a:solidFill>
                        </a:defRPr>
                      </a:pPr>
                      <a:r>
                        <a:t>Nodes with mandatoryGUtranFreqRef containing the new N77 SSB (647328) and the N77B SSB (653952)</a:t>
                      </a:r>
                    </a:p>
                  </a:txBody>
                  <a:tcPr>
                    <a:solidFill>
                      <a:srgbClr val="F2F6FC"/>
                    </a:solidFill>
                  </a:tcPr>
                </a:tc>
                <a:tc>
                  <a:txBody>
                    <a:bodyPr wrap="square" lIns="25400" rIns="25400" tIns="12700" bIns="12700"/>
                    <a:lstStyle/>
                    <a:p>
                      <a:pPr>
                        <a:defRPr sz="700">
                          <a:solidFill>
                            <a:srgbClr val="282828"/>
                          </a:solidFill>
                        </a:defRPr>
                      </a:pPr>
                      <a:r>
                        <a:t>Nodes with Step2c completed</a:t>
                      </a:r>
                    </a:p>
                  </a:txBody>
                  <a:tcPr>
                    <a:solidFill>
                      <a:srgbClr val="F2F6FC"/>
                    </a:solidFill>
                  </a:tcPr>
                </a:tc>
              </a:tr>
              <a:tr h="385445">
                <a:tc>
                  <a:txBody>
                    <a:bodyPr wrap="square" lIns="25400" rIns="25400" tIns="12700" bIns="12700"/>
                    <a:lstStyle/>
                    <a:p>
                      <a:pPr>
                        <a:defRPr sz="700">
                          <a:solidFill>
                            <a:srgbClr val="282828"/>
                          </a:solidFill>
                        </a:defRPr>
                      </a:pPr>
                      <a:r>
                        <a:t>EndcDistrProfile</a:t>
                      </a:r>
                    </a:p>
                  </a:txBody>
                  <a:tcPr/>
                </a:tc>
                <a:tc>
                  <a:txBody>
                    <a:bodyPr wrap="square" lIns="25400" rIns="25400" tIns="12700" bIns="12700"/>
                    <a:lstStyle/>
                    <a:p>
                      <a:pPr>
                        <a:defRPr sz="700">
                          <a:solidFill>
                            <a:srgbClr val="282828"/>
                          </a:solidFill>
                        </a:defRPr>
                      </a:pPr>
                      <a:r>
                        <a:t>ENDC Inconsistencies</a:t>
                      </a:r>
                    </a:p>
                  </a:txBody>
                  <a:tcPr/>
                </a:tc>
                <a:tc>
                  <a:txBody>
                    <a:bodyPr wrap="square" lIns="25400" rIns="25400" tIns="12700" bIns="12700"/>
                    <a:lstStyle/>
                    <a:p>
                      <a:pPr>
                        <a:defRPr sz="700">
                          <a:solidFill>
                            <a:srgbClr val="282828"/>
                          </a:solidFill>
                        </a:defRPr>
                      </a:pPr>
                      <a:r>
                        <a:t>Nodes with gUtranFreqRef not containing N77 SSBs (648672 or 647328) together with N77B SSB (653952)</a:t>
                      </a:r>
                    </a:p>
                  </a:txBody>
                  <a:tcPr/>
                </a:tc>
                <a:tc>
                  <a:txBody>
                    <a:bodyPr wrap="square" lIns="25400" rIns="25400" tIns="12700" bIns="12700"/>
                    <a:lstStyle/>
                    <a:p>
                      <a:pPr>
                        <a:defRPr sz="700">
                          <a:solidFill>
                            <a:srgbClr val="282828"/>
                          </a:solidFill>
                        </a:defRPr>
                      </a:pPr>
                      <a:r>
                        <a:t>Need to run Step1 on this nodes</a:t>
                      </a:r>
                    </a:p>
                  </a:txBody>
                  <a:tcPr/>
                </a:tc>
              </a:tr>
              <a:tr h="385445">
                <a:tc>
                  <a:txBody>
                    <a:bodyPr wrap="square" lIns="25400" rIns="25400" tIns="12700" bIns="12700"/>
                    <a:lstStyle/>
                    <a:p>
                      <a:pPr>
                        <a:defRPr sz="700">
                          <a:solidFill>
                            <a:srgbClr val="282828"/>
                          </a:solidFill>
                        </a:defRPr>
                      </a:pPr>
                      <a:r>
                        <a:t>EndcDistrProfile</a:t>
                      </a:r>
                    </a:p>
                  </a:txBody>
                  <a:tcPr>
                    <a:solidFill>
                      <a:srgbClr val="F2F6FC"/>
                    </a:solidFill>
                  </a:tcPr>
                </a:tc>
                <a:tc>
                  <a:txBody>
                    <a:bodyPr wrap="square" lIns="25400" rIns="25400" tIns="12700" bIns="12700"/>
                    <a:lstStyle/>
                    <a:p>
                      <a:pPr>
                        <a:defRPr sz="700">
                          <a:solidFill>
                            <a:srgbClr val="282828"/>
                          </a:solidFill>
                        </a:defRPr>
                      </a:pPr>
                      <a:r>
                        <a:t>ENDC Inconsistencies</a:t>
                      </a:r>
                    </a:p>
                  </a:txBody>
                  <a:tcPr>
                    <a:solidFill>
                      <a:srgbClr val="F2F6FC"/>
                    </a:solidFill>
                  </a:tcPr>
                </a:tc>
                <a:tc>
                  <a:txBody>
                    <a:bodyPr wrap="square" lIns="25400" rIns="25400" tIns="12700" bIns="12700"/>
                    <a:lstStyle/>
                    <a:p>
                      <a:pPr>
                        <a:defRPr sz="700">
                          <a:solidFill>
                            <a:srgbClr val="282828"/>
                          </a:solidFill>
                        </a:defRPr>
                      </a:pPr>
                      <a:r>
                        <a:t>Nodes with mandatoryGUtranFreqRef not empty and not containing N77 SSBs (648672 or 647328) together with N77B SSB (653952)</a:t>
                      </a:r>
                    </a:p>
                  </a:txBody>
                  <a:tcPr>
                    <a:solidFill>
                      <a:srgbClr val="F2F6FC"/>
                    </a:solidFill>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solidFill>
                      <a:srgbClr val="F2F6FC"/>
                    </a:solidFill>
                  </a:tcPr>
                </a:tc>
              </a:tr>
              <a:tr h="265430">
                <a:tc>
                  <a:txBody>
                    <a:bodyPr wrap="square" lIns="25400" rIns="25400" tIns="12700" bIns="12700"/>
                    <a:lstStyle/>
                    <a:p>
                      <a:pPr>
                        <a:defRPr sz="700">
                          <a:solidFill>
                            <a:srgbClr val="282828"/>
                          </a:solidFill>
                        </a:defRPr>
                      </a:pPr>
                      <a:r>
                        <a:t>FreqPrioNR</a:t>
                      </a:r>
                    </a:p>
                  </a:txBody>
                  <a:tcPr/>
                </a:tc>
                <a:tc>
                  <a:txBody>
                    <a:bodyPr wrap="square" lIns="25400" rIns="25400" tIns="12700" bIns="12700"/>
                    <a:lstStyle/>
                    <a:p>
                      <a:pPr>
                        <a:defRPr sz="700">
                          <a:solidFill>
                            <a:srgbClr val="282828"/>
                          </a:solidFill>
                        </a:defRPr>
                      </a:pPr>
                      <a:r>
                        <a:t>ENDC Audit</a:t>
                      </a:r>
                    </a:p>
                  </a:txBody>
                  <a:tcPr/>
                </a:tc>
                <a:tc>
                  <a:txBody>
                    <a:bodyPr wrap="square" lIns="25400" rIns="25400" tIns="12700" bIns="12700"/>
                    <a:lstStyle/>
                    <a:p>
                      <a:pPr>
                        <a:defRPr sz="700">
                          <a:solidFill>
                            <a:srgbClr val="282828"/>
                          </a:solidFill>
                        </a:defRPr>
                      </a:pPr>
                      <a:r>
                        <a:t>LTE nodes with the old N77 SSB (648672) but without the new N77 SSB (647328)</a:t>
                      </a:r>
                    </a:p>
                  </a:txBody>
                  <a:tcPr/>
                </a:tc>
                <a:tc>
                  <a:txBody>
                    <a:bodyPr wrap="square" lIns="25400" rIns="25400" tIns="12700" bIns="12700"/>
                    <a:lstStyle/>
                    <a:p>
                      <a:pPr>
                        <a:defRPr sz="700">
                          <a:solidFill>
                            <a:srgbClr val="282828"/>
                          </a:solidFill>
                        </a:defRPr>
                      </a:pPr>
                      <a:r>
                        <a:t>Need to run Step1 on this nodes</a:t>
                      </a:r>
                    </a:p>
                  </a:txBody>
                  <a:tcPr/>
                </a:tc>
              </a:tr>
              <a:tr h="265430">
                <a:tc>
                  <a:txBody>
                    <a:bodyPr wrap="square" lIns="25400" rIns="25400" tIns="12700" bIns="12700"/>
                    <a:lstStyle/>
                    <a:p>
                      <a:pPr>
                        <a:defRPr sz="700">
                          <a:solidFill>
                            <a:srgbClr val="282828"/>
                          </a:solidFill>
                        </a:defRPr>
                      </a:pPr>
                      <a:r>
                        <a:t>FreqPrioNR</a:t>
                      </a:r>
                    </a:p>
                  </a:txBody>
                  <a:tcPr>
                    <a:solidFill>
                      <a:srgbClr val="F2F6FC"/>
                    </a:solidFill>
                  </a:tcPr>
                </a:tc>
                <a:tc>
                  <a:txBody>
                    <a:bodyPr wrap="square" lIns="25400" rIns="25400" tIns="12700" bIns="12700"/>
                    <a:lstStyle/>
                    <a:p>
                      <a:pPr>
                        <a:defRPr sz="700">
                          <a:solidFill>
                            <a:srgbClr val="282828"/>
                          </a:solidFill>
                        </a:defRPr>
                      </a:pPr>
                      <a:r>
                        <a:t>ENDC Audit</a:t>
                      </a:r>
                    </a:p>
                  </a:txBody>
                  <a:tcPr>
                    <a:solidFill>
                      <a:srgbClr val="F2F6FC"/>
                    </a:solidFill>
                  </a:tcPr>
                </a:tc>
                <a:tc>
                  <a:txBody>
                    <a:bodyPr wrap="square" lIns="25400" rIns="25400" tIns="12700" bIns="12700"/>
                    <a:lstStyle/>
                    <a:p>
                      <a:pPr>
                        <a:defRPr sz="700">
                          <a:solidFill>
                            <a:srgbClr val="282828"/>
                          </a:solidFill>
                        </a:defRPr>
                      </a:pPr>
                      <a:r>
                        <a:t>LTE nodes with both, the old N77 SSB (648672) and the new N77 SSB (647328)</a:t>
                      </a:r>
                    </a:p>
                  </a:txBody>
                  <a:tcPr>
                    <a:solidFill>
                      <a:srgbClr val="F2F6FC"/>
                    </a:solidFill>
                  </a:tcPr>
                </a:tc>
                <a:tc>
                  <a:txBody>
                    <a:bodyPr wrap="square" lIns="25400" rIns="25400" tIns="12700" bIns="12700"/>
                    <a:lstStyle/>
                    <a:p>
                      <a:pPr>
                        <a:defRPr sz="700">
                          <a:solidFill>
                            <a:srgbClr val="282828"/>
                          </a:solidFill>
                        </a:defRPr>
                      </a:pPr>
                      <a:r>
                        <a:t>Nodes with Step1 completed</a:t>
                      </a:r>
                    </a:p>
                  </a:txBody>
                  <a:tcPr>
                    <a:solidFill>
                      <a:srgbClr val="F2F6FC"/>
                    </a:solidFill>
                  </a:tcPr>
                </a:tc>
              </a:tr>
              <a:tr h="265430">
                <a:tc>
                  <a:txBody>
                    <a:bodyPr wrap="square" lIns="25400" rIns="25400" tIns="12700" bIns="12700"/>
                    <a:lstStyle/>
                    <a:p>
                      <a:pPr>
                        <a:defRPr sz="700">
                          <a:solidFill>
                            <a:srgbClr val="282828"/>
                          </a:solidFill>
                        </a:defRPr>
                      </a:pPr>
                      <a:r>
                        <a:t>FreqPrioNR</a:t>
                      </a:r>
                    </a:p>
                  </a:txBody>
                  <a:tcPr/>
                </a:tc>
                <a:tc>
                  <a:txBody>
                    <a:bodyPr wrap="square" lIns="25400" rIns="25400" tIns="12700" bIns="12700"/>
                    <a:lstStyle/>
                    <a:p>
                      <a:pPr>
                        <a:defRPr sz="700">
                          <a:solidFill>
                            <a:srgbClr val="282828"/>
                          </a:solidFill>
                        </a:defRPr>
                      </a:pPr>
                      <a:r>
                        <a:t>ENDC Audit</a:t>
                      </a:r>
                    </a:p>
                  </a:txBody>
                  <a:tcPr/>
                </a:tc>
                <a:tc>
                  <a:txBody>
                    <a:bodyPr wrap="square" lIns="25400" rIns="25400" tIns="12700" bIns="12700"/>
                    <a:lstStyle/>
                    <a:p>
                      <a:pPr>
                        <a:defRPr sz="700">
                          <a:solidFill>
                            <a:srgbClr val="282828"/>
                          </a:solidFill>
                        </a:defRPr>
                      </a:pPr>
                      <a:r>
                        <a:t>NR nodes with RATFreqPrioId = "fwa" in N77 band</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FreqPrioNR</a:t>
                      </a:r>
                    </a:p>
                  </a:txBody>
                  <a:tcPr>
                    <a:solidFill>
                      <a:srgbClr val="F2F6FC"/>
                    </a:solidFill>
                  </a:tcPr>
                </a:tc>
                <a:tc>
                  <a:txBody>
                    <a:bodyPr wrap="square" lIns="25400" rIns="25400" tIns="12700" bIns="12700"/>
                    <a:lstStyle/>
                    <a:p>
                      <a:pPr>
                        <a:defRPr sz="700">
                          <a:solidFill>
                            <a:srgbClr val="282828"/>
                          </a:solidFill>
                        </a:defRPr>
                      </a:pPr>
                      <a:r>
                        <a:t>ENDC Audit</a:t>
                      </a:r>
                    </a:p>
                  </a:txBody>
                  <a:tcPr>
                    <a:solidFill>
                      <a:srgbClr val="F2F6FC"/>
                    </a:solidFill>
                  </a:tcPr>
                </a:tc>
                <a:tc>
                  <a:txBody>
                    <a:bodyPr wrap="square" lIns="25400" rIns="25400" tIns="12700" bIns="12700"/>
                    <a:lstStyle/>
                    <a:p>
                      <a:pPr>
                        <a:defRPr sz="700">
                          <a:solidFill>
                            <a:srgbClr val="282828"/>
                          </a:solidFill>
                        </a:defRPr>
                      </a:pPr>
                      <a:r>
                        <a:t>NR nodes with RATFreqPrioId = "publicsafety" in N77 band</a:t>
                      </a:r>
                    </a:p>
                  </a:txBody>
                  <a:tcPr>
                    <a:solidFill>
                      <a:srgbClr val="F2F6FC"/>
                    </a:solidFill>
                  </a:tcPr>
                </a:tc>
                <a:tc>
                  <a:txBody>
                    <a:bodyPr wrap="square" lIns="25400" rIns="25400" tIns="12700" bIns="12700"/>
                    <a:lstStyle/>
                    <a:p>
                      <a:pPr>
                        <a:defRPr sz="700">
                          <a:solidFill>
                            <a:srgbClr val="282828"/>
                          </a:solidFill>
                        </a:defRPr>
                      </a:pPr>
                    </a:p>
                  </a:txBody>
                  <a:tcPr>
                    <a:solidFill>
                      <a:srgbClr val="F2F6FC"/>
                    </a:solidFill>
                  </a:tcPr>
                </a:tc>
              </a:tr>
              <a:tr h="265430">
                <a:tc>
                  <a:txBody>
                    <a:bodyPr wrap="square" lIns="25400" rIns="25400" tIns="12700" bIns="12700"/>
                    <a:lstStyle/>
                    <a:p>
                      <a:pPr>
                        <a:defRPr sz="700">
                          <a:solidFill>
                            <a:srgbClr val="282828"/>
                          </a:solidFill>
                        </a:defRPr>
                      </a:pPr>
                      <a:r>
                        <a:t>FreqPrioNR</a:t>
                      </a:r>
                    </a:p>
                  </a:txBody>
                  <a:tcPr/>
                </a:tc>
                <a:tc>
                  <a:txBody>
                    <a:bodyPr wrap="square" lIns="25400" rIns="25400" tIns="12700" bIns="12700"/>
                    <a:lstStyle/>
                    <a:p>
                      <a:pPr>
                        <a:defRPr sz="700">
                          <a:solidFill>
                            <a:srgbClr val="282828"/>
                          </a:solidFill>
                        </a:defRPr>
                      </a:pPr>
                      <a:r>
                        <a:t>ENDC Inconsistencies</a:t>
                      </a:r>
                    </a:p>
                  </a:txBody>
                  <a:tcPr/>
                </a:tc>
                <a:tc>
                  <a:txBody>
                    <a:bodyPr wrap="square" lIns="25400" rIns="25400" tIns="12700" bIns="12700"/>
                    <a:lstStyle/>
                    <a:p>
                      <a:pPr>
                        <a:defRPr sz="700">
                          <a:solidFill>
                            <a:srgbClr val="282828"/>
                          </a:solidFill>
                        </a:defRPr>
                      </a:pPr>
                      <a:r>
                        <a:t>LTE nodes with mismatching params (cell-level) between FreqPrioNR 648672 and 647328</a:t>
                      </a:r>
                    </a:p>
                  </a:txBody>
                  <a:tcPr/>
                </a:tc>
                <a:tc>
                  <a:txBody>
                    <a:bodyPr wrap="square" lIns="25400" rIns="25400" tIns="12700" bIns="12700"/>
                    <a:lstStyle/>
                    <a:p>
                      <a:pPr>
                        <a:defRPr sz="700">
                          <a:solidFill>
                            <a:srgbClr val="282828"/>
                          </a:solidFill>
                        </a:defRPr>
                      </a:pPr>
                    </a:p>
                  </a:txBody>
                  <a:tcPr/>
                </a:tc>
              </a:tr>
              <a:tr h="265430">
                <a:tc>
                  <a:txBody>
                    <a:bodyPr wrap="square" lIns="25400" rIns="25400" tIns="12700" bIns="12700"/>
                    <a:lstStyle/>
                    <a:p>
                      <a:pPr>
                        <a:defRPr sz="700">
                          <a:solidFill>
                            <a:srgbClr val="282828"/>
                          </a:solidFill>
                        </a:defRPr>
                      </a:pPr>
                      <a:r>
                        <a:t>FreqPrioNR</a:t>
                      </a:r>
                    </a:p>
                  </a:txBody>
                  <a:tcPr>
                    <a:solidFill>
                      <a:srgbClr val="F2F6FC"/>
                    </a:solidFill>
                  </a:tcPr>
                </a:tc>
                <a:tc>
                  <a:txBody>
                    <a:bodyPr wrap="square" lIns="25400" rIns="25400" tIns="12700" bIns="12700"/>
                    <a:lstStyle/>
                    <a:p>
                      <a:pPr>
                        <a:defRPr sz="700">
                          <a:solidFill>
                            <a:srgbClr val="282828"/>
                          </a:solidFill>
                        </a:defRPr>
                      </a:pPr>
                      <a:r>
                        <a:t>ENDC Inconsistencies</a:t>
                      </a:r>
                    </a:p>
                  </a:txBody>
                  <a:tcPr>
                    <a:solidFill>
                      <a:srgbClr val="F2F6FC"/>
                    </a:solidFill>
                  </a:tcPr>
                </a:tc>
                <a:tc>
                  <a:txBody>
                    <a:bodyPr wrap="square" lIns="25400" rIns="25400" tIns="12700" bIns="12700"/>
                    <a:lstStyle/>
                    <a:p>
                      <a:pPr>
                        <a:defRPr sz="700">
                          <a:solidFill>
                            <a:srgbClr val="282828"/>
                          </a:solidFill>
                        </a:defRPr>
                      </a:pPr>
                      <a:r>
                        <a:t>NR nodes with RATFreqPrioId different from "fwa"/"publicsafety" in N77 band</a:t>
                      </a:r>
                    </a:p>
                  </a:txBody>
                  <a:tcPr>
                    <a:solidFill>
                      <a:srgbClr val="F2F6FC"/>
                    </a:solidFill>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solidFill>
                      <a:srgbClr val="F2F6FC"/>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Cardinalities Audit / Inconsistencies</a:t>
            </a:r>
          </a:p>
        </p:txBody>
      </p:sp>
      <p:sp>
        <p:nvSpPr>
          <p:cNvPr id="3" name="Content Placeholder 2"/>
          <p:cNvSpPr>
            <a:spLocks noGrp="1"/>
          </p:cNvSpPr>
          <p:nvPr>
            <p:ph idx="1"/>
          </p:nvPr>
        </p:nvSpPr>
        <p:spPr/>
        <p:txBody>
          <a:bodyPr/>
          <a:lstStyle/>
          <a:p>
            <a:pPr>
              <a:buNone/>
              <a:defRPr sz="1200"/>
            </a:pPr>
            <a:r>
              <a:t>Cardinality checks per relation table (per node and/or per cell) to detect overprovisioning or gaps versus expected limits.</a:t>
            </a:r>
          </a:p>
          <a:p>
            <a:pPr>
              <a:buNone/>
              <a:defRPr sz="1200"/>
            </a:pPr>
            <a:r>
              <a:t>Complete Checks List:</a:t>
            </a:r>
          </a:p>
        </p:txBody>
      </p:sp>
      <p:graphicFrame>
        <p:nvGraphicFramePr>
          <p:cNvPr id="4" name="Table 3"/>
          <p:cNvGraphicFramePr>
            <a:graphicFrameLocks noGrp="1"/>
          </p:cNvGraphicFramePr>
          <p:nvPr/>
        </p:nvGraphicFramePr>
        <p:xfrm>
          <a:off x="609600" y="2402311"/>
          <a:ext cx="10972800" cy="2282190"/>
        </p:xfrm>
        <a:graphic>
          <a:graphicData uri="http://schemas.openxmlformats.org/drawingml/2006/table">
            <a:tbl>
              <a:tblPr firstRow="1" bandRow="1">
                <a:tableStyleId>{5C22544A-7EE6-4342-B048-85BDC9FD1C3A}</a:tableStyleId>
              </a:tblPr>
              <a:tblGrid>
                <a:gridCol w="2234678"/>
                <a:gridCol w="1849747"/>
                <a:gridCol w="2926080"/>
                <a:gridCol w="3962295"/>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Cardinality NRFrequency</a:t>
                      </a:r>
                    </a:p>
                  </a:txBody>
                  <a:tcPr/>
                </a:tc>
                <a:tc>
                  <a:txBody>
                    <a:bodyPr wrap="square" lIns="25400" rIns="25400" tIns="12700" bIns="12700"/>
                    <a:lstStyle/>
                    <a:p>
                      <a:pPr>
                        <a:defRPr sz="700">
                          <a:solidFill>
                            <a:srgbClr val="282828"/>
                          </a:solidFill>
                        </a:defRPr>
                      </a:pPr>
                      <a:r>
                        <a:t>Cardinality Audit</a:t>
                      </a:r>
                    </a:p>
                  </a:txBody>
                  <a:tcPr/>
                </a:tc>
                <a:tc>
                  <a:txBody>
                    <a:bodyPr wrap="square" lIns="25400" rIns="25400" tIns="12700" bIns="12700"/>
                    <a:lstStyle/>
                    <a:p>
                      <a:pPr>
                        <a:defRPr sz="700">
                          <a:solidFill>
                            <a:srgbClr val="282828"/>
                          </a:solidFill>
                        </a:defRPr>
                      </a:pPr>
                      <a:r>
                        <a:t>Max NRFrequency definitions per node (limit 64)</a:t>
                      </a:r>
                    </a:p>
                  </a:txBody>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tc>
              </a:tr>
              <a:tr h="265430">
                <a:tc>
                  <a:txBody>
                    <a:bodyPr wrap="square" lIns="25400" rIns="25400" tIns="12700" bIns="12700"/>
                    <a:lstStyle/>
                    <a:p>
                      <a:pPr>
                        <a:defRPr sz="700">
                          <a:solidFill>
                            <a:srgbClr val="282828"/>
                          </a:solidFill>
                        </a:defRPr>
                      </a:pPr>
                      <a:r>
                        <a:t>Cardinality NRFrequency</a:t>
                      </a:r>
                    </a:p>
                  </a:txBody>
                  <a:tcPr>
                    <a:solidFill>
                      <a:srgbClr val="F2F6FC"/>
                    </a:solidFill>
                  </a:tcPr>
                </a:tc>
                <a:tc>
                  <a:txBody>
                    <a:bodyPr wrap="square" lIns="25400" rIns="25400" tIns="12700" bIns="12700"/>
                    <a:lstStyle/>
                    <a:p>
                      <a:pPr>
                        <a:defRPr sz="700">
                          <a:solidFill>
                            <a:srgbClr val="282828"/>
                          </a:solidFill>
                        </a:defRPr>
                      </a:pPr>
                      <a:r>
                        <a:t>Cardinality Inconsistencies</a:t>
                      </a:r>
                    </a:p>
                  </a:txBody>
                  <a:tcPr>
                    <a:solidFill>
                      <a:srgbClr val="F2F6FC"/>
                    </a:solidFill>
                  </a:tcPr>
                </a:tc>
                <a:tc>
                  <a:txBody>
                    <a:bodyPr wrap="square" lIns="25400" rIns="25400" tIns="12700" bIns="12700"/>
                    <a:lstStyle/>
                    <a:p>
                      <a:pPr>
                        <a:defRPr sz="700">
                          <a:solidFill>
                            <a:srgbClr val="282828"/>
                          </a:solidFill>
                        </a:defRPr>
                      </a:pPr>
                      <a:r>
                        <a:t>NR nodes with NRFrequency definitions at limit 64</a:t>
                      </a:r>
                    </a:p>
                  </a:txBody>
                  <a:tcPr>
                    <a:solidFill>
                      <a:srgbClr val="F2F6FC"/>
                    </a:solidFill>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solidFill>
                      <a:srgbClr val="F2F6FC"/>
                    </a:solidFill>
                  </a:tcPr>
                </a:tc>
              </a:tr>
              <a:tr h="265430">
                <a:tc>
                  <a:txBody>
                    <a:bodyPr wrap="square" lIns="25400" rIns="25400" tIns="12700" bIns="12700"/>
                    <a:lstStyle/>
                    <a:p>
                      <a:pPr>
                        <a:defRPr sz="700">
                          <a:solidFill>
                            <a:srgbClr val="282828"/>
                          </a:solidFill>
                        </a:defRPr>
                      </a:pPr>
                      <a:r>
                        <a:t>Cardinality NRFreqRelation</a:t>
                      </a:r>
                    </a:p>
                  </a:txBody>
                  <a:tcPr/>
                </a:tc>
                <a:tc>
                  <a:txBody>
                    <a:bodyPr wrap="square" lIns="25400" rIns="25400" tIns="12700" bIns="12700"/>
                    <a:lstStyle/>
                    <a:p>
                      <a:pPr>
                        <a:defRPr sz="700">
                          <a:solidFill>
                            <a:srgbClr val="282828"/>
                          </a:solidFill>
                        </a:defRPr>
                      </a:pPr>
                      <a:r>
                        <a:t>Cardinality Audit</a:t>
                      </a:r>
                    </a:p>
                  </a:txBody>
                  <a:tcPr/>
                </a:tc>
                <a:tc>
                  <a:txBody>
                    <a:bodyPr wrap="square" lIns="25400" rIns="25400" tIns="12700" bIns="12700"/>
                    <a:lstStyle/>
                    <a:p>
                      <a:pPr>
                        <a:defRPr sz="700">
                          <a:solidFill>
                            <a:srgbClr val="282828"/>
                          </a:solidFill>
                        </a:defRPr>
                      </a:pPr>
                      <a:r>
                        <a:t>Max NRFreqRelation per NR cell (limit 16)</a:t>
                      </a:r>
                    </a:p>
                  </a:txBody>
                  <a:tcPr/>
                </a:tc>
                <a:tc>
                  <a:txBody>
                    <a:bodyPr wrap="square" lIns="25400" rIns="25400" tIns="12700" bIns="12700"/>
                    <a:lstStyle/>
                    <a:p>
                      <a:pPr>
                        <a:defRPr sz="700">
                          <a:solidFill>
                            <a:srgbClr val="282828"/>
                          </a:solidFill>
                        </a:defRPr>
                      </a:pPr>
                      <a:r>
                        <a:t>These cells must be checked in preparation phase and confirm if any special action needed</a:t>
                      </a:r>
                    </a:p>
                  </a:txBody>
                  <a:tcPr/>
                </a:tc>
              </a:tr>
              <a:tr h="265430">
                <a:tc>
                  <a:txBody>
                    <a:bodyPr wrap="square" lIns="25400" rIns="25400" tIns="12700" bIns="12700"/>
                    <a:lstStyle/>
                    <a:p>
                      <a:pPr>
                        <a:defRPr sz="700">
                          <a:solidFill>
                            <a:srgbClr val="282828"/>
                          </a:solidFill>
                        </a:defRPr>
                      </a:pPr>
                      <a:r>
                        <a:t>Cardinality NRFreqRelation</a:t>
                      </a:r>
                    </a:p>
                  </a:txBody>
                  <a:tcPr>
                    <a:solidFill>
                      <a:srgbClr val="F2F6FC"/>
                    </a:solidFill>
                  </a:tcPr>
                </a:tc>
                <a:tc>
                  <a:txBody>
                    <a:bodyPr wrap="square" lIns="25400" rIns="25400" tIns="12700" bIns="12700"/>
                    <a:lstStyle/>
                    <a:p>
                      <a:pPr>
                        <a:defRPr sz="700">
                          <a:solidFill>
                            <a:srgbClr val="282828"/>
                          </a:solidFill>
                        </a:defRPr>
                      </a:pPr>
                      <a:r>
                        <a:t>Cardinality Inconsistencies</a:t>
                      </a:r>
                    </a:p>
                  </a:txBody>
                  <a:tcPr>
                    <a:solidFill>
                      <a:srgbClr val="F2F6FC"/>
                    </a:solidFill>
                  </a:tcPr>
                </a:tc>
                <a:tc>
                  <a:txBody>
                    <a:bodyPr wrap="square" lIns="25400" rIns="25400" tIns="12700" bIns="12700"/>
                    <a:lstStyle/>
                    <a:p>
                      <a:pPr>
                        <a:defRPr sz="700">
                          <a:solidFill>
                            <a:srgbClr val="282828"/>
                          </a:solidFill>
                        </a:defRPr>
                      </a:pPr>
                      <a:r>
                        <a:t>NR cells with NRFreqRelation count at limit 16</a:t>
                      </a:r>
                    </a:p>
                  </a:txBody>
                  <a:tcPr>
                    <a:solidFill>
                      <a:srgbClr val="F2F6FC"/>
                    </a:solidFill>
                  </a:tcPr>
                </a:tc>
                <a:tc>
                  <a:txBody>
                    <a:bodyPr wrap="square" lIns="25400" rIns="25400" tIns="12700" bIns="12700"/>
                    <a:lstStyle/>
                    <a:p>
                      <a:pPr>
                        <a:defRPr sz="700">
                          <a:solidFill>
                            <a:srgbClr val="282828"/>
                          </a:solidFill>
                        </a:defRPr>
                      </a:pPr>
                      <a:r>
                        <a:t>These cells must be checked in preparation phase and confirm if any special action needed</a:t>
                      </a:r>
                    </a:p>
                  </a:txBody>
                  <a:tcPr>
                    <a:solidFill>
                      <a:srgbClr val="F2F6FC"/>
                    </a:solidFill>
                  </a:tcPr>
                </a:tc>
              </a:tr>
              <a:tr h="265430">
                <a:tc>
                  <a:txBody>
                    <a:bodyPr wrap="square" lIns="25400" rIns="25400" tIns="12700" bIns="12700"/>
                    <a:lstStyle/>
                    <a:p>
                      <a:pPr>
                        <a:defRPr sz="700">
                          <a:solidFill>
                            <a:srgbClr val="282828"/>
                          </a:solidFill>
                        </a:defRPr>
                      </a:pPr>
                      <a:r>
                        <a:t>Cardinality GUtranSyncSignalFrequency</a:t>
                      </a:r>
                    </a:p>
                  </a:txBody>
                  <a:tcPr/>
                </a:tc>
                <a:tc>
                  <a:txBody>
                    <a:bodyPr wrap="square" lIns="25400" rIns="25400" tIns="12700" bIns="12700"/>
                    <a:lstStyle/>
                    <a:p>
                      <a:pPr>
                        <a:defRPr sz="700">
                          <a:solidFill>
                            <a:srgbClr val="282828"/>
                          </a:solidFill>
                        </a:defRPr>
                      </a:pPr>
                      <a:r>
                        <a:t>Cardinality Audit</a:t>
                      </a:r>
                    </a:p>
                  </a:txBody>
                  <a:tcPr/>
                </a:tc>
                <a:tc>
                  <a:txBody>
                    <a:bodyPr wrap="square" lIns="25400" rIns="25400" tIns="12700" bIns="12700"/>
                    <a:lstStyle/>
                    <a:p>
                      <a:pPr>
                        <a:defRPr sz="700">
                          <a:solidFill>
                            <a:srgbClr val="282828"/>
                          </a:solidFill>
                        </a:defRPr>
                      </a:pPr>
                      <a:r>
                        <a:t>Max GUtranSyncSignalFrequency definitions per node (limit 24)</a:t>
                      </a:r>
                    </a:p>
                  </a:txBody>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tc>
              </a:tr>
              <a:tr h="265430">
                <a:tc>
                  <a:txBody>
                    <a:bodyPr wrap="square" lIns="25400" rIns="25400" tIns="12700" bIns="12700"/>
                    <a:lstStyle/>
                    <a:p>
                      <a:pPr>
                        <a:defRPr sz="700">
                          <a:solidFill>
                            <a:srgbClr val="282828"/>
                          </a:solidFill>
                        </a:defRPr>
                      </a:pPr>
                      <a:r>
                        <a:t>Cardinality GUtranSyncSignalFrequency</a:t>
                      </a:r>
                    </a:p>
                  </a:txBody>
                  <a:tcPr>
                    <a:solidFill>
                      <a:srgbClr val="F2F6FC"/>
                    </a:solidFill>
                  </a:tcPr>
                </a:tc>
                <a:tc>
                  <a:txBody>
                    <a:bodyPr wrap="square" lIns="25400" rIns="25400" tIns="12700" bIns="12700"/>
                    <a:lstStyle/>
                    <a:p>
                      <a:pPr>
                        <a:defRPr sz="700">
                          <a:solidFill>
                            <a:srgbClr val="282828"/>
                          </a:solidFill>
                        </a:defRPr>
                      </a:pPr>
                      <a:r>
                        <a:t>Cardinality Inconsistencies</a:t>
                      </a:r>
                    </a:p>
                  </a:txBody>
                  <a:tcPr>
                    <a:solidFill>
                      <a:srgbClr val="F2F6FC"/>
                    </a:solidFill>
                  </a:tcPr>
                </a:tc>
                <a:tc>
                  <a:txBody>
                    <a:bodyPr wrap="square" lIns="25400" rIns="25400" tIns="12700" bIns="12700"/>
                    <a:lstStyle/>
                    <a:p>
                      <a:pPr>
                        <a:defRPr sz="700">
                          <a:solidFill>
                            <a:srgbClr val="282828"/>
                          </a:solidFill>
                        </a:defRPr>
                      </a:pPr>
                      <a:r>
                        <a:t>LTE nodes with GUtranSyncSignalFrequency definitions at limit 24</a:t>
                      </a:r>
                    </a:p>
                  </a:txBody>
                  <a:tcPr>
                    <a:solidFill>
                      <a:srgbClr val="F2F6FC"/>
                    </a:solidFill>
                  </a:tcPr>
                </a:tc>
                <a:tc>
                  <a:txBody>
                    <a:bodyPr wrap="square" lIns="25400" rIns="25400" tIns="12700" bIns="12700"/>
                    <a:lstStyle/>
                    <a:p>
                      <a:pPr>
                        <a:defRPr sz="700">
                          <a:solidFill>
                            <a:srgbClr val="282828"/>
                          </a:solidFill>
                        </a:defRPr>
                      </a:pPr>
                      <a:r>
                        <a:t>These nodes must be checked in preparation phase and confirm if any special action needed</a:t>
                      </a:r>
                    </a:p>
                  </a:txBody>
                  <a:tcPr>
                    <a:solidFill>
                      <a:srgbClr val="F2F6FC"/>
                    </a:solidFill>
                  </a:tcPr>
                </a:tc>
              </a:tr>
              <a:tr h="265430">
                <a:tc>
                  <a:txBody>
                    <a:bodyPr wrap="square" lIns="25400" rIns="25400" tIns="12700" bIns="12700"/>
                    <a:lstStyle/>
                    <a:p>
                      <a:pPr>
                        <a:defRPr sz="700">
                          <a:solidFill>
                            <a:srgbClr val="282828"/>
                          </a:solidFill>
                        </a:defRPr>
                      </a:pPr>
                      <a:r>
                        <a:t>Cardinality GUtranFreqRelation</a:t>
                      </a:r>
                    </a:p>
                  </a:txBody>
                  <a:tcPr/>
                </a:tc>
                <a:tc>
                  <a:txBody>
                    <a:bodyPr wrap="square" lIns="25400" rIns="25400" tIns="12700" bIns="12700"/>
                    <a:lstStyle/>
                    <a:p>
                      <a:pPr>
                        <a:defRPr sz="700">
                          <a:solidFill>
                            <a:srgbClr val="282828"/>
                          </a:solidFill>
                        </a:defRPr>
                      </a:pPr>
                      <a:r>
                        <a:t>Cardinality Audit</a:t>
                      </a:r>
                    </a:p>
                  </a:txBody>
                  <a:tcPr/>
                </a:tc>
                <a:tc>
                  <a:txBody>
                    <a:bodyPr wrap="square" lIns="25400" rIns="25400" tIns="12700" bIns="12700"/>
                    <a:lstStyle/>
                    <a:p>
                      <a:pPr>
                        <a:defRPr sz="700">
                          <a:solidFill>
                            <a:srgbClr val="282828"/>
                          </a:solidFill>
                        </a:defRPr>
                      </a:pPr>
                      <a:r>
                        <a:t>Max GUtranFreqRelation per LTE cell (limit 16)</a:t>
                      </a:r>
                    </a:p>
                  </a:txBody>
                  <a:tcPr/>
                </a:tc>
                <a:tc>
                  <a:txBody>
                    <a:bodyPr wrap="square" lIns="25400" rIns="25400" tIns="12700" bIns="12700"/>
                    <a:lstStyle/>
                    <a:p>
                      <a:pPr>
                        <a:defRPr sz="700">
                          <a:solidFill>
                            <a:srgbClr val="282828"/>
                          </a:solidFill>
                        </a:defRPr>
                      </a:pPr>
                      <a:r>
                        <a:t>These cells must be checked in preparation phase and confirm if any special action needed</a:t>
                      </a:r>
                    </a:p>
                  </a:txBody>
                  <a:tcPr/>
                </a:tc>
              </a:tr>
              <a:tr h="265430">
                <a:tc>
                  <a:txBody>
                    <a:bodyPr wrap="square" lIns="25400" rIns="25400" tIns="12700" bIns="12700"/>
                    <a:lstStyle/>
                    <a:p>
                      <a:pPr>
                        <a:defRPr sz="700">
                          <a:solidFill>
                            <a:srgbClr val="282828"/>
                          </a:solidFill>
                        </a:defRPr>
                      </a:pPr>
                      <a:r>
                        <a:t>Cardinality GUtranFreqRelation</a:t>
                      </a:r>
                    </a:p>
                  </a:txBody>
                  <a:tcPr>
                    <a:solidFill>
                      <a:srgbClr val="F2F6FC"/>
                    </a:solidFill>
                  </a:tcPr>
                </a:tc>
                <a:tc>
                  <a:txBody>
                    <a:bodyPr wrap="square" lIns="25400" rIns="25400" tIns="12700" bIns="12700"/>
                    <a:lstStyle/>
                    <a:p>
                      <a:pPr>
                        <a:defRPr sz="700">
                          <a:solidFill>
                            <a:srgbClr val="282828"/>
                          </a:solidFill>
                        </a:defRPr>
                      </a:pPr>
                      <a:r>
                        <a:t>Cardinality Inconsistencies</a:t>
                      </a:r>
                    </a:p>
                  </a:txBody>
                  <a:tcPr>
                    <a:solidFill>
                      <a:srgbClr val="F2F6FC"/>
                    </a:solidFill>
                  </a:tcPr>
                </a:tc>
                <a:tc>
                  <a:txBody>
                    <a:bodyPr wrap="square" lIns="25400" rIns="25400" tIns="12700" bIns="12700"/>
                    <a:lstStyle/>
                    <a:p>
                      <a:pPr>
                        <a:defRPr sz="700">
                          <a:solidFill>
                            <a:srgbClr val="282828"/>
                          </a:solidFill>
                        </a:defRPr>
                      </a:pPr>
                      <a:r>
                        <a:t>LTE cells with GUtranFreqRelation count at limit 16</a:t>
                      </a:r>
                    </a:p>
                  </a:txBody>
                  <a:tcPr>
                    <a:solidFill>
                      <a:srgbClr val="F2F6FC"/>
                    </a:solidFill>
                  </a:tcPr>
                </a:tc>
                <a:tc>
                  <a:txBody>
                    <a:bodyPr wrap="square" lIns="25400" rIns="25400" tIns="12700" bIns="12700"/>
                    <a:lstStyle/>
                    <a:p>
                      <a:pPr>
                        <a:defRPr sz="700">
                          <a:solidFill>
                            <a:srgbClr val="282828"/>
                          </a:solidFill>
                        </a:defRPr>
                      </a:pPr>
                      <a:r>
                        <a:t>These cells must be checked in preparation phase and confirm if any special action needed</a:t>
                      </a:r>
                    </a:p>
                  </a:txBody>
                  <a:tcPr>
                    <a:solidFill>
                      <a:srgbClr val="F2F6FC"/>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Profiles Audit (if enabled)</a:t>
            </a:r>
          </a:p>
        </p:txBody>
      </p:sp>
      <p:sp>
        <p:nvSpPr>
          <p:cNvPr id="3" name="Content Placeholder 2"/>
          <p:cNvSpPr>
            <a:spLocks noGrp="1"/>
          </p:cNvSpPr>
          <p:nvPr>
            <p:ph idx="1"/>
          </p:nvPr>
        </p:nvSpPr>
        <p:spPr/>
        <p:txBody>
          <a:bodyPr/>
          <a:lstStyle/>
          <a:p>
            <a:pPr lvl="1">
              <a:buChar char="•"/>
              <a:defRPr sz="1200"/>
            </a:pPr>
            <a:r>
              <a:t>Compares PRE/POST profiles by supported profile MO.</a:t>
            </a:r>
          </a:p>
          <a:p>
            <a:pPr lvl="1">
              <a:buChar char="•"/>
              <a:defRPr sz="1200"/>
            </a:pPr>
            <a:r>
              <a:t>Detects parameter discrepancies between old/new variants.</a:t>
            </a:r>
          </a:p>
          <a:p>
            <a:pPr lvl="1">
              <a:buChar char="•"/>
              <a:defRPr sz="1200"/>
            </a:pPr>
            <a:r>
              <a:t>Adds results to SummaryAudit and auxiliary detail sheets.</a:t>
            </a:r>
          </a:p>
          <a:p>
            <a:pPr>
              <a:buNone/>
              <a:defRPr sz="1200"/>
            </a:pPr>
            <a:r>
              <a:t>Complete Checks List: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Profiles Audit (if enabled)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609600" y="1437111"/>
          <a:ext cx="10972800" cy="4860290"/>
        </p:xfrm>
        <a:graphic>
          <a:graphicData uri="http://schemas.openxmlformats.org/drawingml/2006/table">
            <a:tbl>
              <a:tblPr firstRow="1" bandRow="1">
                <a:tableStyleId>{5C22544A-7EE6-4342-B048-85BDC9FD1C3A}</a:tableStyleId>
              </a:tblPr>
              <a:tblGrid>
                <a:gridCol w="2009100"/>
                <a:gridCol w="1757339"/>
                <a:gridCol w="2926080"/>
                <a:gridCol w="4280281"/>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McpcPCellNrFreqRelProfileUeCfg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Profiles with old N77 SSB (xxxx_648672) but not new N77 SSB (xxxx_647328)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265430">
                <a:tc>
                  <a:txBody>
                    <a:bodyPr wrap="square" lIns="25400" rIns="25400" tIns="12700" bIns="12700"/>
                    <a:lstStyle/>
                    <a:p>
                      <a:pPr>
                        <a:defRPr sz="700">
                          <a:solidFill>
                            <a:srgbClr val="282828"/>
                          </a:solidFill>
                        </a:defRPr>
                      </a:pPr>
                      <a:r>
                        <a:t>McpcPCellNrFreqRelProfileUeCfg</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(648672_xxxx) but not new N77 SSB (647328_xxxx)</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385445">
                <a:tc>
                  <a:txBody>
                    <a:bodyPr wrap="square" lIns="25400" rIns="25400" tIns="12700" bIns="12700"/>
                    <a:lstStyle/>
                    <a:p>
                      <a:pPr>
                        <a:defRPr sz="700">
                          <a:solidFill>
                            <a:srgbClr val="282828"/>
                          </a:solidFill>
                        </a:defRPr>
                      </a:pPr>
                      <a:r>
                        <a:t>McpcPCellNrFreqRelProfileUeCfg</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r h="265430">
                <a:tc>
                  <a:txBody>
                    <a:bodyPr wrap="square" lIns="25400" rIns="25400" tIns="12700" bIns="12700"/>
                    <a:lstStyle/>
                    <a:p>
                      <a:pPr>
                        <a:defRPr sz="700">
                          <a:solidFill>
                            <a:srgbClr val="282828"/>
                          </a:solidFill>
                        </a:defRPr>
                      </a:pPr>
                      <a:r>
                        <a:t>TrStSaNrFreqRelProfileUeCfg</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(648672_xxxx) but not new N77 SSB (647328_xxxx)</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265430">
                <a:tc>
                  <a:txBody>
                    <a:bodyPr wrap="square" lIns="25400" rIns="25400" tIns="12700" bIns="12700"/>
                    <a:lstStyle/>
                    <a:p>
                      <a:pPr>
                        <a:defRPr sz="700">
                          <a:solidFill>
                            <a:srgbClr val="282828"/>
                          </a:solidFill>
                        </a:defRPr>
                      </a:pPr>
                      <a:r>
                        <a:t>TrStSaNrFreqRelProfileUeCfg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(648672_xxxx) but not new N77 SSB (647328_xxxx)</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TrStSaNrFreqRelProfileUeCfg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McpcPCellProfileUeCfg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McpcPCellProfileUeCfg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McpcPSCellProfileUeCfg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McpcPSCellProfileUeCfg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UlQualMcpcMeasCfg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UlQualMcpcMeasCfg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McfbCellProfile</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McfbCellProfile</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McfbCellProfileUeCfg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Profiles Audit (if enabled)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609600" y="1437111"/>
          <a:ext cx="10972800" cy="5100320"/>
        </p:xfrm>
        <a:graphic>
          <a:graphicData uri="http://schemas.openxmlformats.org/drawingml/2006/table">
            <a:tbl>
              <a:tblPr firstRow="1" bandRow="1">
                <a:tableStyleId>{5C22544A-7EE6-4342-B048-85BDC9FD1C3A}</a:tableStyleId>
              </a:tblPr>
              <a:tblGrid>
                <a:gridCol w="2135297"/>
                <a:gridCol w="1732597"/>
                <a:gridCol w="2926080"/>
                <a:gridCol w="4178826"/>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385445">
                <a:tc>
                  <a:txBody>
                    <a:bodyPr wrap="square" lIns="25400" rIns="25400" tIns="12700" bIns="12700"/>
                    <a:lstStyle/>
                    <a:p>
                      <a:pPr>
                        <a:defRPr sz="700">
                          <a:solidFill>
                            <a:srgbClr val="282828"/>
                          </a:solidFill>
                        </a:defRPr>
                      </a:pPr>
                      <a:r>
                        <a:t>McfbCellProfileUeCfg</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r h="265430">
                <a:tc>
                  <a:txBody>
                    <a:bodyPr wrap="square" lIns="25400" rIns="25400" tIns="12700" bIns="12700"/>
                    <a:lstStyle/>
                    <a:p>
                      <a:pPr>
                        <a:defRPr sz="700">
                          <a:solidFill>
                            <a:srgbClr val="282828"/>
                          </a:solidFill>
                        </a:defRPr>
                      </a:pPr>
                      <a:r>
                        <a:t>TrStSaCellProfile</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but not new N77 SSB (647328)</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385445">
                <a:tc>
                  <a:txBody>
                    <a:bodyPr wrap="square" lIns="25400" rIns="25400" tIns="12700" bIns="12700"/>
                    <a:lstStyle/>
                    <a:p>
                      <a:pPr>
                        <a:defRPr sz="700">
                          <a:solidFill>
                            <a:srgbClr val="282828"/>
                          </a:solidFill>
                        </a:defRPr>
                      </a:pPr>
                      <a:r>
                        <a:t>TrStSaCellProfile</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r h="265430">
                <a:tc>
                  <a:txBody>
                    <a:bodyPr wrap="square" lIns="25400" rIns="25400" tIns="12700" bIns="12700"/>
                    <a:lstStyle/>
                    <a:p>
                      <a:pPr>
                        <a:defRPr sz="700">
                          <a:solidFill>
                            <a:srgbClr val="282828"/>
                          </a:solidFill>
                        </a:defRPr>
                      </a:pPr>
                      <a:r>
                        <a:t>TrStSaCellProfileUeCfg</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but not new N77 SSB (647328)</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385445">
                <a:tc>
                  <a:txBody>
                    <a:bodyPr wrap="square" lIns="25400" rIns="25400" tIns="12700" bIns="12700"/>
                    <a:lstStyle/>
                    <a:p>
                      <a:pPr>
                        <a:defRPr sz="700">
                          <a:solidFill>
                            <a:srgbClr val="282828"/>
                          </a:solidFill>
                        </a:defRPr>
                      </a:pPr>
                      <a:r>
                        <a:t>TrStSaCellProfileUeCfg</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r h="265430">
                <a:tc>
                  <a:txBody>
                    <a:bodyPr wrap="square" lIns="25400" rIns="25400" tIns="12700" bIns="12700"/>
                    <a:lstStyle/>
                    <a:p>
                      <a:pPr>
                        <a:defRPr sz="700">
                          <a:solidFill>
                            <a:srgbClr val="282828"/>
                          </a:solidFill>
                        </a:defRPr>
                      </a:pPr>
                      <a:r>
                        <a:t>CaCellProfile</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but not new N77 SSB (647328)</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385445">
                <a:tc>
                  <a:txBody>
                    <a:bodyPr wrap="square" lIns="25400" rIns="25400" tIns="12700" bIns="12700"/>
                    <a:lstStyle/>
                    <a:p>
                      <a:pPr>
                        <a:defRPr sz="700">
                          <a:solidFill>
                            <a:srgbClr val="282828"/>
                          </a:solidFill>
                        </a:defRPr>
                      </a:pPr>
                      <a:r>
                        <a:t>CaCellProfile</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r h="265430">
                <a:tc>
                  <a:txBody>
                    <a:bodyPr wrap="square" lIns="25400" rIns="25400" tIns="12700" bIns="12700"/>
                    <a:lstStyle/>
                    <a:p>
                      <a:pPr>
                        <a:defRPr sz="700">
                          <a:solidFill>
                            <a:srgbClr val="282828"/>
                          </a:solidFill>
                        </a:defRPr>
                      </a:pPr>
                      <a:r>
                        <a:t>CaCellProfileUeCfg</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but not new N77 SSB (647328)</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385445">
                <a:tc>
                  <a:txBody>
                    <a:bodyPr wrap="square" lIns="25400" rIns="25400" tIns="12700" bIns="12700"/>
                    <a:lstStyle/>
                    <a:p>
                      <a:pPr>
                        <a:defRPr sz="700">
                          <a:solidFill>
                            <a:srgbClr val="282828"/>
                          </a:solidFill>
                        </a:defRPr>
                      </a:pPr>
                      <a:r>
                        <a:t>CaCellProfileUeCfg</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r h="265430">
                <a:tc>
                  <a:txBody>
                    <a:bodyPr wrap="square" lIns="25400" rIns="25400" tIns="12700" bIns="12700"/>
                    <a:lstStyle/>
                    <a:p>
                      <a:pPr>
                        <a:defRPr sz="700">
                          <a:solidFill>
                            <a:srgbClr val="282828"/>
                          </a:solidFill>
                        </a:defRPr>
                      </a:pPr>
                      <a:r>
                        <a:t>McpcPCellEUtranFreqRelProfile</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but not new N77 SSB (647328)</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385445">
                <a:tc>
                  <a:txBody>
                    <a:bodyPr wrap="square" lIns="25400" rIns="25400" tIns="12700" bIns="12700"/>
                    <a:lstStyle/>
                    <a:p>
                      <a:pPr>
                        <a:defRPr sz="700">
                          <a:solidFill>
                            <a:srgbClr val="282828"/>
                          </a:solidFill>
                        </a:defRPr>
                      </a:pPr>
                      <a:r>
                        <a:t>McpcPCellEUtranFreqRelProfile</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r h="265430">
                <a:tc>
                  <a:txBody>
                    <a:bodyPr wrap="square" lIns="25400" rIns="25400" tIns="12700" bIns="12700"/>
                    <a:lstStyle/>
                    <a:p>
                      <a:pPr>
                        <a:defRPr sz="700">
                          <a:solidFill>
                            <a:srgbClr val="282828"/>
                          </a:solidFill>
                        </a:defRPr>
                      </a:pPr>
                      <a:r>
                        <a:t>McpcPCellEUtranFreqRelProfileUeCfg</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but not new N77 SSB (647328)</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385445">
                <a:tc>
                  <a:txBody>
                    <a:bodyPr wrap="square" lIns="25400" rIns="25400" tIns="12700" bIns="12700"/>
                    <a:lstStyle/>
                    <a:p>
                      <a:pPr>
                        <a:defRPr sz="700">
                          <a:solidFill>
                            <a:srgbClr val="282828"/>
                          </a:solidFill>
                        </a:defRPr>
                      </a:pPr>
                      <a:r>
                        <a:t>McpcPCellEUtranFreqRelProfileUeCfg</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r h="265430">
                <a:tc>
                  <a:txBody>
                    <a:bodyPr wrap="square" lIns="25400" rIns="25400" tIns="12700" bIns="12700"/>
                    <a:lstStyle/>
                    <a:p>
                      <a:pPr>
                        <a:defRPr sz="700">
                          <a:solidFill>
                            <a:srgbClr val="282828"/>
                          </a:solidFill>
                        </a:defRPr>
                      </a:pPr>
                      <a:r>
                        <a:t>UeMCEUtranFreqRelProfile</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but not new N77 SSB (647328)</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r h="385445">
                <a:tc>
                  <a:txBody>
                    <a:bodyPr wrap="square" lIns="25400" rIns="25400" tIns="12700" bIns="12700"/>
                    <a:lstStyle/>
                    <a:p>
                      <a:pPr>
                        <a:defRPr sz="700">
                          <a:solidFill>
                            <a:srgbClr val="282828"/>
                          </a:solidFill>
                        </a:defRPr>
                      </a:pPr>
                      <a:r>
                        <a:t>UeMCEUtranFreqRelProfile</a:t>
                      </a:r>
                    </a:p>
                  </a:txBody>
                  <a:tcPr/>
                </a:tc>
                <a:tc>
                  <a:txBody>
                    <a:bodyPr wrap="square" lIns="25400" rIns="25400" tIns="12700" bIns="12700"/>
                    <a:lstStyle/>
                    <a:p>
                      <a:pPr>
                        <a:defRPr sz="700">
                          <a:solidFill>
                            <a:srgbClr val="282828"/>
                          </a:solidFill>
                        </a:defRPr>
                      </a:pPr>
                      <a:r>
                        <a:t>Profiles Discrepancies</a:t>
                      </a:r>
                    </a:p>
                  </a:txBody>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tc>
                <a:tc>
                  <a:txBody>
                    <a:bodyPr wrap="square" lIns="25400" rIns="25400" tIns="12700" bIns="12700"/>
                    <a:lstStyle/>
                    <a:p>
                      <a:pPr>
                        <a:defRPr sz="700">
                          <a:solidFill>
                            <a:srgbClr val="282828"/>
                          </a:solidFill>
                        </a:defRPr>
                      </a:pPr>
                      <a:r>
                        <a:t>Need to review profile discrepancies before/after retune</a:t>
                      </a:r>
                    </a:p>
                  </a:txBody>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Profiles Audit (if enabled) (cont.)</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609600" y="1437111"/>
          <a:ext cx="10972800" cy="1340485"/>
        </p:xfrm>
        <a:graphic>
          <a:graphicData uri="http://schemas.openxmlformats.org/drawingml/2006/table">
            <a:tbl>
              <a:tblPr firstRow="1" bandRow="1">
                <a:tableStyleId>{5C22544A-7EE6-4342-B048-85BDC9FD1C3A}</a:tableStyleId>
              </a:tblPr>
              <a:tblGrid>
                <a:gridCol w="1975930"/>
                <a:gridCol w="1763841"/>
                <a:gridCol w="2926080"/>
                <a:gridCol w="4306949"/>
              </a:tblGrid>
              <a:tr h="158750">
                <a:tc>
                  <a:txBody>
                    <a:bodyPr wrap="square" lIns="25400" rIns="25400" tIns="12700" bIns="12700"/>
                    <a:lstStyle/>
                    <a:p>
                      <a:pPr>
                        <a:defRPr b="1" sz="1000">
                          <a:solidFill>
                            <a:srgbClr val="FFFFFF"/>
                          </a:solidFill>
                        </a:defRPr>
                      </a:pPr>
                      <a:r>
                        <a:t>Category</a:t>
                      </a:r>
                    </a:p>
                  </a:txBody>
                  <a:tcPr>
                    <a:solidFill>
                      <a:srgbClr val="1F4E79"/>
                    </a:solidFill>
                  </a:tcPr>
                </a:tc>
                <a:tc>
                  <a:txBody>
                    <a:bodyPr wrap="square" lIns="25400" rIns="25400" tIns="12700" bIns="12700"/>
                    <a:lstStyle/>
                    <a:p>
                      <a:pPr>
                        <a:defRPr b="1" sz="1000">
                          <a:solidFill>
                            <a:srgbClr val="FFFFFF"/>
                          </a:solidFill>
                        </a:defRPr>
                      </a:pPr>
                      <a:r>
                        <a:t>SubCategory</a:t>
                      </a:r>
                    </a:p>
                  </a:txBody>
                  <a:tcPr>
                    <a:solidFill>
                      <a:srgbClr val="1F4E79"/>
                    </a:solidFill>
                  </a:tcPr>
                </a:tc>
                <a:tc>
                  <a:txBody>
                    <a:bodyPr wrap="square" lIns="25400" rIns="25400" tIns="12700" bIns="12700"/>
                    <a:lstStyle/>
                    <a:p>
                      <a:pPr>
                        <a:defRPr b="1" sz="1000">
                          <a:solidFill>
                            <a:srgbClr val="FFFFFF"/>
                          </a:solidFill>
                        </a:defRPr>
                      </a:pPr>
                      <a:r>
                        <a:t>Metric</a:t>
                      </a:r>
                    </a:p>
                  </a:txBody>
                  <a:tcPr>
                    <a:solidFill>
                      <a:srgbClr val="1F4E79"/>
                    </a:solidFill>
                  </a:tcPr>
                </a:tc>
                <a:tc>
                  <a:txBody>
                    <a:bodyPr wrap="square" lIns="25400" rIns="25400" tIns="12700" bIns="12700"/>
                    <a:lstStyle/>
                    <a:p>
                      <a:pPr>
                        <a:defRPr b="1" sz="1000">
                          <a:solidFill>
                            <a:srgbClr val="FFFFFF"/>
                          </a:solidFill>
                        </a:defRPr>
                      </a:pPr>
                      <a:r>
                        <a:t>Tips</a:t>
                      </a:r>
                    </a:p>
                  </a:txBody>
                  <a:tcPr>
                    <a:solidFill>
                      <a:srgbClr val="1F4E79"/>
                    </a:solidFill>
                  </a:tcPr>
                </a:tc>
              </a:tr>
              <a:tr h="265430">
                <a:tc>
                  <a:txBody>
                    <a:bodyPr wrap="square" lIns="25400" rIns="25400" tIns="12700" bIns="12700"/>
                    <a:lstStyle/>
                    <a:p>
                      <a:pPr>
                        <a:defRPr sz="700">
                          <a:solidFill>
                            <a:srgbClr val="282828"/>
                          </a:solidFill>
                        </a:defRPr>
                      </a:pPr>
                      <a:r>
                        <a:t>UeMCEUtranFreqRelProfileUeCfg</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and Profiles with old N77 SSB (648672) but not new N77 SSB (647328)</a:t>
                      </a:r>
                    </a:p>
                  </a:txBody>
                  <a:tcPr/>
                </a:tc>
                <a:tc>
                  <a:txBody>
                    <a:bodyPr wrap="square" lIns="25400" rIns="25400" tIns="12700" bIns="12700"/>
                    <a:lstStyle/>
                    <a:p>
                      <a:pPr>
                        <a:defRPr sz="700">
                          <a:solidFill>
                            <a:srgbClr val="282828"/>
                          </a:solidFill>
                        </a:defRPr>
                      </a:pPr>
                      <a:r>
                        <a:t>Need to review profile consistency before/after retune</a:t>
                      </a:r>
                    </a:p>
                  </a:txBody>
                  <a:tcPr/>
                </a:tc>
              </a:tr>
              <a:tr h="385445">
                <a:tc>
                  <a:txBody>
                    <a:bodyPr wrap="square" lIns="25400" rIns="25400" tIns="12700" bIns="12700"/>
                    <a:lstStyle/>
                    <a:p>
                      <a:pPr>
                        <a:defRPr sz="700">
                          <a:solidFill>
                            <a:srgbClr val="282828"/>
                          </a:solidFill>
                        </a:defRPr>
                      </a:pPr>
                      <a:r>
                        <a:t>UeMCEUtranFreqRelProfileUeCfg</a:t>
                      </a:r>
                    </a:p>
                  </a:txBody>
                  <a:tcPr>
                    <a:solidFill>
                      <a:srgbClr val="F2F6FC"/>
                    </a:solidFill>
                  </a:tcPr>
                </a:tc>
                <a:tc>
                  <a:txBody>
                    <a:bodyPr wrap="square" lIns="25400" rIns="25400" tIns="12700" bIns="12700"/>
                    <a:lstStyle/>
                    <a:p>
                      <a:pPr>
                        <a:defRPr sz="700">
                          <a:solidFill>
                            <a:srgbClr val="282828"/>
                          </a:solidFill>
                        </a:defRPr>
                      </a:pPr>
                      <a:r>
                        <a:t>Profiles Discrepancies</a:t>
                      </a:r>
                    </a:p>
                  </a:txBody>
                  <a:tcPr>
                    <a:solidFill>
                      <a:srgbClr val="F2F6FC"/>
                    </a:solidFill>
                  </a:tcPr>
                </a:tc>
                <a:tc>
                  <a:txBody>
                    <a:bodyPr wrap="square" lIns="25400" rIns="25400" tIns="12700" bIns="12700"/>
                    <a:lstStyle/>
                    <a:p>
                      <a:pPr>
                        <a:defRPr sz="700">
                          <a:solidFill>
                            <a:srgbClr val="282828"/>
                          </a:solidFill>
                        </a:defRPr>
                      </a:pPr>
                      <a:r>
                        <a:t>Retuned nodes and Profiles with old N77 SSB (648672) and new N77 SSB (647328) but with param discrepancies</a:t>
                      </a:r>
                    </a:p>
                  </a:txBody>
                  <a:tcPr>
                    <a:solidFill>
                      <a:srgbClr val="F2F6FC"/>
                    </a:solidFill>
                  </a:tcPr>
                </a:tc>
                <a:tc>
                  <a:txBody>
                    <a:bodyPr wrap="square" lIns="25400" rIns="25400" tIns="12700" bIns="12700"/>
                    <a:lstStyle/>
                    <a:p>
                      <a:pPr>
                        <a:defRPr sz="700">
                          <a:solidFill>
                            <a:srgbClr val="282828"/>
                          </a:solidFill>
                        </a:defRPr>
                      </a:pPr>
                      <a:r>
                        <a:t>Need to review profile discrepancies before/after retune</a:t>
                      </a:r>
                    </a:p>
                  </a:txBody>
                  <a:tcPr>
                    <a:solidFill>
                      <a:srgbClr val="F2F6FC"/>
                    </a:solidFill>
                  </a:tcPr>
                </a:tc>
              </a:tr>
              <a:tr h="265430">
                <a:tc>
                  <a:txBody>
                    <a:bodyPr wrap="square" lIns="25400" rIns="25400" tIns="12700" bIns="12700"/>
                    <a:lstStyle/>
                    <a:p>
                      <a:pPr>
                        <a:defRPr sz="700">
                          <a:solidFill>
                            <a:srgbClr val="282828"/>
                          </a:solidFill>
                        </a:defRPr>
                      </a:pPr>
                      <a:r>
                        <a:t>NRCellCU</a:t>
                      </a:r>
                    </a:p>
                  </a:txBody>
                  <a:tcPr/>
                </a:tc>
                <a:tc>
                  <a:txBody>
                    <a:bodyPr wrap="square" lIns="25400" rIns="25400" tIns="12700" bIns="12700"/>
                    <a:lstStyle/>
                    <a:p>
                      <a:pPr>
                        <a:defRPr sz="700">
                          <a:solidFill>
                            <a:srgbClr val="282828"/>
                          </a:solidFill>
                        </a:defRPr>
                      </a:pPr>
                      <a:r>
                        <a:t>Profiles Inconsistencies</a:t>
                      </a:r>
                    </a:p>
                  </a:txBody>
                  <a:tcPr/>
                </a:tc>
                <a:tc>
                  <a:txBody>
                    <a:bodyPr wrap="square" lIns="25400" rIns="25400" tIns="12700" bIns="12700"/>
                    <a:lstStyle/>
                    <a:p>
                      <a:pPr>
                        <a:defRPr sz="700">
                          <a:solidFill>
                            <a:srgbClr val="282828"/>
                          </a:solidFill>
                        </a:defRPr>
                      </a:pPr>
                      <a:r>
                        <a:t>Retuned nodes with NRCellCU Ref parameters to Profiles with the old SSB name</a:t>
                      </a:r>
                    </a:p>
                  </a:txBody>
                  <a:tcPr/>
                </a:tc>
                <a:tc>
                  <a:txBody>
                    <a:bodyPr wrap="square" lIns="25400" rIns="25400" tIns="12700" bIns="12700"/>
                    <a:lstStyle/>
                    <a:p>
                      <a:pPr>
                        <a:defRPr sz="700">
                          <a:solidFill>
                            <a:srgbClr val="282828"/>
                          </a:solidFill>
                        </a:defRPr>
                      </a:pPr>
                      <a:r>
                        <a:t>Need to review profile consistency before/after retune</a:t>
                      </a:r>
                    </a:p>
                  </a:txBody>
                  <a:tcPr/>
                </a:tc>
              </a:tr>
              <a:tr h="265430">
                <a:tc>
                  <a:txBody>
                    <a:bodyPr wrap="square" lIns="25400" rIns="25400" tIns="12700" bIns="12700"/>
                    <a:lstStyle/>
                    <a:p>
                      <a:pPr>
                        <a:defRPr sz="700">
                          <a:solidFill>
                            <a:srgbClr val="282828"/>
                          </a:solidFill>
                        </a:defRPr>
                      </a:pPr>
                      <a:r>
                        <a:t>EUtranFreqRelation</a:t>
                      </a:r>
                    </a:p>
                  </a:txBody>
                  <a:tcPr>
                    <a:solidFill>
                      <a:srgbClr val="F2F6FC"/>
                    </a:solidFill>
                  </a:tcPr>
                </a:tc>
                <a:tc>
                  <a:txBody>
                    <a:bodyPr wrap="square" lIns="25400" rIns="25400" tIns="12700" bIns="12700"/>
                    <a:lstStyle/>
                    <a:p>
                      <a:pPr>
                        <a:defRPr sz="700">
                          <a:solidFill>
                            <a:srgbClr val="282828"/>
                          </a:solidFill>
                        </a:defRPr>
                      </a:pPr>
                      <a:r>
                        <a:t>Profiles Inconsistencies</a:t>
                      </a:r>
                    </a:p>
                  </a:txBody>
                  <a:tcPr>
                    <a:solidFill>
                      <a:srgbClr val="F2F6FC"/>
                    </a:solidFill>
                  </a:tcPr>
                </a:tc>
                <a:tc>
                  <a:txBody>
                    <a:bodyPr wrap="square" lIns="25400" rIns="25400" tIns="12700" bIns="12700"/>
                    <a:lstStyle/>
                    <a:p>
                      <a:pPr>
                        <a:defRPr sz="700">
                          <a:solidFill>
                            <a:srgbClr val="282828"/>
                          </a:solidFill>
                        </a:defRPr>
                      </a:pPr>
                      <a:r>
                        <a:t>Retuned nodes with EUtranFreqRelation Ref parameters to Profiles with the old SSB name</a:t>
                      </a:r>
                    </a:p>
                  </a:txBody>
                  <a:tcPr>
                    <a:solidFill>
                      <a:srgbClr val="F2F6FC"/>
                    </a:solidFill>
                  </a:tcPr>
                </a:tc>
                <a:tc>
                  <a:txBody>
                    <a:bodyPr wrap="square" lIns="25400" rIns="25400" tIns="12700" bIns="12700"/>
                    <a:lstStyle/>
                    <a:p>
                      <a:pPr>
                        <a:defRPr sz="700">
                          <a:solidFill>
                            <a:srgbClr val="282828"/>
                          </a:solidFill>
                        </a:defRPr>
                      </a:pPr>
                      <a:r>
                        <a:t>Need to review profile consistency before/after retune</a:t>
                      </a:r>
                    </a:p>
                  </a:txBody>
                  <a:tcPr>
                    <a:solidFill>
                      <a:srgbClr val="F2F6FC"/>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Detailed check execution order and gating rules</a:t>
            </a:r>
          </a:p>
        </p:txBody>
      </p:sp>
      <p:sp>
        <p:nvSpPr>
          <p:cNvPr id="3" name="Content Placeholder 2"/>
          <p:cNvSpPr>
            <a:spLocks noGrp="1"/>
          </p:cNvSpPr>
          <p:nvPr>
            <p:ph idx="1"/>
          </p:nvPr>
        </p:nvSpPr>
        <p:spPr/>
        <p:txBody>
          <a:bodyPr/>
          <a:lstStyle/>
          <a:p>
            <a:pPr lvl="1">
              <a:buNone/>
              <a:defRPr sz="1200"/>
            </a:pPr>
            <a:r>
              <a:t>1. MeContext pre-processing</a:t>
            </a:r>
          </a:p>
          <a:p>
            <a:pPr lvl="2">
              <a:buChar char="•"/>
              <a:defRPr sz="1200"/>
            </a:pPr>
            <a:r>
              <a:t>Computes total nodes and "UNSYNCHRONIZED" nodes.</a:t>
            </a:r>
          </a:p>
          <a:p>
            <a:pPr lvl="2">
              <a:buChar char="•"/>
              <a:defRPr sz="1200"/>
            </a:pPr>
            <a:r>
              <a:t>Builds an exclusion list and filters all other MO dataframes by "NodeId" before running any other checks.</a:t>
            </a:r>
          </a:p>
          <a:p>
            <a:pPr lvl="1">
              <a:buNone/>
              <a:defRPr sz="1200"/>
            </a:pPr>
            <a:r>
              <a:t>2. Node scoping for Pre/Post interpretation</a:t>
            </a:r>
          </a:p>
          <a:p>
            <a:pPr lvl="2">
              <a:buChar char="•"/>
              <a:defRPr sz="1200"/>
            </a:pPr>
            <a:r>
              <a:t>"NRCellDU" checks run first because they generate the rows used to infer node scope (Pre-retune vs Post-retune).</a:t>
            </a:r>
          </a:p>
          <a:p>
            <a:pPr lvl="2">
              <a:buChar char="•"/>
              <a:defRPr sz="1200"/>
            </a:pPr>
            <a:r>
              <a:t>This scope is reused by relation/externals/termpoint checks to classify targets ("SSB-Pre", "SSB-Post", "Unknown").</a:t>
            </a:r>
          </a:p>
          <a:p>
            <a:pPr lvl="1">
              <a:buNone/>
              <a:defRPr sz="1200"/>
            </a:pPr>
            <a:r>
              <a:t>3. Per-table processors</a:t>
            </a:r>
          </a:p>
          <a:p>
            <a:pPr lvl="2">
              <a:buChar char="•"/>
              <a:defRPr sz="1200"/>
            </a:pPr>
            <a:r>
              <a:t>NR processors: "NRFrequency", "NRFreqRelation", "NRSectorCarrier", "NRCellRelation".</a:t>
            </a:r>
          </a:p>
          <a:p>
            <a:pPr lvl="2">
              <a:buChar char="•"/>
              <a:defRPr sz="1200"/>
            </a:pPr>
            <a:r>
              <a:t>LTE processors: "GUtranSyncSignalFrequency", "GUtranFreqRelation", "GUtranCellRelation".</a:t>
            </a:r>
          </a:p>
          <a:p>
            <a:pPr lvl="2">
              <a:buChar char="•"/>
              <a:defRPr sz="1200"/>
            </a:pPr>
            <a:r>
              <a:t>Externals/Termpoints: "ExternalNRCellCU", "ExternalGUtranCell", "TermPointToGNodeB", "TermPointToGNB", "TermPointToENodeB".</a:t>
            </a:r>
          </a:p>
          <a:p>
            <a:pPr lvl="2">
              <a:buChar char="•"/>
              <a:defRPr sz="1200"/>
            </a:pPr>
            <a:r>
              <a:t>ENDC/Cardinality/Profile processors follow and append their own rows.</a:t>
            </a:r>
          </a:p>
          <a:p>
            <a:pPr lvl="1">
              <a:buNone/>
              <a:defRPr sz="1200"/>
            </a:pPr>
            <a:r>
              <a:t>4. Resilience model</a:t>
            </a:r>
          </a:p>
          <a:p>
            <a:pPr lvl="2">
              <a:buChar char="•"/>
              <a:defRPr sz="1200"/>
            </a:pPr>
            <a:r>
              <a:t>If a table is missing/empty: emits "Table not found or empty" metric rows.</a:t>
            </a:r>
          </a:p>
          <a:p>
            <a:pPr lvl="2">
              <a:buChar char="•"/>
              <a:defRPr sz="1200"/>
            </a:pPr>
            <a:r>
              <a:t>If required columns are missing: emits "N/A" rows.</a:t>
            </a:r>
          </a:p>
          <a:p>
            <a:pPr lvl="2">
              <a:buChar char="•"/>
              <a:defRPr sz="1200"/>
            </a:pPr>
            <a:r>
              <a:t>If exceptions occur: emits "ERROR: ..." rows without aborting the full SummaryAudit generation.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Additional columns injected into parsed MO sheets</a:t>
            </a:r>
          </a:p>
        </p:txBody>
      </p:sp>
      <p:sp>
        <p:nvSpPr>
          <p:cNvPr id="3" name="Content Placeholder 2"/>
          <p:cNvSpPr>
            <a:spLocks noGrp="1"/>
          </p:cNvSpPr>
          <p:nvPr>
            <p:ph idx="1"/>
          </p:nvPr>
        </p:nvSpPr>
        <p:spPr/>
        <p:txBody>
          <a:bodyPr/>
          <a:lstStyle/>
          <a:p>
            <a:pPr>
              <a:buNone/>
              <a:defRPr sz="1200"/>
            </a:pPr>
            <a:r>
              <a:t>Besides SummaryAudit, Module 1 enriches several raw MO sheets with operational columns for execution/cleanup.</a:t>
            </a:r>
          </a:p>
          <a:p>
            <a:pPr>
              <a:buNone/>
              <a:defRPr b="1" sz="1400"/>
            </a:pPr>
            <a:r>
              <a:t>`MeContext` enrichment (main planning helper)</a:t>
            </a:r>
          </a:p>
          <a:p>
            <a:pPr>
              <a:buNone/>
              <a:defRPr sz="1200"/>
            </a:pPr>
            <a:r>
              <a:t>Additional columns are computed per "NodeId" by aggregating NR/LTE relation tables:</a:t>
            </a:r>
          </a:p>
          <a:p>
            <a:pPr lvl="1">
              <a:buChar char="•"/>
              <a:defRPr sz="1200"/>
            </a:pPr>
            <a:r>
              <a:t>Topology and inventory:</a:t>
            </a:r>
          </a:p>
          <a:p>
            <a:pPr lvl="2">
              <a:buChar char="•"/>
              <a:defRPr sz="1200"/>
            </a:pPr>
            <a:r>
              <a:t>"mmWave Cells", "LowMidBand Cells", "N77 Cells"</a:t>
            </a:r>
          </a:p>
          <a:p>
            <a:pPr lvl="2">
              <a:buChar char="•"/>
              <a:defRPr sz="1200"/>
            </a:pPr>
            <a:r>
              <a:t>"N77A old SSB cells", "N77A new SSB cells"</a:t>
            </a:r>
          </a:p>
          <a:p>
            <a:pPr lvl="1">
              <a:buChar char="•"/>
              <a:defRPr sz="1200"/>
            </a:pPr>
            <a:r>
              <a:t>Relation counters:</a:t>
            </a:r>
          </a:p>
          <a:p>
            <a:pPr lvl="2">
              <a:buChar char="•"/>
              <a:defRPr sz="1200"/>
            </a:pPr>
            <a:r>
              <a:t>"NRFreqRelation to old N77A SSB", "NRFreqRelation to new N77A SSB"</a:t>
            </a:r>
          </a:p>
          <a:p>
            <a:pPr lvl="2">
              <a:buChar char="•"/>
              <a:defRPr sz="1200"/>
            </a:pPr>
            <a:r>
              <a:t>"GUtranFreqRelation to old N77A SSB", "GUtranFreqRelation to new N77A SSB"</a:t>
            </a:r>
          </a:p>
          <a:p>
            <a:pPr lvl="1">
              <a:buChar char="•"/>
              <a:defRPr sz="1200"/>
            </a:pPr>
            <a:r>
              <a:t>Priority snapshots (unique consolidated values):</a:t>
            </a:r>
          </a:p>
          <a:p>
            <a:pPr lvl="2">
              <a:buChar char="•"/>
              <a:defRPr sz="1200"/>
            </a:pPr>
            <a:r>
              <a:t>"NRFreqRelation to old N77A SSB cellReselPrio"</a:t>
            </a:r>
          </a:p>
          <a:p>
            <a:pPr lvl="2">
              <a:buChar char="•"/>
              <a:defRPr sz="1200"/>
            </a:pPr>
            <a:r>
              <a:t>"NRFreqRelation to new N77A SSB cellReselPrio"</a:t>
            </a:r>
          </a:p>
          <a:p>
            <a:pPr lvl="2">
              <a:buChar char="•"/>
              <a:defRPr sz="1200"/>
            </a:pPr>
            <a:r>
              <a:t>"GUtranFreqRelation to old N77A SSB cellReselPrio"</a:t>
            </a:r>
          </a:p>
          <a:p>
            <a:pPr lvl="2">
              <a:buChar char="•"/>
              <a:defRPr sz="1200"/>
            </a:pPr>
            <a:r>
              <a:t>"GUtranFreqRelation to new N77A SSB cellReselPrio"</a:t>
            </a:r>
          </a:p>
          <a:p>
            <a:pPr lvl="2">
              <a:buChar char="•"/>
              <a:defRPr sz="1200"/>
            </a:pPr>
            <a:r>
              <a:t>"GUtranFreqRelation to old N77A SSB EndcPrio"</a:t>
            </a:r>
          </a:p>
          <a:p>
            <a:pPr lvl="2">
              <a:buChar char="•"/>
              <a:defRPr sz="1200"/>
            </a:pPr>
            <a:r>
              <a:t>"GUtranFreqRelation to new N77A SSB EndcPrio"</a:t>
            </a:r>
          </a:p>
          <a:p>
            <a:pPr lvl="1">
              <a:buChar char="•"/>
              <a:defRPr sz="1200"/>
            </a:pPr>
            <a:r>
              <a:t>Workflow recommendation fields:</a:t>
            </a:r>
          </a:p>
          <a:p>
            <a:pPr lvl="2">
              <a:buChar char="•"/>
              <a:defRPr sz="1200"/>
            </a:pPr>
            <a:r>
              <a:t>"Step1", "Step2b", "Step2ac", "Next Step", "EndcPrio Next Step"</a:t>
            </a:r>
          </a:p>
          <a:p>
            <a:pPr>
              <a:buNone/>
              <a:defRPr sz="1200"/>
            </a:pPr>
            <a:r>
              <a:t>Operational interpretation:</a:t>
            </a:r>
          </a:p>
          <a:p>
            <a:pPr lvl="1">
              <a:buChar char="•"/>
              <a:defRPr sz="1200"/>
            </a:pPr>
            <a:r>
              <a:t>"Step1" focuses on old/new relation parity and reselection-priority convergence.</a:t>
            </a:r>
          </a:p>
          <a:p>
            <a:pPr lvl="1">
              <a:buChar char="•"/>
              <a:defRPr sz="1200"/>
            </a:pPr>
            <a:r>
              <a:t>"Step2b" focuses on old/new N77A cell presence.</a:t>
            </a:r>
          </a:p>
          <a:p>
            <a:pPr lvl="1">
              <a:buChar char="•"/>
              <a:defRPr sz="1200"/>
            </a:pPr>
            <a:r>
              <a:t>"Step2ac" focuses on ENDC priority transition validation.</a:t>
            </a:r>
          </a:p>
          <a:p>
            <a:pPr lvl="1">
              <a:buChar char="•"/>
              <a:defRPr sz="1200"/>
            </a:pPr>
            <a:r>
              <a:t>"Next Step" concatenates pending actions to provide a single execution hint per node.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Additional columns injected into parsed MO sheets (cont.)</a:t>
            </a:r>
          </a:p>
        </p:txBody>
      </p:sp>
      <p:sp>
        <p:nvSpPr>
          <p:cNvPr id="3" name="Content Placeholder 2"/>
          <p:cNvSpPr>
            <a:spLocks noGrp="1"/>
          </p:cNvSpPr>
          <p:nvPr>
            <p:ph idx="1"/>
          </p:nvPr>
        </p:nvSpPr>
        <p:spPr/>
        <p:txBody>
          <a:bodyPr/>
          <a:lstStyle/>
          <a:p>
            <a:pPr>
              <a:buNone/>
              <a:defRPr b="1" sz="1400"/>
            </a:pPr>
            <a:r>
              <a:t>`NRCellRelation` and `GUtranCellRelation` enrichment</a:t>
            </a:r>
          </a:p>
          <a:p>
            <a:pPr>
              <a:buNone/>
              <a:defRPr sz="1200"/>
            </a:pPr>
            <a:r>
              <a:t>Both relation tables are normalized with helper columns used for discrepancy targeting and command generation:</a:t>
            </a:r>
          </a:p>
          <a:p>
            <a:pPr lvl="1">
              <a:buChar char="•"/>
              <a:defRPr sz="1200"/>
            </a:pPr>
            <a:r>
              <a:t>"Frequency" extracted from relation references.</a:t>
            </a:r>
          </a:p>
          <a:p>
            <a:pPr lvl="1">
              <a:buChar char="•"/>
              <a:defRPr sz="1200"/>
            </a:pPr>
            <a:r>
              <a:t>External endpoint decomposition fields (function/cell identifiers parsed from references).</a:t>
            </a:r>
          </a:p>
          <a:p>
            <a:pPr lvl="1">
              <a:buChar char="•"/>
              <a:defRPr sz="1200"/>
            </a:pPr>
            <a:r>
              <a:t>"GNodeB_SSB_Target" classification ("SSB-Pre"/"SSB-Post"/"Unknown").</a:t>
            </a:r>
          </a:p>
          <a:p>
            <a:pPr lvl="1">
              <a:buChar char="•"/>
              <a:defRPr sz="1200"/>
            </a:pPr>
            <a:r>
              <a:t>"Correction_Cmd" prebuilt command text for the rows considered actionable.</a:t>
            </a:r>
          </a:p>
          <a:p>
            <a:pPr>
              <a:buNone/>
              <a:defRPr b="1" sz="1400"/>
            </a:pPr>
            <a:r>
              <a:t>`ExternalNRCellCU` and `ExternalGUtranCell` enrichment</a:t>
            </a:r>
          </a:p>
          <a:p>
            <a:pPr lvl="1">
              <a:buChar char="•"/>
              <a:defRPr sz="1200"/>
            </a:pPr>
            <a:r>
              <a:t>Adds "Frequency", "Termpoint", "TermpointStatus", "TermpointConsolidatedStatus".</a:t>
            </a:r>
          </a:p>
          <a:p>
            <a:pPr lvl="1">
              <a:buChar char="•"/>
              <a:defRPr sz="1200"/>
            </a:pPr>
            <a:r>
              <a:t>Adds "GNodeB_SSB_Target" and "Correction_Cmd" for retune remediation flows.</a:t>
            </a:r>
          </a:p>
          <a:p>
            <a:pPr lvl="1">
              <a:buChar char="•"/>
              <a:defRPr sz="1200"/>
            </a:pPr>
            <a:r>
              <a:t>For LTE externals, service state ("OUT_OF_SERVICE") is also reflected in SummaryAudit checks.</a:t>
            </a:r>
          </a:p>
          <a:p>
            <a:pPr>
              <a:buNone/>
              <a:defRPr b="1" sz="1400"/>
            </a:pPr>
            <a:r>
              <a:t>`TermPointToGNodeB` / `TermPointToGNB` enrichment</a:t>
            </a:r>
          </a:p>
          <a:p>
            <a:pPr lvl="1">
              <a:buChar char="•"/>
              <a:defRPr sz="1200"/>
            </a:pPr>
            <a:r>
              <a:t>Adds consolidated termpoint health/status fields and "SSB needs update" boolean.</a:t>
            </a:r>
          </a:p>
          <a:p>
            <a:pPr lvl="1">
              <a:buChar char="•"/>
              <a:defRPr sz="1200"/>
            </a:pPr>
            <a:r>
              <a:t>Adds "GNodeB_SSB_Target" and generated "Correction_Cmd" when target and frequency logic indicates migration to post-retune SSB.</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Key SummaryAudit checks by source table (implementation-level)</a:t>
            </a:r>
          </a:p>
        </p:txBody>
      </p:sp>
      <p:sp>
        <p:nvSpPr>
          <p:cNvPr id="3" name="Content Placeholder 2"/>
          <p:cNvSpPr>
            <a:spLocks noGrp="1"/>
          </p:cNvSpPr>
          <p:nvPr>
            <p:ph idx="1"/>
          </p:nvPr>
        </p:nvSpPr>
        <p:spPr/>
        <p:txBody>
          <a:bodyPr/>
          <a:lstStyle/>
          <a:p>
            <a:pPr>
              <a:buNone/>
              <a:defRPr sz="1200"/>
            </a:pPr>
            <a:r>
              <a:t>Below is the practical checklist implemented by the processors:</a:t>
            </a:r>
          </a:p>
          <a:p>
            <a:pPr lvl="1">
              <a:buChar char="•"/>
              <a:defRPr sz="1200"/>
            </a:pPr>
            <a:r>
              <a:t>NRCellDU:</a:t>
            </a:r>
          </a:p>
          <a:p>
            <a:pPr lvl="2">
              <a:buChar char="•"/>
              <a:defRPr sz="1200"/>
            </a:pPr>
            <a:r>
              <a:t>Node classification LowMidBand/mmWave/mixed.</a:t>
            </a:r>
          </a:p>
          <a:p>
            <a:pPr lvl="2">
              <a:buChar char="•"/>
              <a:defRPr sz="1200"/>
            </a:pPr>
            <a:r>
              <a:t>N77-in-band detection.</a:t>
            </a:r>
          </a:p>
          <a:p>
            <a:pPr lvl="2">
              <a:buChar char="•"/>
              <a:defRPr sz="1200"/>
            </a:pPr>
            <a:r>
              <a:t>Allowed pre/post SSB-list compliance and out-of-list inconsistencies.</a:t>
            </a:r>
          </a:p>
          <a:p>
            <a:pPr lvl="1">
              <a:buChar char="•"/>
              <a:defRPr sz="1200"/>
            </a:pPr>
            <a:r>
              <a:t>NRFrequency:</a:t>
            </a:r>
          </a:p>
          <a:p>
            <a:pPr lvl="2">
              <a:buChar char="•"/>
              <a:defRPr sz="1200"/>
            </a:pPr>
            <a:r>
              <a:t>old/new/both/old-without-new presence by node.</a:t>
            </a:r>
          </a:p>
          <a:p>
            <a:pPr lvl="2">
              <a:buChar char="•"/>
              <a:defRPr sz="1200"/>
            </a:pPr>
            <a:r>
              <a:t>values outside expected old/new sets.</a:t>
            </a:r>
          </a:p>
          <a:p>
            <a:pPr lvl="1">
              <a:buChar char="•"/>
              <a:defRPr sz="1200"/>
            </a:pPr>
            <a:r>
              <a:t>NRFreqRelation:</a:t>
            </a:r>
          </a:p>
          <a:p>
            <a:pPr lvl="2">
              <a:buChar char="•"/>
              <a:defRPr sz="1200"/>
            </a:pPr>
            <a:r>
              <a:t>old/new/both/old-without-new relation presence.</a:t>
            </a:r>
          </a:p>
          <a:p>
            <a:pPr lvl="2">
              <a:buChar char="•"/>
              <a:defRPr sz="1200"/>
            </a:pPr>
            <a:r>
              <a:t>naming-convention checks for auto-created relation IDs.</a:t>
            </a:r>
          </a:p>
          <a:p>
            <a:pPr lvl="2">
              <a:buChar char="•"/>
              <a:defRPr sz="1200"/>
            </a:pPr>
            <a:r>
              <a:t>cell-level old-vs-new parameter mismatch detection.</a:t>
            </a:r>
          </a:p>
          <a:p>
            <a:pPr lvl="2">
              <a:buChar char="•"/>
              <a:defRPr sz="1200"/>
            </a:pPr>
            <a:r>
              <a:t>profile reference transition checks (old profile clones vs expected post clone).</a:t>
            </a:r>
          </a:p>
          <a:p>
            <a:pPr lvl="1">
              <a:buChar char="•"/>
              <a:defRPr sz="1200"/>
            </a:pPr>
            <a:r>
              <a:t>NRSectorCarrier:</a:t>
            </a:r>
          </a:p>
          <a:p>
            <a:pPr lvl="2">
              <a:buChar char="•"/>
              <a:defRPr sz="1200"/>
            </a:pPr>
            <a:r>
              <a:t>allowed ARFCN list compliance (pre/post).</a:t>
            </a:r>
          </a:p>
          <a:p>
            <a:pPr lvl="2">
              <a:buChar char="•"/>
              <a:defRPr sz="1200"/>
            </a:pPr>
            <a:r>
              <a:t>out-of-list inconsistencies.</a:t>
            </a:r>
          </a:p>
          <a:p>
            <a:pPr lvl="1">
              <a:buChar char="•"/>
              <a:defRPr sz="1200"/>
            </a:pPr>
            <a:r>
              <a:t>NRCellRelation:</a:t>
            </a:r>
          </a:p>
          <a:p>
            <a:pPr lvl="2">
              <a:buChar char="•"/>
              <a:defRPr sz="1200"/>
            </a:pPr>
            <a:r>
              <a:t>relation counts to old/new targets.</a:t>
            </a:r>
          </a:p>
          <a:p>
            <a:pPr lvl="2">
              <a:buChar char="•"/>
              <a:defRPr sz="1200"/>
            </a:pPr>
            <a:r>
              <a:t>extraction/parsing consistency from "nRFreqRelationRef".</a:t>
            </a:r>
          </a:p>
          <a:p>
            <a:pPr lvl="1">
              <a:buChar char="•"/>
              <a:defRPr sz="1200"/>
            </a:pPr>
            <a:r>
              <a:t>GUtranSyncSignalFrequency:</a:t>
            </a:r>
          </a:p>
          <a:p>
            <a:pPr lvl="2">
              <a:buChar char="•"/>
              <a:defRPr sz="1200"/>
            </a:pPr>
            <a:r>
              <a:t>old/new/both/old-without-new LTE presence by node.</a:t>
            </a:r>
          </a:p>
          <a:p>
            <a:pPr lvl="2">
              <a:buChar char="•"/>
              <a:defRPr sz="1200"/>
            </a:pPr>
            <a:r>
              <a:t>out-of-set inconsistencies.</a:t>
            </a:r>
          </a:p>
          <a:p>
            <a:pPr lvl="1">
              <a:buChar char="•"/>
              <a:defRPr sz="1200"/>
            </a:pPr>
            <a:r>
              <a:t>GUtranFreqRelation:</a:t>
            </a:r>
          </a:p>
          <a:p>
            <a:pPr lvl="2">
              <a:buChar char="•"/>
              <a:defRPr sz="1200"/>
            </a:pPr>
            <a:r>
              <a:t>old/new/both/old-without-new checks.</a:t>
            </a:r>
          </a:p>
          <a:p>
            <a:pPr lvl="2">
              <a:buChar char="•"/>
              <a:defRPr sz="1200"/>
            </a:pPr>
            <a:r>
              <a:t>naming convention validation ("&lt;ssb&gt;-30-20-0-1" style).</a:t>
            </a:r>
          </a:p>
          <a:p>
            <a:pPr lvl="2">
              <a:buChar char="•"/>
              <a:defRPr sz="1200"/>
            </a:pPr>
            <a:r>
              <a:t>old/new cell-level parameter and ENDC priority checks.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Configuration Audit module in detail</a:t>
            </a:r>
          </a:p>
          <a:p>
            <a:pPr>
              <a:defRPr b="0" sz="2000">
                <a:solidFill>
                  <a:schemeClr val="accent2"/>
                </a:solidFill>
              </a:defRPr>
            </a:pPr>
            <a:r>
              <a:t>Key SummaryAudit checks by source table (implementation-level) (cont.)</a:t>
            </a:r>
          </a:p>
        </p:txBody>
      </p:sp>
      <p:sp>
        <p:nvSpPr>
          <p:cNvPr id="3" name="Content Placeholder 2"/>
          <p:cNvSpPr>
            <a:spLocks noGrp="1"/>
          </p:cNvSpPr>
          <p:nvPr>
            <p:ph idx="1"/>
          </p:nvPr>
        </p:nvSpPr>
        <p:spPr/>
        <p:txBody>
          <a:bodyPr/>
          <a:lstStyle/>
          <a:p>
            <a:pPr lvl="1">
              <a:buChar char="•"/>
              <a:defRPr sz="1200"/>
            </a:pPr>
            <a:r>
              <a:t>GUtranCellRelation:</a:t>
            </a:r>
          </a:p>
          <a:p>
            <a:pPr lvl="2">
              <a:buChar char="•"/>
              <a:defRPr sz="1200"/>
            </a:pPr>
            <a:r>
              <a:t>relation counts to old/new LTE targets.</a:t>
            </a:r>
          </a:p>
          <a:p>
            <a:pPr lvl="1">
              <a:buChar char="•"/>
              <a:defRPr sz="1200"/>
            </a:pPr>
            <a:r>
              <a:t>ExternalNRCellCU / ExternalGUtranCell:</a:t>
            </a:r>
          </a:p>
          <a:p>
            <a:pPr lvl="2">
              <a:buChar char="•"/>
              <a:defRPr sz="1200"/>
            </a:pPr>
            <a:r>
              <a:t>old/new external references counts.</a:t>
            </a:r>
          </a:p>
          <a:p>
            <a:pPr lvl="2">
              <a:buChar char="•"/>
              <a:defRPr sz="1200"/>
            </a:pPr>
            <a:r>
              <a:t>target classification and termpoint correlation.</a:t>
            </a:r>
          </a:p>
          <a:p>
            <a:pPr lvl="1">
              <a:buChar char="•"/>
              <a:defRPr sz="1200"/>
            </a:pPr>
            <a:r>
              <a:t>TermPoint tables:</a:t>
            </a:r>
          </a:p>
          <a:p>
            <a:pPr lvl="2">
              <a:buChar char="•"/>
              <a:defRPr sz="1200"/>
            </a:pPr>
            <a:r>
              <a:t>locked/disabled/unhealthy transport endpoint detection.</a:t>
            </a:r>
          </a:p>
          <a:p>
            <a:pPr lvl="2">
              <a:buChar char="•"/>
              <a:defRPr sz="1200"/>
            </a:pPr>
            <a:r>
              <a:t>alignment with external-cell update needs.</a:t>
            </a:r>
          </a:p>
          <a:p>
            <a:pPr lvl="1">
              <a:buChar char="•"/>
              <a:defRPr sz="1200"/>
            </a:pPr>
            <a:r>
              <a:t>EndcDistrProfile / FreqPrioNR:</a:t>
            </a:r>
          </a:p>
          <a:p>
            <a:pPr lvl="2">
              <a:buChar char="•"/>
              <a:defRPr sz="1200"/>
            </a:pPr>
            <a:r>
              <a:t>expected old/new + N77B combinations.</a:t>
            </a:r>
          </a:p>
          <a:p>
            <a:pPr lvl="2">
              <a:buChar char="•"/>
              <a:defRPr sz="1200"/>
            </a:pPr>
            <a:r>
              <a:t>unexpected combinations and param discrepancies.</a:t>
            </a:r>
          </a:p>
          <a:p>
            <a:pPr lvl="1">
              <a:buChar char="•"/>
              <a:defRPr sz="1200"/>
            </a:pPr>
            <a:r>
              <a:t>Cardinality checks:</a:t>
            </a:r>
          </a:p>
          <a:p>
            <a:pPr lvl="2">
              <a:buChar char="•"/>
              <a:defRPr sz="1200"/>
            </a:pPr>
            <a:r>
              <a:t>hard-limit and threshold checks per node/cell relation families.</a:t>
            </a:r>
          </a:p>
          <a:p>
            <a:pPr lvl="2">
              <a:buChar char="•"/>
              <a:defRPr sz="1200"/>
            </a:pPr>
            <a:r>
              <a:t>explicit inconsistency rows when limits are reached/exceeded.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Consistency Check module in detail</a:t>
            </a:r>
          </a:p>
          <a:p>
            <a:pPr>
              <a:defRPr b="0" sz="2000">
                <a:solidFill>
                  <a:schemeClr val="accent2"/>
                </a:solidFill>
              </a:defRPr>
            </a:pPr>
            <a:r>
              <a:t>Filtering by non-retuned nodes</a:t>
            </a:r>
          </a:p>
        </p:txBody>
      </p:sp>
      <p:sp>
        <p:nvSpPr>
          <p:cNvPr id="3" name="Content Placeholder 2"/>
          <p:cNvSpPr>
            <a:spLocks noGrp="1"/>
          </p:cNvSpPr>
          <p:nvPr>
            <p:ph idx="1"/>
          </p:nvPr>
        </p:nvSpPr>
        <p:spPr/>
        <p:txBody>
          <a:bodyPr/>
          <a:lstStyle/>
          <a:p>
            <a:pPr>
              <a:buNone/>
              <a:defRPr sz="1200"/>
            </a:pPr>
            <a:r>
              <a:t>If a POST SummaryAudit exists, the module obtains PRE/POST node lists and can exclude discrepancies whose target points to nodes that did not complete retune, reducing operational noise.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Consistency Check module in detail</a:t>
            </a:r>
          </a:p>
          <a:p>
            <a:pPr>
              <a:defRPr b="0" sz="2000">
                <a:solidFill>
                  <a:schemeClr val="accent2"/>
                </a:solidFill>
              </a:defRPr>
            </a:pPr>
            <a:r>
              <a:t>How it detects parameter discrepancies</a:t>
            </a:r>
          </a:p>
        </p:txBody>
      </p:sp>
      <p:sp>
        <p:nvSpPr>
          <p:cNvPr id="3" name="Content Placeholder 2"/>
          <p:cNvSpPr>
            <a:spLocks noGrp="1"/>
          </p:cNvSpPr>
          <p:nvPr>
            <p:ph idx="1"/>
          </p:nvPr>
        </p:nvSpPr>
        <p:spPr/>
        <p:txBody>
          <a:bodyPr/>
          <a:lstStyle/>
          <a:p>
            <a:pPr lvl="1">
              <a:buNone/>
              <a:defRPr sz="1200"/>
            </a:pPr>
            <a:r>
              <a:t>1. Selects common PRE and POST relations by composite key:</a:t>
            </a:r>
          </a:p>
          <a:p>
            <a:pPr lvl="2">
              <a:buChar char="•"/>
              <a:defRPr sz="1200"/>
            </a:pPr>
            <a:r>
              <a:t>GU: typically "NodeId", "EUtranCellFDDId", "GUtranCellRelationId".</a:t>
            </a:r>
          </a:p>
          <a:p>
            <a:pPr lvl="2">
              <a:buChar char="•"/>
              <a:defRPr sz="1200"/>
            </a:pPr>
            <a:r>
              <a:t>NR: typically "NodeId", "NRCellCUId", "NRCellRelationId".</a:t>
            </a:r>
          </a:p>
          <a:p>
            <a:pPr lvl="1">
              <a:buNone/>
              <a:defRPr sz="1200"/>
            </a:pPr>
            <a:r>
              <a:t>2. Excludes control columns (keys, frequency, Pre/Post, Date).</a:t>
            </a:r>
          </a:p>
          <a:p>
            <a:pPr lvl="1">
              <a:buNone/>
              <a:defRPr sz="1200"/>
            </a:pPr>
            <a:r>
              <a:t>3. Compares value-by-value across shared columns.</a:t>
            </a:r>
          </a:p>
          <a:p>
            <a:pPr lvl="1">
              <a:buNone/>
              <a:defRPr sz="1200"/>
            </a:pPr>
            <a:r>
              <a:t>4. Sets "ParamDiff=True" if at least one column differs.</a:t>
            </a:r>
          </a:p>
          <a:p>
            <a:pPr lvl="1">
              <a:buNone/>
              <a:defRPr sz="1200"/>
            </a:pPr>
            <a:r>
              <a:t>5. In GU it ignores "timeOfCreation" and "mobilityStatusNR" to avoid false positives.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Consistency Check module in detail</a:t>
            </a:r>
          </a:p>
          <a:p>
            <a:pPr>
              <a:defRPr b="0" sz="2000">
                <a:solidFill>
                  <a:schemeClr val="accent2"/>
                </a:solidFill>
              </a:defRPr>
            </a:pPr>
            <a:r>
              <a:t>How it detects frequency discrepancies</a:t>
            </a:r>
          </a:p>
        </p:txBody>
      </p:sp>
      <p:sp>
        <p:nvSpPr>
          <p:cNvPr id="3" name="Content Placeholder 2"/>
          <p:cNvSpPr>
            <a:spLocks noGrp="1"/>
          </p:cNvSpPr>
          <p:nvPr>
            <p:ph idx="1"/>
          </p:nvPr>
        </p:nvSpPr>
        <p:spPr/>
        <p:txBody>
          <a:bodyPr/>
          <a:lstStyle/>
          <a:p>
            <a:pPr lvl="1">
              <a:buNone/>
              <a:defRPr sz="1200"/>
            </a:pPr>
            <a:r>
              <a:t>1. Extracts base frequency from relation references ("extract_gu_freq_base" / "extract_nr_freq_base").</a:t>
            </a:r>
          </a:p>
          <a:p>
            <a:pPr lvl="1">
              <a:buNone/>
              <a:defRPr sz="1200"/>
            </a:pPr>
            <a:r>
              <a:t>2. Discrepancy rule:</a:t>
            </a:r>
          </a:p>
          <a:p>
            <a:pPr lvl="2">
              <a:buChar char="•"/>
              <a:defRPr sz="1200"/>
            </a:pPr>
            <a:r>
              <a:t>if PRE had "freq_before" or "freq_after", and POST does not end up in "freq_after", it marks "FreqDiff=True".</a:t>
            </a:r>
          </a:p>
          <a:p>
            <a:pPr lvl="1">
              <a:buNone/>
              <a:defRPr sz="1200"/>
            </a:pPr>
            <a:r>
              <a:t>3. Classifies the discrepancy as:</a:t>
            </a:r>
          </a:p>
          <a:p>
            <a:pPr lvl="2">
              <a:buChar char="•"/>
              <a:defRPr sz="1200"/>
            </a:pPr>
            <a:r>
              <a:t>"FreqDiff_SSBPost" (target identified as SSB-Post),</a:t>
            </a:r>
          </a:p>
          <a:p>
            <a:pPr lvl="2">
              <a:buChar char="•"/>
              <a:defRPr sz="1200"/>
            </a:pPr>
            <a:r>
              <a:t>"FreqDiff_Unknown" (cannot be associated to a known target).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Consistency Check module in detail</a:t>
            </a:r>
          </a:p>
          <a:p>
            <a:pPr>
              <a:defRPr b="0" sz="2000">
                <a:solidFill>
                  <a:schemeClr val="accent2"/>
                </a:solidFill>
              </a:defRPr>
            </a:pPr>
            <a:r>
              <a:t>How it detects neighbor discrepancies</a:t>
            </a:r>
          </a:p>
        </p:txBody>
      </p:sp>
      <p:sp>
        <p:nvSpPr>
          <p:cNvPr id="3" name="Content Placeholder 2"/>
          <p:cNvSpPr>
            <a:spLocks noGrp="1"/>
          </p:cNvSpPr>
          <p:nvPr>
            <p:ph idx="1"/>
          </p:nvPr>
        </p:nvSpPr>
        <p:spPr/>
        <p:txBody>
          <a:bodyPr/>
          <a:lstStyle/>
          <a:p>
            <a:pPr>
              <a:buNone/>
              <a:defRPr sz="1200"/>
            </a:pPr>
            <a:r>
              <a:t>They are split into three groups:</a:t>
            </a:r>
          </a:p>
          <a:p>
            <a:pPr lvl="1">
              <a:buChar char="•"/>
              <a:defRPr sz="1200"/>
            </a:pPr>
            <a:r>
              <a:t>New relations: keys present in POST and absent in PRE.</a:t>
            </a:r>
          </a:p>
          <a:p>
            <a:pPr lvl="1">
              <a:buChar char="•"/>
              <a:defRPr sz="1200"/>
            </a:pPr>
            <a:r>
              <a:t>Missing relations: keys present in PRE and absent in POST.</a:t>
            </a:r>
          </a:p>
          <a:p>
            <a:pPr lvl="1">
              <a:buChar char="•"/>
              <a:defRPr sz="1200"/>
            </a:pPr>
            <a:r>
              <a:t>Discrepancies: same key in PRE/POST but with parametric or frequency differences.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Consistency Check module in detail</a:t>
            </a:r>
          </a:p>
          <a:p>
            <a:pPr>
              <a:defRPr b="0" sz="2000">
                <a:solidFill>
                  <a:schemeClr val="accent2"/>
                </a:solidFill>
              </a:defRPr>
            </a:pPr>
            <a:r>
              <a:t>Content of each ConsistencyChecks output sheet</a:t>
            </a:r>
          </a:p>
        </p:txBody>
      </p:sp>
      <p:sp>
        <p:nvSpPr>
          <p:cNvPr id="3" name="Content Placeholder 2"/>
          <p:cNvSpPr>
            <a:spLocks noGrp="1"/>
          </p:cNvSpPr>
          <p:nvPr>
            <p:ph idx="1"/>
          </p:nvPr>
        </p:nvSpPr>
        <p:spPr/>
        <p:txBody>
          <a:bodyPr/>
          <a:lstStyle/>
          <a:p>
            <a:pPr lvl="1">
              <a:buChar char="•"/>
              <a:defRPr sz="1200"/>
            </a:pPr>
            <a:r>
              <a:t>Summary: KPIs per table (PRE/POST volume, discrepancies, new/missing, source files).</a:t>
            </a:r>
          </a:p>
          <a:p>
            <a:pPr lvl="1">
              <a:buChar char="•"/>
              <a:defRPr sz="1200"/>
            </a:pPr>
            <a:r>
              <a:t>SummaryAuditComparisson: diff of SummaryAudit PRE vs POST metrics (without "ExtraInfo" to keep the comparison clean).</a:t>
            </a:r>
          </a:p>
          <a:p>
            <a:pPr lvl="1">
              <a:buChar char="•"/>
              <a:defRPr sz="1200"/>
            </a:pPr>
            <a:r>
              <a:t>Summary_CellRelation: KPI per "Freq_Pre/Freq_Post" pair and per technology.</a:t>
            </a:r>
          </a:p>
          <a:p>
            <a:pPr lvl="1">
              <a:buChar char="•"/>
              <a:defRPr sz="1200"/>
            </a:pPr>
            <a:r>
              <a:t>GU_relations / NR_relations: relation universe enriched with target classification and command snippets.</a:t>
            </a:r>
          </a:p>
          <a:p>
            <a:pPr lvl="1">
              <a:buChar char="•"/>
              <a:defRPr sz="1200"/>
            </a:pPr>
            <a:r>
              <a:t>GU_param_disc / NR_param_disc: common relations with param differences.</a:t>
            </a:r>
          </a:p>
          <a:p>
            <a:pPr lvl="1">
              <a:buChar char="•"/>
              <a:defRPr sz="1200"/>
            </a:pPr>
            <a:r>
              <a:t>GU_freq_disc / NR_freq_disc: frequency discrepancies to SSB-Post targets.</a:t>
            </a:r>
          </a:p>
          <a:p>
            <a:pPr lvl="1">
              <a:buChar char="•"/>
              <a:defRPr sz="1200"/>
            </a:pPr>
            <a:r>
              <a:t>GU_freq_disc_unknown / NR_freq_disc_unknown: discrepancies with non-classifiable targets.</a:t>
            </a:r>
          </a:p>
          <a:p>
            <a:pPr lvl="1">
              <a:buChar char="•"/>
              <a:defRPr sz="1200"/>
            </a:pPr>
            <a:r>
              <a:t>GU_missing / NR_missing: relations removed versus PRE.</a:t>
            </a:r>
          </a:p>
          <a:p>
            <a:pPr lvl="1">
              <a:buChar char="•"/>
              <a:defRPr sz="1200"/>
            </a:pPr>
            <a:r>
              <a:t>GU_new / NR_new: relations added in POST.</a:t>
            </a:r>
          </a:p>
          <a:p>
            <a:pPr lvl="1">
              <a:buChar char="•"/>
              <a:defRPr sz="1200"/>
            </a:pPr>
            <a:r>
              <a:t>GU_all / NR_all: optional consolidated dump for extended analysis.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Quick module reference</a:t>
            </a:r>
          </a:p>
        </p:txBody>
      </p:sp>
      <p:sp>
        <p:nvSpPr>
          <p:cNvPr id="3" name="Content Placeholder 2"/>
          <p:cNvSpPr>
            <a:spLocks noGrp="1"/>
          </p:cNvSpPr>
          <p:nvPr>
            <p:ph idx="1"/>
          </p:nvPr>
        </p:nvSpPr>
        <p:spPr/>
        <p:txBody>
          <a:bodyPr/>
          <a:lstStyle/>
          <a:p>
            <a:pPr>
              <a:defRPr sz="100">
                <a:solidFill>
                  <a:srgbClr val="FFFFFF"/>
                </a:solidFill>
              </a:defRPr>
            </a:pPr>
            <a:r>
              <a:t> </a:t>
            </a:r>
          </a:p>
        </p:txBody>
      </p:sp>
      <p:graphicFrame>
        <p:nvGraphicFramePr>
          <p:cNvPr id="4" name="Table 3"/>
          <p:cNvGraphicFramePr>
            <a:graphicFrameLocks noGrp="1"/>
          </p:cNvGraphicFramePr>
          <p:nvPr/>
        </p:nvGraphicFramePr>
        <p:xfrm>
          <a:off x="609600" y="1437111"/>
          <a:ext cx="10972800" cy="885825"/>
        </p:xfrm>
        <a:graphic>
          <a:graphicData uri="http://schemas.openxmlformats.org/drawingml/2006/table">
            <a:tbl>
              <a:tblPr firstRow="1" bandRow="1">
                <a:tableStyleId>{5C22544A-7EE6-4342-B048-85BDC9FD1C3A}</a:tableStyleId>
              </a:tblPr>
              <a:tblGrid>
                <a:gridCol w="2761502"/>
                <a:gridCol w="2517545"/>
                <a:gridCol w="2701897"/>
                <a:gridCol w="2991856"/>
              </a:tblGrid>
              <a:tr h="158750">
                <a:tc>
                  <a:txBody>
                    <a:bodyPr wrap="square" lIns="25400" rIns="25400" tIns="12700" bIns="12700"/>
                    <a:lstStyle/>
                    <a:p>
                      <a:pPr>
                        <a:defRPr b="1" sz="1000">
                          <a:solidFill>
                            <a:srgbClr val="FFFFFF"/>
                          </a:solidFill>
                        </a:defRPr>
                      </a:pPr>
                      <a:r>
                        <a:t>Module</a:t>
                      </a:r>
                    </a:p>
                  </a:txBody>
                  <a:tcPr>
                    <a:solidFill>
                      <a:srgbClr val="1F4E79"/>
                    </a:solidFill>
                  </a:tcPr>
                </a:tc>
                <a:tc>
                  <a:txBody>
                    <a:bodyPr wrap="square" lIns="25400" rIns="25400" tIns="12700" bIns="12700"/>
                    <a:lstStyle/>
                    <a:p>
                      <a:pPr>
                        <a:defRPr b="1" sz="1000">
                          <a:solidFill>
                            <a:srgbClr val="FFFFFF"/>
                          </a:solidFill>
                        </a:defRPr>
                      </a:pPr>
                      <a:r>
                        <a:t>Main input</a:t>
                      </a:r>
                    </a:p>
                  </a:txBody>
                  <a:tcPr>
                    <a:solidFill>
                      <a:srgbClr val="1F4E79"/>
                    </a:solidFill>
                  </a:tcPr>
                </a:tc>
                <a:tc>
                  <a:txBody>
                    <a:bodyPr wrap="square" lIns="25400" rIns="25400" tIns="12700" bIns="12700"/>
                    <a:lstStyle/>
                    <a:p>
                      <a:pPr>
                        <a:defRPr b="1" sz="1000">
                          <a:solidFill>
                            <a:srgbClr val="FFFFFF"/>
                          </a:solidFill>
                        </a:defRPr>
                      </a:pPr>
                      <a:r>
                        <a:t>Main output</a:t>
                      </a:r>
                    </a:p>
                  </a:txBody>
                  <a:tcPr>
                    <a:solidFill>
                      <a:srgbClr val="1F4E79"/>
                    </a:solidFill>
                  </a:tcPr>
                </a:tc>
                <a:tc>
                  <a:txBody>
                    <a:bodyPr wrap="square" lIns="25400" rIns="25400" tIns="12700" bIns="12700"/>
                    <a:lstStyle/>
                    <a:p>
                      <a:pPr>
                        <a:defRPr b="1" sz="1000">
                          <a:solidFill>
                            <a:srgbClr val="FFFFFF"/>
                          </a:solidFill>
                        </a:defRPr>
                      </a:pPr>
                      <a:r>
                        <a:t>Goal</a:t>
                      </a:r>
                    </a:p>
                  </a:txBody>
                  <a:tcPr>
                    <a:solidFill>
                      <a:srgbClr val="1F4E79"/>
                    </a:solidFill>
                  </a:tcPr>
                </a:tc>
              </a:tr>
              <a:tr h="145415">
                <a:tc>
                  <a:txBody>
                    <a:bodyPr wrap="square" lIns="25400" rIns="25400" tIns="12700" bIns="12700"/>
                    <a:lstStyle/>
                    <a:p>
                      <a:pPr>
                        <a:defRPr sz="700">
                          <a:solidFill>
                            <a:srgbClr val="282828"/>
                          </a:solidFill>
                        </a:defRPr>
                      </a:pPr>
                      <a:r>
                        <a:t>0 Update Network Frequencies</a:t>
                      </a:r>
                    </a:p>
                  </a:txBody>
                  <a:tcPr/>
                </a:tc>
                <a:tc>
                  <a:txBody>
                    <a:bodyPr wrap="square" lIns="25400" rIns="25400" tIns="12700" bIns="12700"/>
                    <a:lstStyle/>
                    <a:p>
                      <a:pPr>
                        <a:defRPr sz="700">
                          <a:solidFill>
                            <a:srgbClr val="282828"/>
                          </a:solidFill>
                        </a:defRPr>
                      </a:pPr>
                      <a:r>
                        <a:t>Logs folder</a:t>
                      </a:r>
                    </a:p>
                  </a:txBody>
                  <a:tcPr/>
                </a:tc>
                <a:tc>
                  <a:txBody>
                    <a:bodyPr wrap="square" lIns="25400" rIns="25400" tIns="12700" bIns="12700"/>
                    <a:lstStyle/>
                    <a:p>
                      <a:pPr>
                        <a:defRPr sz="700">
                          <a:solidFill>
                            <a:srgbClr val="282828"/>
                          </a:solidFill>
                        </a:defRPr>
                      </a:pPr>
                      <a:r>
                        <a:t>Persisted config</a:t>
                      </a:r>
                    </a:p>
                  </a:txBody>
                  <a:tcPr/>
                </a:tc>
                <a:tc>
                  <a:txBody>
                    <a:bodyPr wrap="square" lIns="25400" rIns="25400" tIns="12700" bIns="12700"/>
                    <a:lstStyle/>
                    <a:p>
                      <a:pPr>
                        <a:defRPr sz="700">
                          <a:solidFill>
                            <a:srgbClr val="282828"/>
                          </a:solidFill>
                        </a:defRPr>
                      </a:pPr>
                      <a:r>
                        <a:t>Update network frequency list</a:t>
                      </a:r>
                    </a:p>
                  </a:txBody>
                  <a:tcPr/>
                </a:tc>
              </a:tr>
              <a:tr h="145415">
                <a:tc>
                  <a:txBody>
                    <a:bodyPr wrap="square" lIns="25400" rIns="25400" tIns="12700" bIns="12700"/>
                    <a:lstStyle/>
                    <a:p>
                      <a:pPr>
                        <a:defRPr sz="700">
                          <a:solidFill>
                            <a:srgbClr val="282828"/>
                          </a:solidFill>
                        </a:defRPr>
                      </a:pPr>
                      <a:r>
                        <a:t>1 Configuration Audit</a:t>
                      </a:r>
                    </a:p>
                  </a:txBody>
                  <a:tcPr>
                    <a:solidFill>
                      <a:srgbClr val="F2F6FC"/>
                    </a:solidFill>
                  </a:tcPr>
                </a:tc>
                <a:tc>
                  <a:txBody>
                    <a:bodyPr wrap="square" lIns="25400" rIns="25400" tIns="12700" bIns="12700"/>
                    <a:lstStyle/>
                    <a:p>
                      <a:pPr>
                        <a:defRPr sz="700">
                          <a:solidFill>
                            <a:srgbClr val="282828"/>
                          </a:solidFill>
                        </a:defRPr>
                      </a:pPr>
                      <a:r>
                        <a:t>Logs/ZIP folder</a:t>
                      </a:r>
                    </a:p>
                  </a:txBody>
                  <a:tcPr>
                    <a:solidFill>
                      <a:srgbClr val="F2F6FC"/>
                    </a:solidFill>
                  </a:tcPr>
                </a:tc>
                <a:tc>
                  <a:txBody>
                    <a:bodyPr wrap="square" lIns="25400" rIns="25400" tIns="12700" bIns="12700"/>
                    <a:lstStyle/>
                    <a:p>
                      <a:pPr>
                        <a:defRPr sz="700">
                          <a:solidFill>
                            <a:srgbClr val="282828"/>
                          </a:solidFill>
                        </a:defRPr>
                      </a:pPr>
                      <a:r>
                        <a:t>Excel + PPT + CA commands</a:t>
                      </a:r>
                    </a:p>
                  </a:txBody>
                  <a:tcPr>
                    <a:solidFill>
                      <a:srgbClr val="F2F6FC"/>
                    </a:solidFill>
                  </a:tcPr>
                </a:tc>
                <a:tc>
                  <a:txBody>
                    <a:bodyPr wrap="square" lIns="25400" rIns="25400" tIns="12700" bIns="12700"/>
                    <a:lstStyle/>
                    <a:p>
                      <a:pPr>
                        <a:defRPr sz="700">
                          <a:solidFill>
                            <a:srgbClr val="282828"/>
                          </a:solidFill>
                        </a:defRPr>
                      </a:pPr>
                      <a:r>
                        <a:t>Audit configuration and profiles</a:t>
                      </a:r>
                    </a:p>
                  </a:txBody>
                  <a:tcPr>
                    <a:solidFill>
                      <a:srgbClr val="F2F6FC"/>
                    </a:solidFill>
                  </a:tcPr>
                </a:tc>
              </a:tr>
              <a:tr h="145415">
                <a:tc>
                  <a:txBody>
                    <a:bodyPr wrap="square" lIns="25400" rIns="25400" tIns="12700" bIns="12700"/>
                    <a:lstStyle/>
                    <a:p>
                      <a:pPr>
                        <a:defRPr sz="700">
                          <a:solidFill>
                            <a:srgbClr val="282828"/>
                          </a:solidFill>
                        </a:defRPr>
                      </a:pPr>
                      <a:r>
                        <a:t>2 Consistency Check</a:t>
                      </a:r>
                    </a:p>
                  </a:txBody>
                  <a:tcPr/>
                </a:tc>
                <a:tc>
                  <a:txBody>
                    <a:bodyPr wrap="square" lIns="25400" rIns="25400" tIns="12700" bIns="12700"/>
                    <a:lstStyle/>
                    <a:p>
                      <a:pPr>
                        <a:defRPr sz="700">
                          <a:solidFill>
                            <a:srgbClr val="282828"/>
                          </a:solidFill>
                        </a:defRPr>
                      </a:pPr>
                      <a:r>
                        <a:t>PRE and POST folders</a:t>
                      </a:r>
                    </a:p>
                  </a:txBody>
                  <a:tcPr/>
                </a:tc>
                <a:tc>
                  <a:txBody>
                    <a:bodyPr wrap="square" lIns="25400" rIns="25400" tIns="12700" bIns="12700"/>
                    <a:lstStyle/>
                    <a:p>
                      <a:pPr>
                        <a:defRPr sz="700">
                          <a:solidFill>
                            <a:srgbClr val="282828"/>
                          </a:solidFill>
                        </a:defRPr>
                      </a:pPr>
                      <a:r>
                        <a:t>2 Excel + CC commands</a:t>
                      </a:r>
                    </a:p>
                  </a:txBody>
                  <a:tcPr/>
                </a:tc>
                <a:tc>
                  <a:txBody>
                    <a:bodyPr wrap="square" lIns="25400" rIns="25400" tIns="12700" bIns="12700"/>
                    <a:lstStyle/>
                    <a:p>
                      <a:pPr>
                        <a:defRPr sz="700">
                          <a:solidFill>
                            <a:srgbClr val="282828"/>
                          </a:solidFill>
                        </a:defRPr>
                      </a:pPr>
                      <a:r>
                        <a:t>Compare pre/post relations</a:t>
                      </a:r>
                    </a:p>
                  </a:txBody>
                  <a:tcPr/>
                </a:tc>
              </a:tr>
              <a:tr h="145415">
                <a:tc>
                  <a:txBody>
                    <a:bodyPr wrap="square" lIns="25400" rIns="25400" tIns="12700" bIns="12700"/>
                    <a:lstStyle/>
                    <a:p>
                      <a:pPr>
                        <a:defRPr sz="700">
                          <a:solidFill>
                            <a:srgbClr val="282828"/>
                          </a:solidFill>
                        </a:defRPr>
                      </a:pPr>
                      <a:r>
                        <a:t>3 Consistency Check (Bulk)</a:t>
                      </a:r>
                    </a:p>
                  </a:txBody>
                  <a:tcPr>
                    <a:solidFill>
                      <a:srgbClr val="F2F6FC"/>
                    </a:solidFill>
                  </a:tcPr>
                </a:tc>
                <a:tc>
                  <a:txBody>
                    <a:bodyPr wrap="square" lIns="25400" rIns="25400" tIns="12700" bIns="12700"/>
                    <a:lstStyle/>
                    <a:p>
                      <a:pPr>
                        <a:defRPr sz="700">
                          <a:solidFill>
                            <a:srgbClr val="282828"/>
                          </a:solidFill>
                        </a:defRPr>
                      </a:pPr>
                      <a:r>
                        <a:t>Multi-market root folder</a:t>
                      </a:r>
                    </a:p>
                  </a:txBody>
                  <a:tcPr>
                    <a:solidFill>
                      <a:srgbClr val="F2F6FC"/>
                    </a:solidFill>
                  </a:tcPr>
                </a:tc>
                <a:tc>
                  <a:txBody>
                    <a:bodyPr wrap="square" lIns="25400" rIns="25400" tIns="12700" bIns="12700"/>
                    <a:lstStyle/>
                    <a:p>
                      <a:pPr>
                        <a:defRPr sz="700">
                          <a:solidFill>
                            <a:srgbClr val="282828"/>
                          </a:solidFill>
                        </a:defRPr>
                      </a:pPr>
                      <a:r>
                        <a:t>Module 2 outputs per market</a:t>
                      </a:r>
                    </a:p>
                  </a:txBody>
                  <a:tcPr>
                    <a:solidFill>
                      <a:srgbClr val="F2F6FC"/>
                    </a:solidFill>
                  </a:tcPr>
                </a:tc>
                <a:tc>
                  <a:txBody>
                    <a:bodyPr wrap="square" lIns="25400" rIns="25400" tIns="12700" bIns="12700"/>
                    <a:lstStyle/>
                    <a:p>
                      <a:pPr>
                        <a:defRPr sz="700">
                          <a:solidFill>
                            <a:srgbClr val="282828"/>
                          </a:solidFill>
                        </a:defRPr>
                      </a:pPr>
                      <a:r>
                        <a:t>Run bulk comparison</a:t>
                      </a:r>
                    </a:p>
                  </a:txBody>
                  <a:tcPr>
                    <a:solidFill>
                      <a:srgbClr val="F2F6FC"/>
                    </a:solidFill>
                  </a:tcPr>
                </a:tc>
              </a:tr>
              <a:tr h="145415">
                <a:tc>
                  <a:txBody>
                    <a:bodyPr wrap="square" lIns="25400" rIns="25400" tIns="12700" bIns="12700"/>
                    <a:lstStyle/>
                    <a:p>
                      <a:pPr>
                        <a:defRPr sz="700">
                          <a:solidFill>
                            <a:srgbClr val="282828"/>
                          </a:solidFill>
                        </a:defRPr>
                      </a:pPr>
                      <a:r>
                        <a:t>4 Final Clean-Up</a:t>
                      </a:r>
                    </a:p>
                  </a:txBody>
                  <a:tcPr/>
                </a:tc>
                <a:tc>
                  <a:txBody>
                    <a:bodyPr wrap="square" lIns="25400" rIns="25400" tIns="12700" bIns="12700"/>
                    <a:lstStyle/>
                    <a:p>
                      <a:pPr>
                        <a:defRPr sz="700">
                          <a:solidFill>
                            <a:srgbClr val="282828"/>
                          </a:solidFill>
                        </a:defRPr>
                      </a:pPr>
                      <a:r>
                        <a:t>Final folder</a:t>
                      </a:r>
                    </a:p>
                  </a:txBody>
                  <a:tcPr/>
                </a:tc>
                <a:tc>
                  <a:txBody>
                    <a:bodyPr wrap="square" lIns="25400" rIns="25400" tIns="12700" bIns="12700"/>
                    <a:lstStyle/>
                    <a:p>
                      <a:pPr>
                        <a:defRPr sz="700">
                          <a:solidFill>
                            <a:srgbClr val="282828"/>
                          </a:solidFill>
                        </a:defRPr>
                      </a:pPr>
                      <a:r>
                        <a:t>Clean-up folder</a:t>
                      </a:r>
                    </a:p>
                  </a:txBody>
                  <a:tcPr/>
                </a:tc>
                <a:tc>
                  <a:txBody>
                    <a:bodyPr wrap="square" lIns="25400" rIns="25400" tIns="12700" bIns="12700"/>
                    <a:lstStyle/>
                    <a:p>
                      <a:pPr>
                        <a:defRPr sz="700">
                          <a:solidFill>
                            <a:srgbClr val="282828"/>
                          </a:solidFill>
                        </a:defRPr>
                      </a:pPr>
                      <a:r>
                        <a:t>Operational final clean-up</a:t>
                      </a:r>
                    </a:p>
                  </a:txBody>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Inputs Naming Convention</a:t>
            </a:r>
          </a:p>
        </p:txBody>
      </p:sp>
      <p:sp>
        <p:nvSpPr>
          <p:cNvPr id="3" name="Content Placeholder 2"/>
          <p:cNvSpPr>
            <a:spLocks noGrp="1"/>
          </p:cNvSpPr>
          <p:nvPr>
            <p:ph idx="1"/>
          </p:nvPr>
        </p:nvSpPr>
        <p:spPr/>
        <p:txBody>
          <a:bodyPr/>
          <a:lstStyle/>
          <a:p>
            <a:pPr lvl="1">
              <a:buChar char="•"/>
              <a:defRPr sz="1200"/>
            </a:pPr>
            <a:r>
              <a:t>Keep market log exports in a consistent structure and following the below naming convention (for both the parent folder and the zip file contining Step0 logs):</a:t>
            </a:r>
          </a:p>
          <a:p>
            <a:pPr lvl="2">
              <a:buChar char="•"/>
              <a:defRPr sz="1200"/>
            </a:pPr>
            <a:r>
              <a:t>Recommended naming convention for folders and zips: "&lt;TIMESTAMP&gt;_Step0_&lt;MARKET_ID&gt;_&lt;MARKET_NAME&gt;_&lt;PHASE&gt;"</a:t>
            </a:r>
          </a:p>
          <a:p>
            <a:pPr lvl="2">
              <a:buChar char="•"/>
              <a:defRPr sz="1200"/>
            </a:pPr>
            <a:r>
              <a:t>Example: "20260217_0500_Step0_Mkt188_Omaha_PreStep1/20260217_0500_Step0_Mkt188_Omaha_PreStep1.zip"</a:t>
            </a:r>
          </a:p>
        </p:txBody>
      </p:sp>
      <p:graphicFrame>
        <p:nvGraphicFramePr>
          <p:cNvPr id="4" name="Table 3"/>
          <p:cNvGraphicFramePr>
            <a:graphicFrameLocks noGrp="1"/>
          </p:cNvGraphicFramePr>
          <p:nvPr/>
        </p:nvGraphicFramePr>
        <p:xfrm>
          <a:off x="609600" y="2483673"/>
          <a:ext cx="10972800" cy="449580"/>
        </p:xfrm>
        <a:graphic>
          <a:graphicData uri="http://schemas.openxmlformats.org/drawingml/2006/table">
            <a:tbl>
              <a:tblPr firstRow="1" bandRow="1">
                <a:tableStyleId>{5C22544A-7EE6-4342-B048-85BDC9FD1C3A}</a:tableStyleId>
              </a:tblPr>
              <a:tblGrid>
                <a:gridCol w="2709865"/>
                <a:gridCol w="8262935"/>
              </a:tblGrid>
              <a:tr h="158750">
                <a:tc>
                  <a:txBody>
                    <a:bodyPr wrap="square" lIns="25400" rIns="25400" tIns="12700" bIns="12700"/>
                    <a:lstStyle/>
                    <a:p>
                      <a:pPr>
                        <a:defRPr b="1" sz="1000">
                          <a:solidFill>
                            <a:srgbClr val="FFFFFF"/>
                          </a:solidFill>
                        </a:defRPr>
                      </a:pPr>
                      <a:r>
                        <a:t>Naming Convention</a:t>
                      </a:r>
                    </a:p>
                  </a:txBody>
                  <a:tcPr>
                    <a:solidFill>
                      <a:srgbClr val="1F4E79"/>
                    </a:solidFill>
                  </a:tcPr>
                </a:tc>
                <a:tc>
                  <a:txBody>
                    <a:bodyPr wrap="square" lIns="25400" rIns="25400" tIns="12700" bIns="12700"/>
                    <a:lstStyle/>
                    <a:p>
                      <a:pPr>
                        <a:defRPr b="1" sz="1000">
                          <a:solidFill>
                            <a:srgbClr val="FFFFFF"/>
                          </a:solidFill>
                        </a:defRPr>
                      </a:pPr>
                      <a:r>
                        <a:t>"&lt;TIMESTAMP&gt;_Step0_&lt;MARKET_ID&gt;_&lt;MARKET_NAME&gt;_&lt;PHASE&gt;/&lt;TIMESTAMP&gt;_Step0_&lt;MARKET_ID&gt;_&lt;MARKET_NAME&gt;_&lt;PHASE&gt;.zip"</a:t>
                      </a:r>
                    </a:p>
                  </a:txBody>
                  <a:tcPr>
                    <a:solidFill>
                      <a:srgbClr val="1F4E79"/>
                    </a:solidFill>
                  </a:tcPr>
                </a:tc>
              </a:tr>
              <a:tr h="145415">
                <a:tc>
                  <a:txBody>
                    <a:bodyPr wrap="square" lIns="25400" rIns="25400" tIns="12700" bIns="12700"/>
                    <a:lstStyle/>
                    <a:p>
                      <a:pPr>
                        <a:defRPr sz="700">
                          <a:solidFill>
                            <a:srgbClr val="282828"/>
                          </a:solidFill>
                        </a:defRPr>
                      </a:pPr>
                      <a:r>
                        <a:t>Example PreStep1</a:t>
                      </a:r>
                    </a:p>
                  </a:txBody>
                  <a:tcPr/>
                </a:tc>
                <a:tc>
                  <a:txBody>
                    <a:bodyPr wrap="square" lIns="25400" rIns="25400" tIns="12700" bIns="12700"/>
                    <a:lstStyle/>
                    <a:p>
                      <a:pPr>
                        <a:defRPr sz="700">
                          <a:solidFill>
                            <a:srgbClr val="282828"/>
                          </a:solidFill>
                        </a:defRPr>
                      </a:pPr>
                      <a:r>
                        <a:t>"20260217_0500_Step0_Mkt188_Omaha_PreStep1/20260217_0500_Step0_Mkt188_Omaha_PreStep1.zip"</a:t>
                      </a:r>
                    </a:p>
                  </a:txBody>
                  <a:tcPr/>
                </a:tc>
              </a:tr>
              <a:tr h="145415">
                <a:tc>
                  <a:txBody>
                    <a:bodyPr wrap="square" lIns="25400" rIns="25400" tIns="12700" bIns="12700"/>
                    <a:lstStyle/>
                    <a:p>
                      <a:pPr>
                        <a:defRPr sz="700">
                          <a:solidFill>
                            <a:srgbClr val="282828"/>
                          </a:solidFill>
                        </a:defRPr>
                      </a:pPr>
                      <a:r>
                        <a:t>Example PostStep1</a:t>
                      </a:r>
                    </a:p>
                  </a:txBody>
                  <a:tcPr>
                    <a:solidFill>
                      <a:srgbClr val="F2F6FC"/>
                    </a:solidFill>
                  </a:tcPr>
                </a:tc>
                <a:tc>
                  <a:txBody>
                    <a:bodyPr wrap="square" lIns="25400" rIns="25400" tIns="12700" bIns="12700"/>
                    <a:lstStyle/>
                    <a:p>
                      <a:pPr>
                        <a:defRPr sz="700">
                          <a:solidFill>
                            <a:srgbClr val="282828"/>
                          </a:solidFill>
                        </a:defRPr>
                      </a:pPr>
                      <a:r>
                        <a:t>"20260217_0630_Step0_Mkt188_Omaha_PostStep1/20260217_0630_Step0_Mkt188_Omaha_PostStep1.zip"</a:t>
                      </a:r>
                    </a:p>
                  </a:txBody>
                  <a:tcPr>
                    <a:solidFill>
                      <a:srgbClr val="F2F6FC"/>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Operational Best Practices</a:t>
            </a:r>
          </a:p>
        </p:txBody>
      </p:sp>
      <p:sp>
        <p:nvSpPr>
          <p:cNvPr id="3" name="Content Placeholder 2"/>
          <p:cNvSpPr>
            <a:spLocks noGrp="1"/>
          </p:cNvSpPr>
          <p:nvPr>
            <p:ph idx="1"/>
          </p:nvPr>
        </p:nvSpPr>
        <p:spPr/>
        <p:txBody>
          <a:bodyPr/>
          <a:lstStyle/>
          <a:p>
            <a:pPr lvl="1">
              <a:buChar char="•"/>
              <a:defRPr sz="1200"/>
            </a:pPr>
            <a:r>
              <a:t>Validate that PRE/POST have the same table granularity and consistent naming.</a:t>
            </a:r>
          </a:p>
          <a:p>
            <a:pPr lvl="1">
              <a:buChar char="•"/>
              <a:defRPr sz="1200"/>
            </a:pPr>
            <a:r>
              <a:t>Validate frequency inputs ("n77_ssb_pre", "n77_ssb_post", "n77b_ssb") before batch execution.</a:t>
            </a:r>
          </a:p>
          <a:p>
            <a:pPr lvl="1">
              <a:buChar char="•"/>
              <a:defRPr sz="1200"/>
            </a:pPr>
            <a:r>
              <a:t>Correctly configure allowed SSB/ARFCN lists to minimize false positives.</a:t>
            </a:r>
          </a:p>
          <a:p>
            <a:pPr lvl="1">
              <a:buChar char="•"/>
              <a:defRPr sz="1200"/>
            </a:pPr>
            <a:r>
              <a:t>Run Configuration Audit before Consistency Checks whenever possible.</a:t>
            </a:r>
          </a:p>
          <a:p>
            <a:pPr lvl="1">
              <a:buChar char="•"/>
              <a:defRPr sz="1200"/>
            </a:pPr>
            <a:r>
              <a:t>Use Bulk mode only with a controlled folder naming convention.</a:t>
            </a:r>
          </a:p>
          <a:p>
            <a:pPr lvl="1">
              <a:buChar char="•"/>
              <a:defRPr sz="1200"/>
            </a:pPr>
            <a:r>
              <a:t>Review "Summary" and "Summary_CellRelation" first, then then deep-dive into detail sheets (ConfigurationAudit) and discrepancy tabs (ConsistencyCheck).</a:t>
            </a:r>
          </a:p>
          <a:p>
            <a:pPr lvl="1">
              <a:buChar char="•"/>
              <a:defRPr sz="1200"/>
            </a:pPr>
            <a:r>
              <a:t>Consume "Correction_Cmd_CA" and "Correction_Cmd_CC" as a remediation proposal, not as blind execution.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Known limitations and considerations</a:t>
            </a:r>
          </a:p>
        </p:txBody>
      </p:sp>
      <p:sp>
        <p:nvSpPr>
          <p:cNvPr id="3" name="Content Placeholder 2"/>
          <p:cNvSpPr>
            <a:spLocks noGrp="1"/>
          </p:cNvSpPr>
          <p:nvPr>
            <p:ph idx="1"/>
          </p:nvPr>
        </p:nvSpPr>
        <p:spPr/>
        <p:txBody>
          <a:bodyPr/>
          <a:lstStyle/>
          <a:p>
            <a:pPr lvl="1">
              <a:buChar char="•"/>
              <a:defRPr sz="1200"/>
            </a:pPr>
            <a:r>
              <a:t>The engine depends on log quality and structure: missing columns downgrade checks to "N/A".</a:t>
            </a:r>
          </a:p>
          <a:p>
            <a:pPr lvl="1">
              <a:buChar char="•"/>
              <a:defRPr sz="1200"/>
            </a:pPr>
            <a:r>
              <a:t>Some rules depend on naming conventions in references (NR/GU relation refs).</a:t>
            </a:r>
          </a:p>
          <a:p>
            <a:pPr lvl="1">
              <a:buChar char="•"/>
              <a:defRPr sz="1200"/>
            </a:pPr>
            <a:r>
              <a:t>The Final Clean-Up module is prepared to extend operation-specific policies.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69987ED4D0F3F47BA33116175D6C093" ma:contentTypeVersion="3" ma:contentTypeDescription="Create a new document." ma:contentTypeScope="" ma:versionID="b377e87a9fdb0adfbe59c8cbc16d9e06">
  <xsd:schema xmlns:xsd="http://www.w3.org/2001/XMLSchema" xmlns:xs="http://www.w3.org/2001/XMLSchema" xmlns:p="http://schemas.microsoft.com/office/2006/metadata/properties" xmlns:ns2="4d118d9b-448c-4a54-90d4-6d126d04e28f" targetNamespace="http://schemas.microsoft.com/office/2006/metadata/properties" ma:root="true" ma:fieldsID="142a0c039391e3f54e2425d6548dcea2" ns2:_="">
    <xsd:import namespace="4d118d9b-448c-4a54-90d4-6d126d04e28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118d9b-448c-4a54-90d4-6d126d04e2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ct:contentTypeSchema xmlns:ct="http://schemas.microsoft.com/office/2006/metadata/contentType" xmlns:ma="http://schemas.microsoft.com/office/2006/metadata/properties/metaAttributes" ct:_="" ma:_="" ma:contentTypeName="Document" ma:contentTypeID="0x010100E69987ED4D0F3F47BA33116175D6C093" ma:contentTypeVersion="3" ma:contentTypeDescription="Create a new document." ma:contentTypeScope="" ma:versionID="b377e87a9fdb0adfbe59c8cbc16d9e06">
  <xsd:schema xmlns:xsd="http://www.w3.org/2001/XMLSchema" xmlns:xs="http://www.w3.org/2001/XMLSchema" xmlns:p="http://schemas.microsoft.com/office/2006/metadata/properties" xmlns:ns2="4d118d9b-448c-4a54-90d4-6d126d04e28f" targetNamespace="http://schemas.microsoft.com/office/2006/metadata/properties" ma:root="true" ma:fieldsID="142a0c039391e3f54e2425d6548dcea2" ns2:_="">
    <xsd:import namespace="4d118d9b-448c-4a54-90d4-6d126d04e28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118d9b-448c-4a54-90d4-6d126d04e2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635B0D5-FB81-4068-AEC4-E15905E3EFEE}">
  <ds:schemaRefs>
    <ds:schemaRef ds:uri="http://schemas.microsoft.com/sharepoint/v3/contenttype/forms"/>
  </ds:schemaRefs>
</ds:datastoreItem>
</file>

<file path=customXml/itemProps2.xml><?xml version="1.0" encoding="utf-8"?>
<ds:datastoreItem xmlns:ds="http://schemas.openxmlformats.org/officeDocument/2006/customXml" ds:itemID="{9D39D6F7-DEC6-43E0-B150-2B295957F91D}">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EC3F7911-CA70-450D-9C74-276FAE63B2A1}">
  <ds:schemaRefs>
    <ds:schemaRef ds:uri="4d118d9b-448c-4a54-90d4-6d126d04e28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10BB2122-50FB-4777-8728-D52F7CF1AED8}">
  <ds:schemaRefs>
    <ds:schemaRef ds:uri="4d118d9b-448c-4a54-90d4-6d126d04e28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72</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0</vt:i4>
      </vt:variant>
    </vt:vector>
  </HeadingPairs>
  <TitlesOfParts>
    <vt:vector size="5" baseType="lpstr">
      <vt:lpstr>Aptos</vt:lpstr>
      <vt:lpstr>Arial</vt:lpstr>
      <vt:lpstr>Calibri</vt:lpstr>
      <vt:lpstr>Ericsson Hilda</vt:lpstr>
      <vt:lpstr>Office Theme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Jaime Tur</cp:lastModifiedBy>
  <cp:revision>18</cp:revision>
  <dcterms:created xsi:type="dcterms:W3CDTF">2013-01-27T09:14:16Z</dcterms:created>
  <dcterms:modified xsi:type="dcterms:W3CDTF">2026-02-19T18:13:46Z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0x010100E69987ED4D0F3F47BA33116175D6C093</vt:lpwstr>
  </property>
</Properties>
</file>